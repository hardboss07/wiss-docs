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9"/>
  </p:notesMasterIdLst>
  <p:sldIdLst>
    <p:sldId id="256" r:id="rId2"/>
    <p:sldId id="289" r:id="rId3"/>
    <p:sldId id="290" r:id="rId4"/>
    <p:sldId id="291" r:id="rId5"/>
    <p:sldId id="292" r:id="rId6"/>
    <p:sldId id="265" r:id="rId7"/>
    <p:sldId id="293" r:id="rId8"/>
  </p:sldIdLst>
  <p:sldSz cx="9144000" cy="5143500" type="screen16x9"/>
  <p:notesSz cx="6858000" cy="9144000"/>
  <p:embeddedFontLst>
    <p:embeddedFont>
      <p:font typeface="Bricolage Grotesque" panose="020B0604020202020204" charset="0"/>
      <p:regular r:id="rId10"/>
      <p:bold r:id="rId11"/>
    </p:embeddedFont>
    <p:embeddedFont>
      <p:font typeface="Heebo" pitchFamily="2" charset="-79"/>
      <p:regular r:id="rId12"/>
      <p:bold r:id="rId13"/>
    </p:embeddedFont>
    <p:embeddedFont>
      <p:font typeface="Nunito Light" pitchFamily="2" charset="0"/>
      <p:regular r:id="rId14"/>
      <p:italic r:id="rId15"/>
    </p:embeddedFont>
    <p:embeddedFont>
      <p:font typeface="Raleway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83B3D6D-2401-4C6C-8B44-F631E02C45C2}">
  <a:tblStyle styleId="{683B3D6D-2401-4C6C-8B44-F631E02C45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372" autoAdjust="0"/>
  </p:normalViewPr>
  <p:slideViewPr>
    <p:cSldViewPr snapToGrid="0">
      <p:cViewPr varScale="1">
        <p:scale>
          <a:sx n="76" d="100"/>
          <a:sy n="76" d="100"/>
        </p:scale>
        <p:origin x="100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Guten Tag zusammen. Ich habe mich mit der Modellierung einer relationalen Datenbank für einen Online-Shop beschäftigt und möchte euch heute mein Ergebnis vorstellen.</a:t>
            </a: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>
          <a:extLst>
            <a:ext uri="{FF2B5EF4-FFF2-40B4-BE49-F238E27FC236}">
              <a16:creationId xmlns:a16="http://schemas.microsoft.com/office/drawing/2014/main" id="{A0C352B8-0B12-9FDD-7346-2505E0A7A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54dda1946d_6_332:notes">
            <a:extLst>
              <a:ext uri="{FF2B5EF4-FFF2-40B4-BE49-F238E27FC236}">
                <a16:creationId xmlns:a16="http://schemas.microsoft.com/office/drawing/2014/main" id="{94866048-1169-21B8-B891-DC2D58E11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54dda1946d_6_332:notes">
            <a:extLst>
              <a:ext uri="{FF2B5EF4-FFF2-40B4-BE49-F238E27FC236}">
                <a16:creationId xmlns:a16="http://schemas.microsoft.com/office/drawing/2014/main" id="{1360E032-92F5-124B-F6D3-0E2A9693A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Mein Ziel war es, einen realistischen Online-Shop abzubilden. Die Datenbank muss nicht nur wissen, wer was kauft, sondern auch Details wie Lagerbestände, unterschiedliche Lieferadressen pro User und eine saubere Zahlungsabwicklung inklusive Rabattsystem beherrschen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5259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de-DE" dirty="0"/>
              <a:t>Das ERD zeigt den Aufbau: Wir haben 8 Tabellen. Besonders wichtig ist die Tabelle </a:t>
            </a:r>
            <a:r>
              <a:rPr lang="de-DE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ProductOrder</a:t>
            </a:r>
            <a:r>
              <a:rPr lang="de-DE" dirty="0"/>
              <a:t>. Da eine Bestellung viele Produkte enthalten kann und ein Produkt in vielen Bestellungen vorkommt, habe ich diese N:M-Beziehung hier aufgelöst. Zudem sieht man, dass ein User mehrere Adressen haben kann, was</a:t>
            </a:r>
          </a:p>
          <a:p>
            <a:pPr marL="158750" indent="0">
              <a:buNone/>
            </a:pPr>
            <a:r>
              <a:rPr lang="de-DE" dirty="0"/>
              <a:t>für getrennte Rechnungs- und Lieferanschriften essenziell ist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0163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>
          <a:extLst>
            <a:ext uri="{FF2B5EF4-FFF2-40B4-BE49-F238E27FC236}">
              <a16:creationId xmlns:a16="http://schemas.microsoft.com/office/drawing/2014/main" id="{7EE9A43F-6D67-5D5C-0ABE-29B14418E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54dda1946d_6_332:notes">
            <a:extLst>
              <a:ext uri="{FF2B5EF4-FFF2-40B4-BE49-F238E27FC236}">
                <a16:creationId xmlns:a16="http://schemas.microsoft.com/office/drawing/2014/main" id="{682433E2-6397-12CD-0716-CD2232E46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54dda1946d_6_332:notes">
            <a:extLst>
              <a:ext uri="{FF2B5EF4-FFF2-40B4-BE49-F238E27FC236}">
                <a16:creationId xmlns:a16="http://schemas.microsoft.com/office/drawing/2014/main" id="{7FA39E52-CE0D-48C9-0D76-0C440CC3C5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Um Datenredundanz zu vermeiden, ist das Modell normalisiert. Technisch nutze ich Primärschlüssel mit Auto-</a:t>
            </a:r>
            <a:r>
              <a:rPr lang="de-DE" dirty="0" err="1"/>
              <a:t>Increment</a:t>
            </a:r>
            <a:r>
              <a:rPr lang="de-DE" dirty="0"/>
              <a:t>. Wichtig sind hier die Constraints: 'Not Null' sichert die Vollständigkeit der Daten, und 'Unique' (UN) sorgt dafür, dass zum Beispiel Benutzernamen oder Kategorienamen im System nur einmal vergeben werden können.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217008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>
          <a:extLst>
            <a:ext uri="{FF2B5EF4-FFF2-40B4-BE49-F238E27FC236}">
              <a16:creationId xmlns:a16="http://schemas.microsoft.com/office/drawing/2014/main" id="{FA3F12D7-10EE-967C-2B00-5F3C4B4D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54dda1946d_6_332:notes">
            <a:extLst>
              <a:ext uri="{FF2B5EF4-FFF2-40B4-BE49-F238E27FC236}">
                <a16:creationId xmlns:a16="http://schemas.microsoft.com/office/drawing/2014/main" id="{DBB418B2-6FF7-5C8E-8905-68213DDE6A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54dda1946d_6_332:notes">
            <a:extLst>
              <a:ext uri="{FF2B5EF4-FFF2-40B4-BE49-F238E27FC236}">
                <a16:creationId xmlns:a16="http://schemas.microsoft.com/office/drawing/2014/main" id="{901D1A69-4FBB-C925-173B-B87D49DAC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Ein wichtiges Detail ist die Preisberechnung. Der fällige Betrag (</a:t>
            </a:r>
            <a:r>
              <a:rPr lang="de-DE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amount_due</a:t>
            </a:r>
            <a:r>
              <a:rPr lang="de-DE" dirty="0"/>
              <a:t>) ergibt sich logisch aus dem Preis des Produkts, der Menge in der Bestellungsposition und dem angewendeten Rabatt der gesamten Bestellung. Das verknüpft die Tabellen inhaltlich miteinander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4633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Abschliessend</a:t>
            </a:r>
            <a:r>
              <a:rPr lang="de-DE" dirty="0"/>
              <a:t> habe ich das Modell mit Testdaten geprüft. Die Daten zeigen, dass sowohl physische als auch digitale Produkte sowie verschiedene Zahlungsarten korrekt verarbeitet werden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F50B12D-D947-B188-4E01-85AA771EB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4dfce81f19_0_45:notes">
            <a:extLst>
              <a:ext uri="{FF2B5EF4-FFF2-40B4-BE49-F238E27FC236}">
                <a16:creationId xmlns:a16="http://schemas.microsoft.com/office/drawing/2014/main" id="{EFFE52C6-535E-E1F1-31B5-D87B2E24A3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4dfce81f19_0_45:notes">
            <a:extLst>
              <a:ext uri="{FF2B5EF4-FFF2-40B4-BE49-F238E27FC236}">
                <a16:creationId xmlns:a16="http://schemas.microsoft.com/office/drawing/2014/main" id="{76068D78-6BA8-605A-2B2F-324B910A3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Vielen Dank für eure Aufmerksamkeit. Gibt es noch Fragen?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96670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28600" y="2854200"/>
            <a:ext cx="7286400" cy="20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72000" y="1143439"/>
            <a:ext cx="1323600" cy="113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Heebo"/>
              <a:buNone/>
              <a:defRPr sz="1600">
                <a:latin typeface="Heebo"/>
                <a:ea typeface="Heebo"/>
                <a:cs typeface="Heebo"/>
                <a:sym typeface="Heeb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Heebo"/>
              <a:buNone/>
              <a:defRPr sz="1800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228600" y="999327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228750" y="228600"/>
            <a:ext cx="2591700" cy="23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3768000" y="1795575"/>
            <a:ext cx="5147400" cy="12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3767953" y="1242975"/>
            <a:ext cx="5147400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3767925" y="3669600"/>
            <a:ext cx="5147400" cy="12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leway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aleway"/>
              <a:buNone/>
              <a:defRPr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3767855" y="3117000"/>
            <a:ext cx="5147400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>
            <a:off x="1887000" y="3909000"/>
            <a:ext cx="7028400" cy="100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subTitle" idx="1"/>
          </p:nvPr>
        </p:nvSpPr>
        <p:spPr>
          <a:xfrm>
            <a:off x="3309609" y="1591350"/>
            <a:ext cx="2525400" cy="140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2"/>
          </p:nvPr>
        </p:nvSpPr>
        <p:spPr>
          <a:xfrm>
            <a:off x="228450" y="1591350"/>
            <a:ext cx="2525400" cy="140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3"/>
          </p:nvPr>
        </p:nvSpPr>
        <p:spPr>
          <a:xfrm>
            <a:off x="6390000" y="1591350"/>
            <a:ext cx="2525400" cy="140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title" idx="4" hasCustomPrompt="1"/>
          </p:nvPr>
        </p:nvSpPr>
        <p:spPr>
          <a:xfrm>
            <a:off x="3308991" y="228600"/>
            <a:ext cx="1640100" cy="762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5000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Bricolage Grotesque"/>
              <a:buNone/>
              <a:defRPr sz="30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79" name="Google Shape;79;p16"/>
          <p:cNvSpPr txBox="1">
            <a:spLocks noGrp="1"/>
          </p:cNvSpPr>
          <p:nvPr>
            <p:ph type="title" idx="5" hasCustomPrompt="1"/>
          </p:nvPr>
        </p:nvSpPr>
        <p:spPr>
          <a:xfrm>
            <a:off x="228475" y="228968"/>
            <a:ext cx="1706100" cy="76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5000" b="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Bricolage Grotesque"/>
              <a:buNone/>
              <a:defRPr sz="9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 idx="6" hasCustomPrompt="1"/>
          </p:nvPr>
        </p:nvSpPr>
        <p:spPr>
          <a:xfrm>
            <a:off x="6390000" y="228600"/>
            <a:ext cx="1479300" cy="76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5000" b="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Bricolage Grotesque"/>
              <a:buNone/>
              <a:defRPr sz="62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6"/>
          <p:cNvSpPr txBox="1">
            <a:spLocks noGrp="1"/>
          </p:cNvSpPr>
          <p:nvPr>
            <p:ph type="subTitle" idx="7"/>
          </p:nvPr>
        </p:nvSpPr>
        <p:spPr>
          <a:xfrm>
            <a:off x="3309609" y="1103850"/>
            <a:ext cx="2525400" cy="56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subTitle" idx="8"/>
          </p:nvPr>
        </p:nvSpPr>
        <p:spPr>
          <a:xfrm>
            <a:off x="228450" y="1103850"/>
            <a:ext cx="2525400" cy="56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9"/>
          </p:nvPr>
        </p:nvSpPr>
        <p:spPr>
          <a:xfrm>
            <a:off x="6390000" y="1103850"/>
            <a:ext cx="2525400" cy="56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 b="1">
                <a:solidFill>
                  <a:schemeClr val="dk2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ricolage Grotesque"/>
              <a:buNone/>
              <a:defRPr sz="1600">
                <a:latin typeface="Bricolage Grotesque"/>
                <a:ea typeface="Bricolage Grotesque"/>
                <a:cs typeface="Bricolage Grotesque"/>
                <a:sym typeface="Bricolage Grotesq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Bricolage Grotesque"/>
              <a:buNone/>
              <a:defRPr sz="4500" b="1">
                <a:solidFill>
                  <a:schemeClr val="dk1"/>
                </a:solidFill>
                <a:latin typeface="Bricolage Grotesque"/>
                <a:ea typeface="Bricolage Grotesque"/>
                <a:cs typeface="Bricolage Grotesque"/>
                <a:sym typeface="Bricolage Grotesq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facad Flux"/>
              <a:buNone/>
              <a:defRPr sz="4500" b="1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28600" y="936050"/>
            <a:ext cx="8686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●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○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eebo"/>
              <a:buChar char="■"/>
              <a:defRPr sz="120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62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6"/>
          <p:cNvSpPr txBox="1">
            <a:spLocks noGrp="1"/>
          </p:cNvSpPr>
          <p:nvPr>
            <p:ph type="ctrTitle"/>
          </p:nvPr>
        </p:nvSpPr>
        <p:spPr>
          <a:xfrm>
            <a:off x="228599" y="2854200"/>
            <a:ext cx="8269133" cy="20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3000" b="0" noProof="0" dirty="0"/>
              <a:t> Datenbank-Design</a:t>
            </a:r>
            <a:br>
              <a:rPr lang="de-CH" sz="3000" b="0" noProof="0" dirty="0"/>
            </a:br>
            <a:r>
              <a:rPr lang="de-CH" sz="10000" noProof="0" dirty="0"/>
              <a:t>E-Commerce</a:t>
            </a:r>
          </a:p>
        </p:txBody>
      </p:sp>
      <p:sp>
        <p:nvSpPr>
          <p:cNvPr id="123" name="Google Shape;123;p26"/>
          <p:cNvSpPr txBox="1"/>
          <p:nvPr/>
        </p:nvSpPr>
        <p:spPr>
          <a:xfrm>
            <a:off x="5541950" y="228600"/>
            <a:ext cx="1741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1000" noProof="0" dirty="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Matteo Bosshard</a:t>
            </a:r>
          </a:p>
        </p:txBody>
      </p:sp>
      <p:sp>
        <p:nvSpPr>
          <p:cNvPr id="124" name="Google Shape;124;p26"/>
          <p:cNvSpPr txBox="1"/>
          <p:nvPr/>
        </p:nvSpPr>
        <p:spPr>
          <a:xfrm>
            <a:off x="7689003" y="228600"/>
            <a:ext cx="1226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1000" noProof="0" dirty="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12.01.2026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>
          <a:extLst>
            <a:ext uri="{FF2B5EF4-FFF2-40B4-BE49-F238E27FC236}">
              <a16:creationId xmlns:a16="http://schemas.microsoft.com/office/drawing/2014/main" id="{35062C9B-5840-E363-0930-4EE7EB0BC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>
            <a:extLst>
              <a:ext uri="{FF2B5EF4-FFF2-40B4-BE49-F238E27FC236}">
                <a16:creationId xmlns:a16="http://schemas.microsoft.com/office/drawing/2014/main" id="{DBDC133F-2BB5-8D15-6901-F42C81EF6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750" y="228600"/>
            <a:ext cx="3173926" cy="23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Ausgangs-lage</a:t>
            </a:r>
          </a:p>
        </p:txBody>
      </p:sp>
      <p:sp>
        <p:nvSpPr>
          <p:cNvPr id="237" name="Google Shape;237;p34">
            <a:extLst>
              <a:ext uri="{FF2B5EF4-FFF2-40B4-BE49-F238E27FC236}">
                <a16:creationId xmlns:a16="http://schemas.microsoft.com/office/drawing/2014/main" id="{D4474DC4-1F7F-14F6-95E6-D00609FAA24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67850" y="1881835"/>
            <a:ext cx="5147400" cy="8478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Ein Shop für diverse physische Produkte und digitale Dienstleistungen.</a:t>
            </a:r>
          </a:p>
        </p:txBody>
      </p:sp>
      <p:sp>
        <p:nvSpPr>
          <p:cNvPr id="236" name="Google Shape;236;p34">
            <a:extLst>
              <a:ext uri="{FF2B5EF4-FFF2-40B4-BE49-F238E27FC236}">
                <a16:creationId xmlns:a16="http://schemas.microsoft.com/office/drawing/2014/main" id="{ADBB6155-70F4-FCD4-2645-8A448E53871E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767803" y="1329235"/>
            <a:ext cx="5147400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Anwendungsfall</a:t>
            </a:r>
          </a:p>
        </p:txBody>
      </p:sp>
      <p:sp>
        <p:nvSpPr>
          <p:cNvPr id="238" name="Google Shape;238;p34">
            <a:extLst>
              <a:ext uri="{FF2B5EF4-FFF2-40B4-BE49-F238E27FC236}">
                <a16:creationId xmlns:a16="http://schemas.microsoft.com/office/drawing/2014/main" id="{28C6FB8C-AA25-D257-FAF9-A7E1DD96F7FA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767775" y="2695468"/>
            <a:ext cx="5147400" cy="12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Benutzerverwaltung mit mehreren Adressen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Kategorisierung von Produkten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Abwicklung von Bestellungen mit variablen Mengen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Integration von Rabatten und verschiedenen Zahlungsarten</a:t>
            </a:r>
          </a:p>
        </p:txBody>
      </p:sp>
      <p:sp>
        <p:nvSpPr>
          <p:cNvPr id="239" name="Google Shape;239;p34">
            <a:extLst>
              <a:ext uri="{FF2B5EF4-FFF2-40B4-BE49-F238E27FC236}">
                <a16:creationId xmlns:a16="http://schemas.microsoft.com/office/drawing/2014/main" id="{A4B835A3-D427-2C41-17B7-7B7372E4677F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3767705" y="2142868"/>
            <a:ext cx="5147400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Kernfunktionen</a:t>
            </a:r>
          </a:p>
        </p:txBody>
      </p:sp>
    </p:spTree>
    <p:extLst>
      <p:ext uri="{BB962C8B-B14F-4D97-AF65-F5344CB8AC3E}">
        <p14:creationId xmlns:p14="http://schemas.microsoft.com/office/powerpoint/2010/main" val="471740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16EDB0-6D0C-661A-7B78-C54C0568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Das ERD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1D8578C-07E8-7706-F837-7CDE795FB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noProof="0" dirty="0"/>
          </a:p>
        </p:txBody>
      </p:sp>
      <p:pic>
        <p:nvPicPr>
          <p:cNvPr id="9" name="Grafik 8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1AA5459F-5667-97D1-7938-6AF8EFFF0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326" y="225162"/>
            <a:ext cx="6794274" cy="468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768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>
          <a:extLst>
            <a:ext uri="{FF2B5EF4-FFF2-40B4-BE49-F238E27FC236}">
              <a16:creationId xmlns:a16="http://schemas.microsoft.com/office/drawing/2014/main" id="{BE50A7B6-6F6D-A423-975A-71BCAA267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>
            <a:extLst>
              <a:ext uri="{FF2B5EF4-FFF2-40B4-BE49-F238E27FC236}">
                <a16:creationId xmlns:a16="http://schemas.microsoft.com/office/drawing/2014/main" id="{F80FFF72-A3D0-3531-73BC-177AB9B6B9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748" y="228600"/>
            <a:ext cx="3929183" cy="10143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Integrität &amp; Normalisier-</a:t>
            </a:r>
            <a:r>
              <a:rPr lang="de-CH" noProof="0" dirty="0" err="1"/>
              <a:t>ung</a:t>
            </a:r>
            <a:endParaRPr lang="de-CH" noProof="0" dirty="0"/>
          </a:p>
        </p:txBody>
      </p:sp>
      <p:sp>
        <p:nvSpPr>
          <p:cNvPr id="237" name="Google Shape;237;p34">
            <a:extLst>
              <a:ext uri="{FF2B5EF4-FFF2-40B4-BE49-F238E27FC236}">
                <a16:creationId xmlns:a16="http://schemas.microsoft.com/office/drawing/2014/main" id="{EB02ABE6-4C28-362C-F36F-F2FA4940BD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18060" y="1881835"/>
            <a:ext cx="5197339" cy="8478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3. Normalform durch Auslagerung von Kategorien und Zahlungsmethoden</a:t>
            </a:r>
          </a:p>
        </p:txBody>
      </p:sp>
      <p:sp>
        <p:nvSpPr>
          <p:cNvPr id="236" name="Google Shape;236;p34">
            <a:extLst>
              <a:ext uri="{FF2B5EF4-FFF2-40B4-BE49-F238E27FC236}">
                <a16:creationId xmlns:a16="http://schemas.microsoft.com/office/drawing/2014/main" id="{24B2C152-9F92-6D4E-7234-20FDBD06D19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718013" y="1329235"/>
            <a:ext cx="5197339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Normalisierung</a:t>
            </a:r>
          </a:p>
        </p:txBody>
      </p:sp>
      <p:sp>
        <p:nvSpPr>
          <p:cNvPr id="238" name="Google Shape;238;p34">
            <a:extLst>
              <a:ext uri="{FF2B5EF4-FFF2-40B4-BE49-F238E27FC236}">
                <a16:creationId xmlns:a16="http://schemas.microsoft.com/office/drawing/2014/main" id="{4D0ADA9C-7D62-9D87-F5F2-CE7D943D4A6E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717985" y="2695468"/>
            <a:ext cx="5197339" cy="12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b="1" noProof="0" dirty="0"/>
              <a:t>PK / AI: </a:t>
            </a:r>
            <a:r>
              <a:rPr lang="de-CH" noProof="0" dirty="0"/>
              <a:t>Primärschlüssel mit Auto-</a:t>
            </a:r>
            <a:r>
              <a:rPr lang="de-CH" noProof="0" dirty="0" err="1"/>
              <a:t>Increment</a:t>
            </a:r>
            <a:r>
              <a:rPr lang="de-CH" noProof="0" dirty="0"/>
              <a:t> für eindeutige IDs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b="1" noProof="0" dirty="0"/>
              <a:t>NN: </a:t>
            </a:r>
            <a:r>
              <a:rPr lang="de-CH" noProof="0" dirty="0"/>
              <a:t>Not Null für alle Pflichtfelder</a:t>
            </a:r>
            <a:endParaRPr lang="de-CH" b="1" noProof="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b="1" noProof="0" dirty="0"/>
              <a:t>UN: </a:t>
            </a:r>
            <a:r>
              <a:rPr lang="de-CH" noProof="0" dirty="0"/>
              <a:t>Unique für Eindeutigkeit für Felder wie </a:t>
            </a:r>
            <a:r>
              <a:rPr lang="de-CH" b="1" noProof="0" dirty="0" err="1"/>
              <a:t>username</a:t>
            </a:r>
            <a:r>
              <a:rPr lang="de-CH" i="1" noProof="0" dirty="0"/>
              <a:t> </a:t>
            </a:r>
            <a:r>
              <a:rPr lang="de-CH" noProof="0" dirty="0"/>
              <a:t>und </a:t>
            </a:r>
            <a:r>
              <a:rPr lang="de-CH" b="1" noProof="0" dirty="0" err="1"/>
              <a:t>label</a:t>
            </a:r>
            <a:endParaRPr lang="de-CH" b="1" noProof="0" dirty="0"/>
          </a:p>
        </p:txBody>
      </p:sp>
      <p:sp>
        <p:nvSpPr>
          <p:cNvPr id="239" name="Google Shape;239;p34">
            <a:extLst>
              <a:ext uri="{FF2B5EF4-FFF2-40B4-BE49-F238E27FC236}">
                <a16:creationId xmlns:a16="http://schemas.microsoft.com/office/drawing/2014/main" id="{699D65D7-A5D3-E08D-3FC8-39542960817B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3717915" y="2142868"/>
            <a:ext cx="5197339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Technische </a:t>
            </a:r>
            <a:r>
              <a:rPr lang="de-CH" noProof="0" dirty="0" err="1"/>
              <a:t>Constrains</a:t>
            </a:r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3745178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>
          <a:extLst>
            <a:ext uri="{FF2B5EF4-FFF2-40B4-BE49-F238E27FC236}">
              <a16:creationId xmlns:a16="http://schemas.microsoft.com/office/drawing/2014/main" id="{1A1A55F3-9634-78C0-D20D-6FF2591E3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>
            <a:extLst>
              <a:ext uri="{FF2B5EF4-FFF2-40B4-BE49-F238E27FC236}">
                <a16:creationId xmlns:a16="http://schemas.microsoft.com/office/drawing/2014/main" id="{4DC19915-3A40-2816-2D1B-58B72B54A0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749" y="228600"/>
            <a:ext cx="3756656" cy="10143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 err="1"/>
              <a:t>Preisbe</a:t>
            </a:r>
            <a:r>
              <a:rPr lang="de-CH" noProof="0" dirty="0"/>
              <a:t>-rechnung </a:t>
            </a:r>
          </a:p>
        </p:txBody>
      </p:sp>
      <p:sp>
        <p:nvSpPr>
          <p:cNvPr id="237" name="Google Shape;237;p34">
            <a:extLst>
              <a:ext uri="{FF2B5EF4-FFF2-40B4-BE49-F238E27FC236}">
                <a16:creationId xmlns:a16="http://schemas.microsoft.com/office/drawing/2014/main" id="{5BBB2657-1312-2E40-8AB4-CE61ADF57D0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718060" y="1881835"/>
            <a:ext cx="5197339" cy="8478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(Produktpreis * Menge) – Rabatt = Zahlungsbetrag</a:t>
            </a:r>
          </a:p>
        </p:txBody>
      </p:sp>
      <p:sp>
        <p:nvSpPr>
          <p:cNvPr id="236" name="Google Shape;236;p34">
            <a:extLst>
              <a:ext uri="{FF2B5EF4-FFF2-40B4-BE49-F238E27FC236}">
                <a16:creationId xmlns:a16="http://schemas.microsoft.com/office/drawing/2014/main" id="{AF047E78-A312-E588-C5C0-A58C68005708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718013" y="1329235"/>
            <a:ext cx="5197339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Berechnungspfad</a:t>
            </a:r>
          </a:p>
        </p:txBody>
      </p:sp>
      <p:sp>
        <p:nvSpPr>
          <p:cNvPr id="238" name="Google Shape;238;p34">
            <a:extLst>
              <a:ext uri="{FF2B5EF4-FFF2-40B4-BE49-F238E27FC236}">
                <a16:creationId xmlns:a16="http://schemas.microsoft.com/office/drawing/2014/main" id="{0B9076E9-D662-C441-3FC1-948ECFC7CE78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717985" y="2695468"/>
            <a:ext cx="5197339" cy="12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Preis aus </a:t>
            </a:r>
            <a:r>
              <a:rPr lang="de-CH" b="1" noProof="0" dirty="0" err="1"/>
              <a:t>Product</a:t>
            </a:r>
            <a:r>
              <a:rPr lang="de-CH" noProof="0" dirty="0"/>
              <a:t>, Menge aus </a:t>
            </a:r>
            <a:r>
              <a:rPr lang="de-CH" b="1" noProof="0" dirty="0" err="1"/>
              <a:t>ProductOrder</a:t>
            </a:r>
            <a:endParaRPr lang="de-CH" noProof="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Rabatt aus </a:t>
            </a:r>
            <a:r>
              <a:rPr lang="de-CH" b="1" noProof="0" dirty="0"/>
              <a:t>Order</a:t>
            </a:r>
            <a:endParaRPr lang="de-CH" noProof="0" dirty="0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de-CH" noProof="0" dirty="0"/>
              <a:t>Ergebnis wird im Feld </a:t>
            </a:r>
            <a:r>
              <a:rPr lang="de-CH" b="1" noProof="0" dirty="0" err="1"/>
              <a:t>amount_due</a:t>
            </a:r>
            <a:r>
              <a:rPr lang="de-CH" b="1" noProof="0" dirty="0"/>
              <a:t> (Payment) </a:t>
            </a:r>
            <a:r>
              <a:rPr lang="de-CH" noProof="0" dirty="0"/>
              <a:t>gespeichert</a:t>
            </a:r>
          </a:p>
        </p:txBody>
      </p:sp>
      <p:sp>
        <p:nvSpPr>
          <p:cNvPr id="239" name="Google Shape;239;p34">
            <a:extLst>
              <a:ext uri="{FF2B5EF4-FFF2-40B4-BE49-F238E27FC236}">
                <a16:creationId xmlns:a16="http://schemas.microsoft.com/office/drawing/2014/main" id="{8407CE23-C61E-E46D-B5C3-7221E7228F24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3717915" y="2142868"/>
            <a:ext cx="5197339" cy="62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Datenherkunft</a:t>
            </a:r>
          </a:p>
        </p:txBody>
      </p:sp>
    </p:spTree>
    <p:extLst>
      <p:ext uri="{BB962C8B-B14F-4D97-AF65-F5344CB8AC3E}">
        <p14:creationId xmlns:p14="http://schemas.microsoft.com/office/powerpoint/2010/main" val="298249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5"/>
          <p:cNvSpPr txBox="1">
            <a:spLocks noGrp="1"/>
          </p:cNvSpPr>
          <p:nvPr>
            <p:ph type="title"/>
          </p:nvPr>
        </p:nvSpPr>
        <p:spPr>
          <a:xfrm>
            <a:off x="228450" y="3909000"/>
            <a:ext cx="8686950" cy="100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4200" noProof="0" dirty="0"/>
              <a:t>Validierung durch Beispieldaten</a:t>
            </a:r>
          </a:p>
        </p:txBody>
      </p:sp>
      <p:sp>
        <p:nvSpPr>
          <p:cNvPr id="246" name="Google Shape;246;p3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Verschiedene Methoden wie PayPal oder Kreditkarte</a:t>
            </a:r>
          </a:p>
        </p:txBody>
      </p:sp>
      <p:sp>
        <p:nvSpPr>
          <p:cNvPr id="245" name="Google Shape;245;p35"/>
          <p:cNvSpPr txBox="1">
            <a:spLocks noGrp="1"/>
          </p:cNvSpPr>
          <p:nvPr>
            <p:ph type="subTitle" idx="2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Produkte wie </a:t>
            </a:r>
            <a:r>
              <a:rPr lang="de-CH" b="1" noProof="0" dirty="0"/>
              <a:t>Smartphone Plus</a:t>
            </a:r>
            <a:r>
              <a:rPr lang="de-CH" noProof="0" dirty="0"/>
              <a:t> oder </a:t>
            </a:r>
            <a:r>
              <a:rPr lang="de-CH" b="1" noProof="0" dirty="0"/>
              <a:t>Web Dev Course</a:t>
            </a:r>
            <a:endParaRPr lang="de-CH" noProof="0" dirty="0"/>
          </a:p>
        </p:txBody>
      </p:sp>
      <p:sp>
        <p:nvSpPr>
          <p:cNvPr id="247" name="Google Shape;247;p35"/>
          <p:cNvSpPr txBox="1">
            <a:spLocks noGrp="1"/>
          </p:cNvSpPr>
          <p:nvPr>
            <p:ph type="subTitle" idx="3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Robustes Modell für vollständigen Verkaufszyklus</a:t>
            </a:r>
          </a:p>
        </p:txBody>
      </p:sp>
      <p:sp>
        <p:nvSpPr>
          <p:cNvPr id="248" name="Google Shape;248;p35"/>
          <p:cNvSpPr txBox="1">
            <a:spLocks noGrp="1"/>
          </p:cNvSpPr>
          <p:nvPr>
            <p:ph type="title" idx="4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02</a:t>
            </a:r>
          </a:p>
        </p:txBody>
      </p:sp>
      <p:sp>
        <p:nvSpPr>
          <p:cNvPr id="249" name="Google Shape;249;p35"/>
          <p:cNvSpPr txBox="1">
            <a:spLocks noGrp="1"/>
          </p:cNvSpPr>
          <p:nvPr>
            <p:ph type="title" idx="5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01</a:t>
            </a:r>
          </a:p>
        </p:txBody>
      </p:sp>
      <p:sp>
        <p:nvSpPr>
          <p:cNvPr id="250" name="Google Shape;250;p35"/>
          <p:cNvSpPr txBox="1">
            <a:spLocks noGrp="1"/>
          </p:cNvSpPr>
          <p:nvPr>
            <p:ph type="title" idx="6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03</a:t>
            </a:r>
          </a:p>
        </p:txBody>
      </p:sp>
      <p:sp>
        <p:nvSpPr>
          <p:cNvPr id="251" name="Google Shape;251;p35"/>
          <p:cNvSpPr txBox="1">
            <a:spLocks noGrp="1"/>
          </p:cNvSpPr>
          <p:nvPr>
            <p:ph type="subTitle" idx="7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Zahlung</a:t>
            </a:r>
          </a:p>
        </p:txBody>
      </p:sp>
      <p:sp>
        <p:nvSpPr>
          <p:cNvPr id="252" name="Google Shape;252;p35"/>
          <p:cNvSpPr txBox="1">
            <a:spLocks noGrp="1"/>
          </p:cNvSpPr>
          <p:nvPr>
            <p:ph type="subTitle" idx="8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Testdaten</a:t>
            </a:r>
          </a:p>
        </p:txBody>
      </p:sp>
      <p:sp>
        <p:nvSpPr>
          <p:cNvPr id="253" name="Google Shape;253;p35"/>
          <p:cNvSpPr txBox="1">
            <a:spLocks noGrp="1"/>
          </p:cNvSpPr>
          <p:nvPr>
            <p:ph type="subTitle" idx="9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noProof="0" dirty="0"/>
              <a:t>Fazit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A685BCFB-E049-3784-E19A-F0075656D0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28450" y="2170113"/>
            <a:ext cx="2348063" cy="1305838"/>
          </a:xfrm>
          <a:prstGeom prst="rect">
            <a:avLst/>
          </a:prstGeom>
        </p:spPr>
      </p:pic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E13CB246-DC5C-5501-29E8-25DECF934CB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3780" y="2166005"/>
            <a:ext cx="2921620" cy="1244540"/>
          </a:xfrm>
          <a:prstGeom prst="rect">
            <a:avLst/>
          </a:prstGeom>
        </p:spPr>
      </p:pic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DCAD3A0A-8202-EA24-D8FD-1EC18AE4678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4119" y="2166005"/>
            <a:ext cx="1889520" cy="9882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DE3FEAA-04BD-FAA9-0699-D4D24DBB4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6">
            <a:extLst>
              <a:ext uri="{FF2B5EF4-FFF2-40B4-BE49-F238E27FC236}">
                <a16:creationId xmlns:a16="http://schemas.microsoft.com/office/drawing/2014/main" id="{735949E3-F1EE-0E4D-5F9B-2AD35C50E62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28599" y="2854200"/>
            <a:ext cx="8269133" cy="20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3000" b="0" noProof="0" dirty="0"/>
              <a:t> Vielen Dank für eure Aufmerksamkeit!</a:t>
            </a:r>
            <a:br>
              <a:rPr lang="de-CH" sz="3000" b="0" noProof="0"/>
            </a:br>
            <a:r>
              <a:rPr lang="de-CH" sz="10000" noProof="0"/>
              <a:t>Fragen</a:t>
            </a:r>
            <a:r>
              <a:rPr lang="de-CH" sz="10000" noProof="0" dirty="0"/>
              <a:t>?</a:t>
            </a:r>
          </a:p>
        </p:txBody>
      </p:sp>
      <p:sp>
        <p:nvSpPr>
          <p:cNvPr id="123" name="Google Shape;123;p26">
            <a:extLst>
              <a:ext uri="{FF2B5EF4-FFF2-40B4-BE49-F238E27FC236}">
                <a16:creationId xmlns:a16="http://schemas.microsoft.com/office/drawing/2014/main" id="{5D59A5E6-2333-E6D6-8C5C-4B922D4F2CCE}"/>
              </a:ext>
            </a:extLst>
          </p:cNvPr>
          <p:cNvSpPr txBox="1"/>
          <p:nvPr/>
        </p:nvSpPr>
        <p:spPr>
          <a:xfrm>
            <a:off x="5541950" y="228600"/>
            <a:ext cx="17418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1000" noProof="0" dirty="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Matteo Bosshard</a:t>
            </a:r>
          </a:p>
        </p:txBody>
      </p:sp>
      <p:sp>
        <p:nvSpPr>
          <p:cNvPr id="124" name="Google Shape;124;p26">
            <a:extLst>
              <a:ext uri="{FF2B5EF4-FFF2-40B4-BE49-F238E27FC236}">
                <a16:creationId xmlns:a16="http://schemas.microsoft.com/office/drawing/2014/main" id="{6460E021-9254-8761-66B1-F6B795B7D020}"/>
              </a:ext>
            </a:extLst>
          </p:cNvPr>
          <p:cNvSpPr txBox="1"/>
          <p:nvPr/>
        </p:nvSpPr>
        <p:spPr>
          <a:xfrm>
            <a:off x="7689003" y="228600"/>
            <a:ext cx="1226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CH" sz="1000" noProof="0" dirty="0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rPr>
              <a:t>12.01.2026</a:t>
            </a:r>
          </a:p>
        </p:txBody>
      </p:sp>
    </p:spTree>
    <p:extLst>
      <p:ext uri="{BB962C8B-B14F-4D97-AF65-F5344CB8AC3E}">
        <p14:creationId xmlns:p14="http://schemas.microsoft.com/office/powerpoint/2010/main" val="4188025982"/>
      </p:ext>
    </p:extLst>
  </p:cSld>
  <p:clrMapOvr>
    <a:masterClrMapping/>
  </p:clrMapOvr>
</p:sld>
</file>

<file path=ppt/theme/theme1.xml><?xml version="1.0" encoding="utf-8"?>
<a:theme xmlns:a="http://schemas.openxmlformats.org/drawingml/2006/main" name="Project roadmaps by Slidesgo">
  <a:themeElements>
    <a:clrScheme name="Simple Light">
      <a:dk1>
        <a:srgbClr val="161616"/>
      </a:dk1>
      <a:lt1>
        <a:srgbClr val="F0F0F0"/>
      </a:lt1>
      <a:dk2>
        <a:srgbClr val="161616"/>
      </a:dk2>
      <a:lt2>
        <a:srgbClr val="C2C2C2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6161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418</Words>
  <Application>Microsoft Office PowerPoint</Application>
  <PresentationFormat>Bildschirmpräsentation (16:9)</PresentationFormat>
  <Paragraphs>47</Paragraphs>
  <Slides>7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3" baseType="lpstr">
      <vt:lpstr>Arial</vt:lpstr>
      <vt:lpstr>Raleway</vt:lpstr>
      <vt:lpstr>Heebo</vt:lpstr>
      <vt:lpstr>Bricolage Grotesque</vt:lpstr>
      <vt:lpstr>Nunito Light</vt:lpstr>
      <vt:lpstr>Project roadmaps by Slidesgo</vt:lpstr>
      <vt:lpstr> Datenbank-Design E-Commerce</vt:lpstr>
      <vt:lpstr>Ausgangs-lage</vt:lpstr>
      <vt:lpstr>Das ERD</vt:lpstr>
      <vt:lpstr>Integrität &amp; Normalisier-ung</vt:lpstr>
      <vt:lpstr>Preisbe-rechnung </vt:lpstr>
      <vt:lpstr>Validierung durch Beispieldaten</vt:lpstr>
      <vt:lpstr> Vielen Dank für eure Aufmerksamkeit! Fragen?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Matteo Bosshard</cp:lastModifiedBy>
  <cp:revision>15</cp:revision>
  <dcterms:modified xsi:type="dcterms:W3CDTF">2026-01-05T14:06:50Z</dcterms:modified>
</cp:coreProperties>
</file>