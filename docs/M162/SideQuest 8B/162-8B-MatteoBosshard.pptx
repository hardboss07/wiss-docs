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9"/>
  </p:notesMasterIdLst>
  <p:sldIdLst>
    <p:sldId id="256" r:id="rId2"/>
    <p:sldId id="289" r:id="rId3"/>
    <p:sldId id="290" r:id="rId4"/>
    <p:sldId id="291" r:id="rId5"/>
    <p:sldId id="292" r:id="rId6"/>
    <p:sldId id="265" r:id="rId7"/>
    <p:sldId id="293" r:id="rId8"/>
  </p:sldIdLst>
  <p:sldSz cx="9144000" cy="5143500" type="screen16x9"/>
  <p:notesSz cx="6858000" cy="9144000"/>
  <p:embeddedFontLst>
    <p:embeddedFont>
      <p:font typeface="Bricolage Grotesque" panose="020B0604020202020204" charset="0"/>
      <p:regular r:id="rId10"/>
      <p:bold r:id="rId11"/>
    </p:embeddedFont>
    <p:embeddedFont>
      <p:font typeface="Heebo" pitchFamily="2" charset="-79"/>
      <p:regular r:id="rId12"/>
      <p:bold r:id="rId13"/>
    </p:embeddedFont>
    <p:embeddedFont>
      <p:font typeface="Nunito Light" pitchFamily="2" charset="0"/>
      <p:regular r:id="rId14"/>
      <p:italic r:id="rId15"/>
    </p:embeddedFont>
    <p:embeddedFont>
      <p:font typeface="Raleway"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3B3D6D-2401-4C6C-8B44-F631E02C45C2}">
  <a:tblStyle styleId="{683B3D6D-2401-4C6C-8B44-F631E02C45C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372" autoAdjust="0"/>
  </p:normalViewPr>
  <p:slideViewPr>
    <p:cSldViewPr snapToGrid="0">
      <p:cViewPr varScale="1">
        <p:scale>
          <a:sx n="119" d="100"/>
          <a:sy n="119" d="100"/>
        </p:scale>
        <p:origin x="13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Guten Tag zusammen. Ich habe mich mit der Modellierung einer relationalen Datenbank für einen Online-Shop beschäftigt und möchte euch heute mein Ergebnis vorstellen.</a:t>
            </a:r>
          </a:p>
          <a:p>
            <a:pPr marL="0" lvl="0" indent="0" algn="l" rtl="0">
              <a:spcBef>
                <a:spcPts val="0"/>
              </a:spcBef>
              <a:spcAft>
                <a:spcPts val="0"/>
              </a:spcAft>
              <a:buNone/>
            </a:pPr>
            <a:r>
              <a:rPr lang="de-DE" dirty="0"/>
              <a:t>---</a:t>
            </a:r>
          </a:p>
          <a:p>
            <a:pPr marL="0" lvl="0" indent="0" algn="l" rtl="0">
              <a:spcBef>
                <a:spcPts val="0"/>
              </a:spcBef>
              <a:spcAft>
                <a:spcPts val="0"/>
              </a:spcAft>
              <a:buNone/>
            </a:pPr>
            <a:r>
              <a:rPr lang="de-DE" dirty="0"/>
              <a:t>Alle von euch haben schonmal etwas über einen E-Commerce Store gekauft, aber wisst ihr wie dies im Hintergrund wirklich aussieht? Deshalb habe ich mich mit der Modellierung einer relationalen Datenbank für einen Online-Shop beschäftigt und möchte euch heute mein Ergebnis vorstellen.</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A0C352B8-0B12-9FDD-7346-2505E0A7AF55}"/>
            </a:ext>
          </a:extLst>
        </p:cNvPr>
        <p:cNvGrpSpPr/>
        <p:nvPr/>
      </p:nvGrpSpPr>
      <p:grpSpPr>
        <a:xfrm>
          <a:off x="0" y="0"/>
          <a:ext cx="0" cy="0"/>
          <a:chOff x="0" y="0"/>
          <a:chExt cx="0" cy="0"/>
        </a:xfrm>
      </p:grpSpPr>
      <p:sp>
        <p:nvSpPr>
          <p:cNvPr id="232" name="Google Shape;232;g54dda1946d_6_332:notes">
            <a:extLst>
              <a:ext uri="{FF2B5EF4-FFF2-40B4-BE49-F238E27FC236}">
                <a16:creationId xmlns:a16="http://schemas.microsoft.com/office/drawing/2014/main" id="{94866048-1169-21B8-B891-DC2D58E11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54dda1946d_6_332:notes">
            <a:extLst>
              <a:ext uri="{FF2B5EF4-FFF2-40B4-BE49-F238E27FC236}">
                <a16:creationId xmlns:a16="http://schemas.microsoft.com/office/drawing/2014/main" id="{1360E032-92F5-124B-F6D3-0E2A9693A6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Mein Ziel war es, einen realistischen Online-Shop abzubilden. Die Datenbank muss nicht nur wissen, wer was kauft, sondern auch Details wie Lagerbestände, unterschiedliche Lieferadressen pro User und eine saubere Zahlungsabwicklung inklusive Rabattsystem beherrschen</a:t>
            </a:r>
            <a:endParaRPr dirty="0"/>
          </a:p>
        </p:txBody>
      </p:sp>
    </p:spTree>
    <p:extLst>
      <p:ext uri="{BB962C8B-B14F-4D97-AF65-F5344CB8AC3E}">
        <p14:creationId xmlns:p14="http://schemas.microsoft.com/office/powerpoint/2010/main" val="1835259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158750" lvl="0" indent="0">
              <a:buNone/>
            </a:pPr>
            <a:r>
              <a:rPr lang="de-DE" dirty="0"/>
              <a:t>Das ERD zeigt den Aufbau: Wir haben 8 Tabellen. Besonders wichtig ist die Tabelle </a:t>
            </a:r>
            <a:r>
              <a:rPr lang="de-DE" sz="1100" b="0" i="0" u="none" strike="noStrike" cap="none" dirty="0" err="1">
                <a:solidFill>
                  <a:srgbClr val="000000"/>
                </a:solidFill>
                <a:latin typeface="Arial"/>
                <a:ea typeface="Arial"/>
                <a:cs typeface="Arial"/>
                <a:sym typeface="Arial"/>
              </a:rPr>
              <a:t>ProductOrder</a:t>
            </a:r>
            <a:r>
              <a:rPr lang="de-DE" dirty="0"/>
              <a:t>. Da eine Bestellung viele Produkte enthalten kann und ein Produkt in vielen Bestellungen vorkommt, habe ich diese Many-</a:t>
            </a:r>
            <a:r>
              <a:rPr lang="de-DE" dirty="0" err="1"/>
              <a:t>to</a:t>
            </a:r>
            <a:r>
              <a:rPr lang="de-DE" dirty="0"/>
              <a:t>-Many-Beziehung hier aufgelöst. Zudem sieht man, dass ein User mehrere Adressen haben kann, was für getrennte Rechnungs- und Lieferanschriften essenziell ist</a:t>
            </a:r>
            <a:endParaRPr lang="de-CH" dirty="0"/>
          </a:p>
        </p:txBody>
      </p:sp>
    </p:spTree>
    <p:extLst>
      <p:ext uri="{BB962C8B-B14F-4D97-AF65-F5344CB8AC3E}">
        <p14:creationId xmlns:p14="http://schemas.microsoft.com/office/powerpoint/2010/main" val="8016373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7EE9A43F-6D67-5D5C-0ABE-29B14418E2E7}"/>
            </a:ext>
          </a:extLst>
        </p:cNvPr>
        <p:cNvGrpSpPr/>
        <p:nvPr/>
      </p:nvGrpSpPr>
      <p:grpSpPr>
        <a:xfrm>
          <a:off x="0" y="0"/>
          <a:ext cx="0" cy="0"/>
          <a:chOff x="0" y="0"/>
          <a:chExt cx="0" cy="0"/>
        </a:xfrm>
      </p:grpSpPr>
      <p:sp>
        <p:nvSpPr>
          <p:cNvPr id="232" name="Google Shape;232;g54dda1946d_6_332:notes">
            <a:extLst>
              <a:ext uri="{FF2B5EF4-FFF2-40B4-BE49-F238E27FC236}">
                <a16:creationId xmlns:a16="http://schemas.microsoft.com/office/drawing/2014/main" id="{682433E2-6397-12CD-0716-CD2232E464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54dda1946d_6_332:notes">
            <a:extLst>
              <a:ext uri="{FF2B5EF4-FFF2-40B4-BE49-F238E27FC236}">
                <a16:creationId xmlns:a16="http://schemas.microsoft.com/office/drawing/2014/main" id="{7FA39E52-CE0D-48C9-0D76-0C440CC3C5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Um Datenredundanz und Datenintegrität zu vermeiden, ist das Modell bis und mit der 3. Normalform normalisiert. Technisch nutze ich Primärschlüssel mit Auto-</a:t>
            </a:r>
            <a:r>
              <a:rPr lang="de-DE" dirty="0" err="1"/>
              <a:t>Increment</a:t>
            </a:r>
            <a:r>
              <a:rPr lang="de-DE" dirty="0"/>
              <a:t>. Wichtig sind hier die Constraints: 'Not Null' sichert die Vollständigkeit der Daten, und 'Unique' (UN) sorgt dafür, dass zum Beispiel Benutzernamen oder Kategorienamen im System nur einmal vergeben werden können.</a:t>
            </a:r>
            <a:endParaRPr dirty="0"/>
          </a:p>
        </p:txBody>
      </p:sp>
    </p:spTree>
    <p:extLst>
      <p:ext uri="{BB962C8B-B14F-4D97-AF65-F5344CB8AC3E}">
        <p14:creationId xmlns:p14="http://schemas.microsoft.com/office/powerpoint/2010/main" val="3621700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FA3F12D7-10EE-967C-2B00-5F3C4B4D22DD}"/>
            </a:ext>
          </a:extLst>
        </p:cNvPr>
        <p:cNvGrpSpPr/>
        <p:nvPr/>
      </p:nvGrpSpPr>
      <p:grpSpPr>
        <a:xfrm>
          <a:off x="0" y="0"/>
          <a:ext cx="0" cy="0"/>
          <a:chOff x="0" y="0"/>
          <a:chExt cx="0" cy="0"/>
        </a:xfrm>
      </p:grpSpPr>
      <p:sp>
        <p:nvSpPr>
          <p:cNvPr id="232" name="Google Shape;232;g54dda1946d_6_332:notes">
            <a:extLst>
              <a:ext uri="{FF2B5EF4-FFF2-40B4-BE49-F238E27FC236}">
                <a16:creationId xmlns:a16="http://schemas.microsoft.com/office/drawing/2014/main" id="{DBB418B2-6FF7-5C8E-8905-68213DDE6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54dda1946d_6_332:notes">
            <a:extLst>
              <a:ext uri="{FF2B5EF4-FFF2-40B4-BE49-F238E27FC236}">
                <a16:creationId xmlns:a16="http://schemas.microsoft.com/office/drawing/2014/main" id="{901D1A69-4FBB-C925-173B-B87D49DAC7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Ein wichtiges Detail für einen Online-Shop ist natürlich die Preisberechnung. Der fällige Betrag (</a:t>
            </a:r>
            <a:r>
              <a:rPr lang="de-DE" sz="1100" b="0" i="0" u="none" strike="noStrike" cap="none" dirty="0" err="1">
                <a:solidFill>
                  <a:srgbClr val="000000"/>
                </a:solidFill>
                <a:latin typeface="Arial"/>
                <a:ea typeface="Arial"/>
                <a:cs typeface="Arial"/>
                <a:sym typeface="Arial"/>
              </a:rPr>
              <a:t>amount_due</a:t>
            </a:r>
            <a:r>
              <a:rPr lang="de-DE" dirty="0"/>
              <a:t>) ergibt sich logisch aus dem Preis des Produkts, der Menge in der Bestellungsposition und dem angewendeten Rabatt der gesamten Bestellung. Das verknüpft die Tabellen inhaltlich miteinander. Ich </a:t>
            </a:r>
            <a:r>
              <a:rPr lang="de-DE" dirty="0" err="1"/>
              <a:t>weiss</a:t>
            </a:r>
            <a:r>
              <a:rPr lang="de-DE" dirty="0"/>
              <a:t>, dass das Feld </a:t>
            </a:r>
            <a:r>
              <a:rPr lang="de-DE" dirty="0" err="1"/>
              <a:t>amount_due</a:t>
            </a:r>
            <a:r>
              <a:rPr lang="de-DE" dirty="0"/>
              <a:t> rein theoretisch überflüssig ist, jedoch ist es in der Praxis Gang und Gäbe den finalen Preis ebenfalls speichert um 1. die Buchhaltung einfacher zu machen und 2. Stress von der Datenbank abnehmen, da man nicht </a:t>
            </a:r>
            <a:r>
              <a:rPr lang="de-DE" dirty="0" err="1"/>
              <a:t>Product</a:t>
            </a:r>
            <a:r>
              <a:rPr lang="de-DE" dirty="0"/>
              <a:t>, </a:t>
            </a:r>
            <a:r>
              <a:rPr lang="de-DE" dirty="0" err="1"/>
              <a:t>ProductOrder</a:t>
            </a:r>
            <a:r>
              <a:rPr lang="de-DE" dirty="0"/>
              <a:t> und Order abfragen muss.</a:t>
            </a:r>
          </a:p>
          <a:p>
            <a:pPr marL="0" lvl="0" indent="0" algn="l" rtl="0">
              <a:spcBef>
                <a:spcPts val="0"/>
              </a:spcBef>
              <a:spcAft>
                <a:spcPts val="0"/>
              </a:spcAft>
              <a:buNone/>
            </a:pPr>
            <a:r>
              <a:rPr lang="de-DE" dirty="0"/>
              <a:t>---</a:t>
            </a:r>
          </a:p>
          <a:p>
            <a:pPr marL="0" lvl="0" indent="0" algn="l" rtl="0">
              <a:spcBef>
                <a:spcPts val="0"/>
              </a:spcBef>
              <a:spcAft>
                <a:spcPts val="0"/>
              </a:spcAft>
              <a:buNone/>
            </a:pPr>
            <a:r>
              <a:rPr lang="de-DE" dirty="0"/>
              <a:t>Ebenfalls hilft es indem einen historischen Preis-Snapshot zu erstellen, da sich im Verlauf von Bestellung zu Heute die Preise ändern können.</a:t>
            </a:r>
            <a:endParaRPr dirty="0"/>
          </a:p>
        </p:txBody>
      </p:sp>
    </p:spTree>
    <p:extLst>
      <p:ext uri="{BB962C8B-B14F-4D97-AF65-F5344CB8AC3E}">
        <p14:creationId xmlns:p14="http://schemas.microsoft.com/office/powerpoint/2010/main" val="3744633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err="1"/>
              <a:t>Abschliessend</a:t>
            </a:r>
            <a:r>
              <a:rPr lang="de-DE" dirty="0"/>
              <a:t> habe ich das Modell mit Testdaten geprüft. Die Daten zeigen, dass sowohl physische als auch digitale Produkte sowie verschiedene Zahlungsarten korrekt verarbeitet werden.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F50B12D-D947-B188-4E01-85AA771EB3F9}"/>
            </a:ext>
          </a:extLst>
        </p:cNvPr>
        <p:cNvGrpSpPr/>
        <p:nvPr/>
      </p:nvGrpSpPr>
      <p:grpSpPr>
        <a:xfrm>
          <a:off x="0" y="0"/>
          <a:ext cx="0" cy="0"/>
          <a:chOff x="0" y="0"/>
          <a:chExt cx="0" cy="0"/>
        </a:xfrm>
      </p:grpSpPr>
      <p:sp>
        <p:nvSpPr>
          <p:cNvPr id="118" name="Google Shape;118;g4dfce81f19_0_45:notes">
            <a:extLst>
              <a:ext uri="{FF2B5EF4-FFF2-40B4-BE49-F238E27FC236}">
                <a16:creationId xmlns:a16="http://schemas.microsoft.com/office/drawing/2014/main" id="{EFFE52C6-535E-E1F1-31B5-D87B2E24A3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4dfce81f19_0_45:notes">
            <a:extLst>
              <a:ext uri="{FF2B5EF4-FFF2-40B4-BE49-F238E27FC236}">
                <a16:creationId xmlns:a16="http://schemas.microsoft.com/office/drawing/2014/main" id="{76068D78-6BA8-605A-2B2F-324B910A3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Vielen Dank für eure Aufmerksamkeit. Gibt es noch Fragen?</a:t>
            </a:r>
            <a:endParaRPr dirty="0"/>
          </a:p>
        </p:txBody>
      </p:sp>
    </p:spTree>
    <p:extLst>
      <p:ext uri="{BB962C8B-B14F-4D97-AF65-F5344CB8AC3E}">
        <p14:creationId xmlns:p14="http://schemas.microsoft.com/office/powerpoint/2010/main" val="2796670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28600" y="2854200"/>
            <a:ext cx="7286400" cy="20607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572000" y="1143439"/>
            <a:ext cx="1323600" cy="1134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Font typeface="Heebo"/>
              <a:buNone/>
              <a:defRPr sz="1600">
                <a:latin typeface="Heebo"/>
                <a:ea typeface="Heebo"/>
                <a:cs typeface="Heebo"/>
                <a:sym typeface="Heebo"/>
              </a:defRPr>
            </a:lvl1pPr>
            <a:lvl2pPr lvl="1" algn="ctr">
              <a:lnSpc>
                <a:spcPct val="100000"/>
              </a:lnSpc>
              <a:spcBef>
                <a:spcPts val="0"/>
              </a:spcBef>
              <a:spcAft>
                <a:spcPts val="0"/>
              </a:spcAft>
              <a:buSzPts val="1800"/>
              <a:buFont typeface="Heebo"/>
              <a:buNone/>
              <a:defRPr sz="1800">
                <a:latin typeface="Heebo"/>
                <a:ea typeface="Heebo"/>
                <a:cs typeface="Heebo"/>
                <a:sym typeface="Heebo"/>
              </a:defRPr>
            </a:lvl2pPr>
            <a:lvl3pPr lvl="2" algn="ctr">
              <a:lnSpc>
                <a:spcPct val="100000"/>
              </a:lnSpc>
              <a:spcBef>
                <a:spcPts val="0"/>
              </a:spcBef>
              <a:spcAft>
                <a:spcPts val="0"/>
              </a:spcAft>
              <a:buSzPts val="1800"/>
              <a:buFont typeface="Heebo"/>
              <a:buNone/>
              <a:defRPr sz="1800">
                <a:latin typeface="Heebo"/>
                <a:ea typeface="Heebo"/>
                <a:cs typeface="Heebo"/>
                <a:sym typeface="Heebo"/>
              </a:defRPr>
            </a:lvl3pPr>
            <a:lvl4pPr lvl="3" algn="ctr">
              <a:lnSpc>
                <a:spcPct val="100000"/>
              </a:lnSpc>
              <a:spcBef>
                <a:spcPts val="0"/>
              </a:spcBef>
              <a:spcAft>
                <a:spcPts val="0"/>
              </a:spcAft>
              <a:buSzPts val="1800"/>
              <a:buFont typeface="Heebo"/>
              <a:buNone/>
              <a:defRPr sz="1800">
                <a:latin typeface="Heebo"/>
                <a:ea typeface="Heebo"/>
                <a:cs typeface="Heebo"/>
                <a:sym typeface="Heebo"/>
              </a:defRPr>
            </a:lvl4pPr>
            <a:lvl5pPr lvl="4" algn="ctr">
              <a:lnSpc>
                <a:spcPct val="100000"/>
              </a:lnSpc>
              <a:spcBef>
                <a:spcPts val="0"/>
              </a:spcBef>
              <a:spcAft>
                <a:spcPts val="0"/>
              </a:spcAft>
              <a:buSzPts val="1800"/>
              <a:buFont typeface="Heebo"/>
              <a:buNone/>
              <a:defRPr sz="1800">
                <a:latin typeface="Heebo"/>
                <a:ea typeface="Heebo"/>
                <a:cs typeface="Heebo"/>
                <a:sym typeface="Heebo"/>
              </a:defRPr>
            </a:lvl5pPr>
            <a:lvl6pPr lvl="5" algn="ctr">
              <a:lnSpc>
                <a:spcPct val="100000"/>
              </a:lnSpc>
              <a:spcBef>
                <a:spcPts val="0"/>
              </a:spcBef>
              <a:spcAft>
                <a:spcPts val="0"/>
              </a:spcAft>
              <a:buSzPts val="1800"/>
              <a:buFont typeface="Heebo"/>
              <a:buNone/>
              <a:defRPr sz="1800">
                <a:latin typeface="Heebo"/>
                <a:ea typeface="Heebo"/>
                <a:cs typeface="Heebo"/>
                <a:sym typeface="Heebo"/>
              </a:defRPr>
            </a:lvl6pPr>
            <a:lvl7pPr lvl="6" algn="ctr">
              <a:lnSpc>
                <a:spcPct val="100000"/>
              </a:lnSpc>
              <a:spcBef>
                <a:spcPts val="0"/>
              </a:spcBef>
              <a:spcAft>
                <a:spcPts val="0"/>
              </a:spcAft>
              <a:buSzPts val="1800"/>
              <a:buFont typeface="Heebo"/>
              <a:buNone/>
              <a:defRPr sz="1800">
                <a:latin typeface="Heebo"/>
                <a:ea typeface="Heebo"/>
                <a:cs typeface="Heebo"/>
                <a:sym typeface="Heebo"/>
              </a:defRPr>
            </a:lvl7pPr>
            <a:lvl8pPr lvl="7" algn="ctr">
              <a:lnSpc>
                <a:spcPct val="100000"/>
              </a:lnSpc>
              <a:spcBef>
                <a:spcPts val="0"/>
              </a:spcBef>
              <a:spcAft>
                <a:spcPts val="0"/>
              </a:spcAft>
              <a:buSzPts val="1800"/>
              <a:buFont typeface="Heebo"/>
              <a:buNone/>
              <a:defRPr sz="1800">
                <a:latin typeface="Heebo"/>
                <a:ea typeface="Heebo"/>
                <a:cs typeface="Heebo"/>
                <a:sym typeface="Heebo"/>
              </a:defRPr>
            </a:lvl8pPr>
            <a:lvl9pPr lvl="8" algn="ctr">
              <a:lnSpc>
                <a:spcPct val="100000"/>
              </a:lnSpc>
              <a:spcBef>
                <a:spcPts val="0"/>
              </a:spcBef>
              <a:spcAft>
                <a:spcPts val="0"/>
              </a:spcAft>
              <a:buSzPts val="1800"/>
              <a:buFont typeface="Heebo"/>
              <a:buNone/>
              <a:defRPr sz="1800">
                <a:latin typeface="Heebo"/>
                <a:ea typeface="Heebo"/>
                <a:cs typeface="Heebo"/>
                <a:sym typeface="Heeb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4500"/>
              <a:buNone/>
              <a:defRPr/>
            </a:lvl1pPr>
            <a:lvl2pPr lvl="1" rtl="0">
              <a:spcBef>
                <a:spcPts val="0"/>
              </a:spcBef>
              <a:spcAft>
                <a:spcPts val="0"/>
              </a:spcAft>
              <a:buSzPts val="4500"/>
              <a:buNone/>
              <a:defRPr/>
            </a:lvl2pPr>
            <a:lvl3pPr lvl="2" rtl="0">
              <a:spcBef>
                <a:spcPts val="0"/>
              </a:spcBef>
              <a:spcAft>
                <a:spcPts val="0"/>
              </a:spcAft>
              <a:buSzPts val="4500"/>
              <a:buNone/>
              <a:defRPr/>
            </a:lvl3pPr>
            <a:lvl4pPr lvl="3" rtl="0">
              <a:spcBef>
                <a:spcPts val="0"/>
              </a:spcBef>
              <a:spcAft>
                <a:spcPts val="0"/>
              </a:spcAft>
              <a:buSzPts val="4500"/>
              <a:buNone/>
              <a:defRPr/>
            </a:lvl4pPr>
            <a:lvl5pPr lvl="4" rtl="0">
              <a:spcBef>
                <a:spcPts val="0"/>
              </a:spcBef>
              <a:spcAft>
                <a:spcPts val="0"/>
              </a:spcAft>
              <a:buSzPts val="4500"/>
              <a:buNone/>
              <a:defRPr/>
            </a:lvl5pPr>
            <a:lvl6pPr lvl="5" rtl="0">
              <a:spcBef>
                <a:spcPts val="0"/>
              </a:spcBef>
              <a:spcAft>
                <a:spcPts val="0"/>
              </a:spcAft>
              <a:buSzPts val="4500"/>
              <a:buNone/>
              <a:defRPr/>
            </a:lvl6pPr>
            <a:lvl7pPr lvl="6" rtl="0">
              <a:spcBef>
                <a:spcPts val="0"/>
              </a:spcBef>
              <a:spcAft>
                <a:spcPts val="0"/>
              </a:spcAft>
              <a:buSzPts val="4500"/>
              <a:buNone/>
              <a:defRPr/>
            </a:lvl7pPr>
            <a:lvl8pPr lvl="7" rtl="0">
              <a:spcBef>
                <a:spcPts val="0"/>
              </a:spcBef>
              <a:spcAft>
                <a:spcPts val="0"/>
              </a:spcAft>
              <a:buSzPts val="4500"/>
              <a:buNone/>
              <a:defRPr/>
            </a:lvl8pPr>
            <a:lvl9pPr lvl="8" rtl="0">
              <a:spcBef>
                <a:spcPts val="0"/>
              </a:spcBef>
              <a:spcAft>
                <a:spcPts val="0"/>
              </a:spcAft>
              <a:buSzPts val="4500"/>
              <a:buNone/>
              <a:defRPr/>
            </a:lvl9pPr>
          </a:lstStyle>
          <a:p>
            <a:endParaRPr/>
          </a:p>
        </p:txBody>
      </p:sp>
      <p:sp>
        <p:nvSpPr>
          <p:cNvPr id="16" name="Google Shape;16;p4"/>
          <p:cNvSpPr txBox="1">
            <a:spLocks noGrp="1"/>
          </p:cNvSpPr>
          <p:nvPr>
            <p:ph type="body" idx="1"/>
          </p:nvPr>
        </p:nvSpPr>
        <p:spPr>
          <a:xfrm>
            <a:off x="228600" y="999327"/>
            <a:ext cx="7704000" cy="3416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228750" y="228600"/>
            <a:ext cx="2591700" cy="2325600"/>
          </a:xfrm>
          <a:prstGeom prst="rect">
            <a:avLst/>
          </a:prstGeom>
        </p:spPr>
        <p:txBody>
          <a:bodyPr spcFirstLastPara="1" wrap="square" lIns="91425" tIns="91425" rIns="91425" bIns="91425" anchor="t" anchorCtr="0">
            <a:no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19" name="Google Shape;19;p5"/>
          <p:cNvSpPr txBox="1">
            <a:spLocks noGrp="1"/>
          </p:cNvSpPr>
          <p:nvPr>
            <p:ph type="subTitle" idx="1"/>
          </p:nvPr>
        </p:nvSpPr>
        <p:spPr>
          <a:xfrm>
            <a:off x="3768000" y="1795575"/>
            <a:ext cx="5147400" cy="1245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Raleway"/>
              <a:buNone/>
              <a:defRPr/>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a:endParaRPr/>
          </a:p>
        </p:txBody>
      </p:sp>
      <p:sp>
        <p:nvSpPr>
          <p:cNvPr id="20" name="Google Shape;20;p5"/>
          <p:cNvSpPr txBox="1">
            <a:spLocks noGrp="1"/>
          </p:cNvSpPr>
          <p:nvPr>
            <p:ph type="subTitle" idx="2"/>
          </p:nvPr>
        </p:nvSpPr>
        <p:spPr>
          <a:xfrm>
            <a:off x="3767953" y="1242975"/>
            <a:ext cx="5147400" cy="628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600"/>
              <a:buFont typeface="Bricolage Grotesque"/>
              <a:buNone/>
              <a:defRPr sz="1600" b="1">
                <a:solidFill>
                  <a:schemeClr val="dk2"/>
                </a:solidFill>
                <a:latin typeface="Bricolage Grotesque"/>
                <a:ea typeface="Bricolage Grotesque"/>
                <a:cs typeface="Bricolage Grotesque"/>
                <a:sym typeface="Bricolage Grotesque"/>
              </a:defRPr>
            </a:lvl1pPr>
            <a:lvl2pPr lvl="1"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2pPr>
            <a:lvl3pPr lvl="2"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3pPr>
            <a:lvl4pPr lvl="3"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4pPr>
            <a:lvl5pPr lvl="4"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5pPr>
            <a:lvl6pPr lvl="5"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6pPr>
            <a:lvl7pPr lvl="6"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7pPr>
            <a:lvl8pPr lvl="7"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8pPr>
            <a:lvl9pPr lvl="8"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9pPr>
          </a:lstStyle>
          <a:p>
            <a:endParaRPr/>
          </a:p>
        </p:txBody>
      </p:sp>
      <p:sp>
        <p:nvSpPr>
          <p:cNvPr id="21" name="Google Shape;21;p5"/>
          <p:cNvSpPr txBox="1">
            <a:spLocks noGrp="1"/>
          </p:cNvSpPr>
          <p:nvPr>
            <p:ph type="subTitle" idx="3"/>
          </p:nvPr>
        </p:nvSpPr>
        <p:spPr>
          <a:xfrm>
            <a:off x="3767925" y="3669600"/>
            <a:ext cx="5147400" cy="1245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Raleway"/>
              <a:buNone/>
              <a:defRPr/>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a:endParaRPr/>
          </a:p>
        </p:txBody>
      </p:sp>
      <p:sp>
        <p:nvSpPr>
          <p:cNvPr id="22" name="Google Shape;22;p5"/>
          <p:cNvSpPr txBox="1">
            <a:spLocks noGrp="1"/>
          </p:cNvSpPr>
          <p:nvPr>
            <p:ph type="subTitle" idx="4"/>
          </p:nvPr>
        </p:nvSpPr>
        <p:spPr>
          <a:xfrm>
            <a:off x="3767855" y="3117000"/>
            <a:ext cx="5147400" cy="6288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600"/>
              <a:buFont typeface="Bricolage Grotesque"/>
              <a:buNone/>
              <a:defRPr sz="1600" b="1">
                <a:solidFill>
                  <a:schemeClr val="dk2"/>
                </a:solidFill>
                <a:latin typeface="Bricolage Grotesque"/>
                <a:ea typeface="Bricolage Grotesque"/>
                <a:cs typeface="Bricolage Grotesque"/>
                <a:sym typeface="Bricolage Grotesque"/>
              </a:defRPr>
            </a:lvl1pPr>
            <a:lvl2pPr lvl="1"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2pPr>
            <a:lvl3pPr lvl="2"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3pPr>
            <a:lvl4pPr lvl="3"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4pPr>
            <a:lvl5pPr lvl="4"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5pPr>
            <a:lvl6pPr lvl="5"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6pPr>
            <a:lvl7pPr lvl="6"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7pPr>
            <a:lvl8pPr lvl="7"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8pPr>
            <a:lvl9pPr lvl="8" algn="ctr">
              <a:lnSpc>
                <a:spcPct val="100000"/>
              </a:lnSpc>
              <a:spcBef>
                <a:spcPts val="0"/>
              </a:spcBef>
              <a:spcAft>
                <a:spcPts val="0"/>
              </a:spcAft>
              <a:buSzPts val="1600"/>
              <a:buFont typeface="Bricolage Grotesque"/>
              <a:buNone/>
              <a:defRPr sz="1600" b="1">
                <a:latin typeface="Bricolage Grotesque"/>
                <a:ea typeface="Bricolage Grotesque"/>
                <a:cs typeface="Bricolage Grotesque"/>
                <a:sym typeface="Bricolage Grotesq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1887000" y="3909000"/>
            <a:ext cx="7028400" cy="1005900"/>
          </a:xfrm>
          <a:prstGeom prst="rect">
            <a:avLst/>
          </a:prstGeom>
        </p:spPr>
        <p:txBody>
          <a:bodyPr spcFirstLastPara="1" wrap="square" lIns="91425" tIns="91425" rIns="91425" bIns="91425" anchor="t" anchorCtr="0">
            <a:noAutofit/>
          </a:bodyPr>
          <a:lstStyle>
            <a:lvl1pPr lvl="0" algn="r">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75" name="Google Shape;75;p16"/>
          <p:cNvSpPr txBox="1">
            <a:spLocks noGrp="1"/>
          </p:cNvSpPr>
          <p:nvPr>
            <p:ph type="subTitle" idx="1"/>
          </p:nvPr>
        </p:nvSpPr>
        <p:spPr>
          <a:xfrm>
            <a:off x="3309609" y="1591350"/>
            <a:ext cx="2525400" cy="1400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6" name="Google Shape;76;p16"/>
          <p:cNvSpPr txBox="1">
            <a:spLocks noGrp="1"/>
          </p:cNvSpPr>
          <p:nvPr>
            <p:ph type="subTitle" idx="2"/>
          </p:nvPr>
        </p:nvSpPr>
        <p:spPr>
          <a:xfrm>
            <a:off x="228450" y="1591350"/>
            <a:ext cx="2525400" cy="1400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7" name="Google Shape;77;p16"/>
          <p:cNvSpPr txBox="1">
            <a:spLocks noGrp="1"/>
          </p:cNvSpPr>
          <p:nvPr>
            <p:ph type="subTitle" idx="3"/>
          </p:nvPr>
        </p:nvSpPr>
        <p:spPr>
          <a:xfrm>
            <a:off x="6390000" y="1591350"/>
            <a:ext cx="2525400" cy="1400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78" name="Google Shape;78;p16"/>
          <p:cNvSpPr txBox="1">
            <a:spLocks noGrp="1"/>
          </p:cNvSpPr>
          <p:nvPr>
            <p:ph type="title" idx="4" hasCustomPrompt="1"/>
          </p:nvPr>
        </p:nvSpPr>
        <p:spPr>
          <a:xfrm>
            <a:off x="3308991" y="228600"/>
            <a:ext cx="1640100" cy="7629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5000" b="0">
                <a:solidFill>
                  <a:schemeClr val="dk2"/>
                </a:solidFill>
              </a:defRPr>
            </a:lvl1pPr>
            <a:lvl2pPr lvl="1">
              <a:spcBef>
                <a:spcPts val="0"/>
              </a:spcBef>
              <a:spcAft>
                <a:spcPts val="0"/>
              </a:spcAft>
              <a:buSzPts val="3000"/>
              <a:buFont typeface="Bricolage Grotesque"/>
              <a:buNone/>
              <a:defRPr sz="3000">
                <a:latin typeface="Bricolage Grotesque"/>
                <a:ea typeface="Bricolage Grotesque"/>
                <a:cs typeface="Bricolage Grotesque"/>
                <a:sym typeface="Bricolage Grotesque"/>
              </a:defRPr>
            </a:lvl2pPr>
            <a:lvl3pPr lvl="2">
              <a:spcBef>
                <a:spcPts val="0"/>
              </a:spcBef>
              <a:spcAft>
                <a:spcPts val="0"/>
              </a:spcAft>
              <a:buSzPts val="3000"/>
              <a:buFont typeface="Bricolage Grotesque"/>
              <a:buNone/>
              <a:defRPr sz="3000">
                <a:latin typeface="Bricolage Grotesque"/>
                <a:ea typeface="Bricolage Grotesque"/>
                <a:cs typeface="Bricolage Grotesque"/>
                <a:sym typeface="Bricolage Grotesque"/>
              </a:defRPr>
            </a:lvl3pPr>
            <a:lvl4pPr lvl="3">
              <a:spcBef>
                <a:spcPts val="0"/>
              </a:spcBef>
              <a:spcAft>
                <a:spcPts val="0"/>
              </a:spcAft>
              <a:buSzPts val="3000"/>
              <a:buFont typeface="Bricolage Grotesque"/>
              <a:buNone/>
              <a:defRPr sz="3000">
                <a:latin typeface="Bricolage Grotesque"/>
                <a:ea typeface="Bricolage Grotesque"/>
                <a:cs typeface="Bricolage Grotesque"/>
                <a:sym typeface="Bricolage Grotesque"/>
              </a:defRPr>
            </a:lvl4pPr>
            <a:lvl5pPr lvl="4">
              <a:spcBef>
                <a:spcPts val="0"/>
              </a:spcBef>
              <a:spcAft>
                <a:spcPts val="0"/>
              </a:spcAft>
              <a:buSzPts val="3000"/>
              <a:buFont typeface="Bricolage Grotesque"/>
              <a:buNone/>
              <a:defRPr sz="3000">
                <a:latin typeface="Bricolage Grotesque"/>
                <a:ea typeface="Bricolage Grotesque"/>
                <a:cs typeface="Bricolage Grotesque"/>
                <a:sym typeface="Bricolage Grotesque"/>
              </a:defRPr>
            </a:lvl5pPr>
            <a:lvl6pPr lvl="5">
              <a:spcBef>
                <a:spcPts val="0"/>
              </a:spcBef>
              <a:spcAft>
                <a:spcPts val="0"/>
              </a:spcAft>
              <a:buSzPts val="3000"/>
              <a:buFont typeface="Bricolage Grotesque"/>
              <a:buNone/>
              <a:defRPr sz="3000">
                <a:latin typeface="Bricolage Grotesque"/>
                <a:ea typeface="Bricolage Grotesque"/>
                <a:cs typeface="Bricolage Grotesque"/>
                <a:sym typeface="Bricolage Grotesque"/>
              </a:defRPr>
            </a:lvl6pPr>
            <a:lvl7pPr lvl="6">
              <a:spcBef>
                <a:spcPts val="0"/>
              </a:spcBef>
              <a:spcAft>
                <a:spcPts val="0"/>
              </a:spcAft>
              <a:buSzPts val="3000"/>
              <a:buFont typeface="Bricolage Grotesque"/>
              <a:buNone/>
              <a:defRPr sz="3000">
                <a:latin typeface="Bricolage Grotesque"/>
                <a:ea typeface="Bricolage Grotesque"/>
                <a:cs typeface="Bricolage Grotesque"/>
                <a:sym typeface="Bricolage Grotesque"/>
              </a:defRPr>
            </a:lvl7pPr>
            <a:lvl8pPr lvl="7">
              <a:spcBef>
                <a:spcPts val="0"/>
              </a:spcBef>
              <a:spcAft>
                <a:spcPts val="0"/>
              </a:spcAft>
              <a:buSzPts val="3000"/>
              <a:buFont typeface="Bricolage Grotesque"/>
              <a:buNone/>
              <a:defRPr sz="3000">
                <a:latin typeface="Bricolage Grotesque"/>
                <a:ea typeface="Bricolage Grotesque"/>
                <a:cs typeface="Bricolage Grotesque"/>
                <a:sym typeface="Bricolage Grotesque"/>
              </a:defRPr>
            </a:lvl8pPr>
            <a:lvl9pPr lvl="8">
              <a:spcBef>
                <a:spcPts val="0"/>
              </a:spcBef>
              <a:spcAft>
                <a:spcPts val="0"/>
              </a:spcAft>
              <a:buSzPts val="3000"/>
              <a:buFont typeface="Bricolage Grotesque"/>
              <a:buNone/>
              <a:defRPr sz="3000">
                <a:latin typeface="Bricolage Grotesque"/>
                <a:ea typeface="Bricolage Grotesque"/>
                <a:cs typeface="Bricolage Grotesque"/>
                <a:sym typeface="Bricolage Grotesque"/>
              </a:defRPr>
            </a:lvl9pPr>
          </a:lstStyle>
          <a:p>
            <a:r>
              <a:t>xx%</a:t>
            </a:r>
          </a:p>
        </p:txBody>
      </p:sp>
      <p:sp>
        <p:nvSpPr>
          <p:cNvPr id="79" name="Google Shape;79;p16"/>
          <p:cNvSpPr txBox="1">
            <a:spLocks noGrp="1"/>
          </p:cNvSpPr>
          <p:nvPr>
            <p:ph type="title" idx="5" hasCustomPrompt="1"/>
          </p:nvPr>
        </p:nvSpPr>
        <p:spPr>
          <a:xfrm>
            <a:off x="228475" y="228968"/>
            <a:ext cx="1706100" cy="7620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5000" b="0">
                <a:solidFill>
                  <a:schemeClr val="dk2"/>
                </a:solidFill>
              </a:defRPr>
            </a:lvl1pPr>
            <a:lvl2pPr lvl="1"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2pPr>
            <a:lvl3pPr lvl="2"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3pPr>
            <a:lvl4pPr lvl="3"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4pPr>
            <a:lvl5pPr lvl="4"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5pPr>
            <a:lvl6pPr lvl="5"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6pPr>
            <a:lvl7pPr lvl="6"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7pPr>
            <a:lvl8pPr lvl="7"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8pPr>
            <a:lvl9pPr lvl="8" algn="ctr">
              <a:spcBef>
                <a:spcPts val="0"/>
              </a:spcBef>
              <a:spcAft>
                <a:spcPts val="0"/>
              </a:spcAft>
              <a:buSzPts val="9600"/>
              <a:buFont typeface="Bricolage Grotesque"/>
              <a:buNone/>
              <a:defRPr sz="9600">
                <a:latin typeface="Bricolage Grotesque"/>
                <a:ea typeface="Bricolage Grotesque"/>
                <a:cs typeface="Bricolage Grotesque"/>
                <a:sym typeface="Bricolage Grotesque"/>
              </a:defRPr>
            </a:lvl9pPr>
          </a:lstStyle>
          <a:p>
            <a:r>
              <a:t>xx%</a:t>
            </a:r>
          </a:p>
        </p:txBody>
      </p:sp>
      <p:sp>
        <p:nvSpPr>
          <p:cNvPr id="80" name="Google Shape;80;p16"/>
          <p:cNvSpPr txBox="1">
            <a:spLocks noGrp="1"/>
          </p:cNvSpPr>
          <p:nvPr>
            <p:ph type="title" idx="6" hasCustomPrompt="1"/>
          </p:nvPr>
        </p:nvSpPr>
        <p:spPr>
          <a:xfrm>
            <a:off x="6390000" y="228600"/>
            <a:ext cx="1479300" cy="7629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5000" b="0">
                <a:solidFill>
                  <a:schemeClr val="dk2"/>
                </a:solidFill>
              </a:defRPr>
            </a:lvl1pPr>
            <a:lvl2pPr lvl="1"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2pPr>
            <a:lvl3pPr lvl="2"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3pPr>
            <a:lvl4pPr lvl="3"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4pPr>
            <a:lvl5pPr lvl="4"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5pPr>
            <a:lvl6pPr lvl="5"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6pPr>
            <a:lvl7pPr lvl="6"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7pPr>
            <a:lvl8pPr lvl="7"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8pPr>
            <a:lvl9pPr lvl="8" algn="ctr">
              <a:spcBef>
                <a:spcPts val="0"/>
              </a:spcBef>
              <a:spcAft>
                <a:spcPts val="0"/>
              </a:spcAft>
              <a:buSzPts val="6200"/>
              <a:buFont typeface="Bricolage Grotesque"/>
              <a:buNone/>
              <a:defRPr sz="6200">
                <a:latin typeface="Bricolage Grotesque"/>
                <a:ea typeface="Bricolage Grotesque"/>
                <a:cs typeface="Bricolage Grotesque"/>
                <a:sym typeface="Bricolage Grotesque"/>
              </a:defRPr>
            </a:lvl9pPr>
          </a:lstStyle>
          <a:p>
            <a:r>
              <a:t>xx%</a:t>
            </a:r>
          </a:p>
        </p:txBody>
      </p:sp>
      <p:sp>
        <p:nvSpPr>
          <p:cNvPr id="81" name="Google Shape;81;p16"/>
          <p:cNvSpPr txBox="1">
            <a:spLocks noGrp="1"/>
          </p:cNvSpPr>
          <p:nvPr>
            <p:ph type="subTitle" idx="7"/>
          </p:nvPr>
        </p:nvSpPr>
        <p:spPr>
          <a:xfrm>
            <a:off x="3309609" y="1103850"/>
            <a:ext cx="2525400" cy="563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600"/>
              <a:buFont typeface="Bricolage Grotesque"/>
              <a:buNone/>
              <a:defRPr sz="1600" b="1">
                <a:solidFill>
                  <a:schemeClr val="dk2"/>
                </a:solidFill>
                <a:latin typeface="Bricolage Grotesque"/>
                <a:ea typeface="Bricolage Grotesque"/>
                <a:cs typeface="Bricolage Grotesque"/>
                <a:sym typeface="Bricolage Grotesque"/>
              </a:defRPr>
            </a:lvl1pPr>
            <a:lvl2pPr lvl="1"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2pPr>
            <a:lvl3pPr lvl="2"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3pPr>
            <a:lvl4pPr lvl="3"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4pPr>
            <a:lvl5pPr lvl="4"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5pPr>
            <a:lvl6pPr lvl="5"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6pPr>
            <a:lvl7pPr lvl="6"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7pPr>
            <a:lvl8pPr lvl="7"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8pPr>
            <a:lvl9pPr lvl="8"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9pPr>
          </a:lstStyle>
          <a:p>
            <a:endParaRPr/>
          </a:p>
        </p:txBody>
      </p:sp>
      <p:sp>
        <p:nvSpPr>
          <p:cNvPr id="82" name="Google Shape;82;p16"/>
          <p:cNvSpPr txBox="1">
            <a:spLocks noGrp="1"/>
          </p:cNvSpPr>
          <p:nvPr>
            <p:ph type="subTitle" idx="8"/>
          </p:nvPr>
        </p:nvSpPr>
        <p:spPr>
          <a:xfrm>
            <a:off x="228450" y="1103850"/>
            <a:ext cx="2525400" cy="563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600"/>
              <a:buFont typeface="Bricolage Grotesque"/>
              <a:buNone/>
              <a:defRPr sz="1600" b="1">
                <a:solidFill>
                  <a:schemeClr val="dk2"/>
                </a:solidFill>
                <a:latin typeface="Bricolage Grotesque"/>
                <a:ea typeface="Bricolage Grotesque"/>
                <a:cs typeface="Bricolage Grotesque"/>
                <a:sym typeface="Bricolage Grotesque"/>
              </a:defRPr>
            </a:lvl1pPr>
            <a:lvl2pPr lvl="1"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2pPr>
            <a:lvl3pPr lvl="2"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3pPr>
            <a:lvl4pPr lvl="3"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4pPr>
            <a:lvl5pPr lvl="4"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5pPr>
            <a:lvl6pPr lvl="5"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6pPr>
            <a:lvl7pPr lvl="6"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7pPr>
            <a:lvl8pPr lvl="7"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8pPr>
            <a:lvl9pPr lvl="8"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9pPr>
          </a:lstStyle>
          <a:p>
            <a:endParaRPr/>
          </a:p>
        </p:txBody>
      </p:sp>
      <p:sp>
        <p:nvSpPr>
          <p:cNvPr id="83" name="Google Shape;83;p16"/>
          <p:cNvSpPr txBox="1">
            <a:spLocks noGrp="1"/>
          </p:cNvSpPr>
          <p:nvPr>
            <p:ph type="subTitle" idx="9"/>
          </p:nvPr>
        </p:nvSpPr>
        <p:spPr>
          <a:xfrm>
            <a:off x="6390000" y="1103850"/>
            <a:ext cx="2525400" cy="563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1600"/>
              <a:buFont typeface="Bricolage Grotesque"/>
              <a:buNone/>
              <a:defRPr sz="1600" b="1">
                <a:solidFill>
                  <a:schemeClr val="dk2"/>
                </a:solidFill>
                <a:latin typeface="Bricolage Grotesque"/>
                <a:ea typeface="Bricolage Grotesque"/>
                <a:cs typeface="Bricolage Grotesque"/>
                <a:sym typeface="Bricolage Grotesque"/>
              </a:defRPr>
            </a:lvl1pPr>
            <a:lvl2pPr lvl="1"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2pPr>
            <a:lvl3pPr lvl="2"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3pPr>
            <a:lvl4pPr lvl="3"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4pPr>
            <a:lvl5pPr lvl="4"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5pPr>
            <a:lvl6pPr lvl="5"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6pPr>
            <a:lvl7pPr lvl="6"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7pPr>
            <a:lvl8pPr lvl="7"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8pPr>
            <a:lvl9pPr lvl="8" algn="ctr">
              <a:lnSpc>
                <a:spcPct val="100000"/>
              </a:lnSpc>
              <a:spcBef>
                <a:spcPts val="0"/>
              </a:spcBef>
              <a:spcAft>
                <a:spcPts val="0"/>
              </a:spcAft>
              <a:buSzPts val="1600"/>
              <a:buFont typeface="Bricolage Grotesque"/>
              <a:buNone/>
              <a:defRPr sz="1600">
                <a:latin typeface="Bricolage Grotesque"/>
                <a:ea typeface="Bricolage Grotesque"/>
                <a:cs typeface="Bricolage Grotesque"/>
                <a:sym typeface="Bricolage Grotesqu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228600"/>
            <a:ext cx="8686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4500"/>
              <a:buFont typeface="Bricolage Grotesque"/>
              <a:buNone/>
              <a:defRPr sz="4500" b="1">
                <a:solidFill>
                  <a:schemeClr val="dk1"/>
                </a:solidFill>
                <a:latin typeface="Bricolage Grotesque"/>
                <a:ea typeface="Bricolage Grotesque"/>
                <a:cs typeface="Bricolage Grotesque"/>
                <a:sym typeface="Bricolage Grotesque"/>
              </a:defRPr>
            </a:lvl1pPr>
            <a:lvl2pPr lvl="1"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2pPr>
            <a:lvl3pPr lvl="2"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3pPr>
            <a:lvl4pPr lvl="3"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4pPr>
            <a:lvl5pPr lvl="4"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5pPr>
            <a:lvl6pPr lvl="5"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6pPr>
            <a:lvl7pPr lvl="6"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7pPr>
            <a:lvl8pPr lvl="7"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8pPr>
            <a:lvl9pPr lvl="8" rtl="0">
              <a:spcBef>
                <a:spcPts val="0"/>
              </a:spcBef>
              <a:spcAft>
                <a:spcPts val="0"/>
              </a:spcAft>
              <a:buClr>
                <a:schemeClr val="dk1"/>
              </a:buClr>
              <a:buSzPts val="4500"/>
              <a:buFont typeface="Afacad Flux"/>
              <a:buNone/>
              <a:defRPr sz="4500" b="1">
                <a:solidFill>
                  <a:schemeClr val="dk1"/>
                </a:solidFill>
                <a:latin typeface="Afacad Flux"/>
                <a:ea typeface="Afacad Flux"/>
                <a:cs typeface="Afacad Flux"/>
                <a:sym typeface="Afacad Flux"/>
              </a:defRPr>
            </a:lvl9pPr>
          </a:lstStyle>
          <a:p>
            <a:endParaRPr/>
          </a:p>
        </p:txBody>
      </p:sp>
      <p:sp>
        <p:nvSpPr>
          <p:cNvPr id="7" name="Google Shape;7;p1"/>
          <p:cNvSpPr txBox="1">
            <a:spLocks noGrp="1"/>
          </p:cNvSpPr>
          <p:nvPr>
            <p:ph type="body" idx="1"/>
          </p:nvPr>
        </p:nvSpPr>
        <p:spPr>
          <a:xfrm>
            <a:off x="228600" y="936050"/>
            <a:ext cx="86868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1pPr>
            <a:lvl2pPr marL="914400" lvl="1"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2pPr>
            <a:lvl3pPr marL="1371600" lvl="2"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3pPr>
            <a:lvl4pPr marL="1828800" lvl="3"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4pPr>
            <a:lvl5pPr marL="2286000" lvl="4"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5pPr>
            <a:lvl6pPr marL="2743200" lvl="5"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6pPr>
            <a:lvl7pPr marL="3200400" lvl="6"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7pPr>
            <a:lvl8pPr marL="3657600" lvl="7"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8pPr>
            <a:lvl9pPr marL="4114800" lvl="8" indent="-304800">
              <a:lnSpc>
                <a:spcPct val="100000"/>
              </a:lnSpc>
              <a:spcBef>
                <a:spcPts val="0"/>
              </a:spcBef>
              <a:spcAft>
                <a:spcPts val="0"/>
              </a:spcAft>
              <a:buClr>
                <a:schemeClr val="dk1"/>
              </a:buClr>
              <a:buSzPts val="1200"/>
              <a:buFont typeface="Heebo"/>
              <a:buChar char="■"/>
              <a:defRPr sz="1200">
                <a:solidFill>
                  <a:schemeClr val="dk1"/>
                </a:solidFill>
                <a:latin typeface="Heebo"/>
                <a:ea typeface="Heebo"/>
                <a:cs typeface="Heebo"/>
                <a:sym typeface="Heeb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6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6"/>
          <p:cNvSpPr txBox="1">
            <a:spLocks noGrp="1"/>
          </p:cNvSpPr>
          <p:nvPr>
            <p:ph type="ctrTitle"/>
          </p:nvPr>
        </p:nvSpPr>
        <p:spPr>
          <a:xfrm>
            <a:off x="228599" y="2854200"/>
            <a:ext cx="8269133" cy="206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sz="3000" b="0" noProof="0" dirty="0"/>
              <a:t> Datenbank-Design</a:t>
            </a:r>
            <a:br>
              <a:rPr lang="de-CH" sz="3000" b="0" noProof="0" dirty="0"/>
            </a:br>
            <a:r>
              <a:rPr lang="de-CH" sz="10000" noProof="0" dirty="0"/>
              <a:t>E-Commerce</a:t>
            </a:r>
          </a:p>
        </p:txBody>
      </p:sp>
      <p:sp>
        <p:nvSpPr>
          <p:cNvPr id="123" name="Google Shape;123;p26"/>
          <p:cNvSpPr txBox="1"/>
          <p:nvPr/>
        </p:nvSpPr>
        <p:spPr>
          <a:xfrm>
            <a:off x="5541950" y="228600"/>
            <a:ext cx="1741800" cy="338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de-CH" sz="1000" noProof="0" dirty="0">
                <a:solidFill>
                  <a:schemeClr val="dk1"/>
                </a:solidFill>
                <a:latin typeface="Heebo"/>
                <a:ea typeface="Heebo"/>
                <a:cs typeface="Heebo"/>
                <a:sym typeface="Heebo"/>
              </a:rPr>
              <a:t>Matteo Bosshard</a:t>
            </a:r>
          </a:p>
        </p:txBody>
      </p:sp>
      <p:sp>
        <p:nvSpPr>
          <p:cNvPr id="124" name="Google Shape;124;p26"/>
          <p:cNvSpPr txBox="1"/>
          <p:nvPr/>
        </p:nvSpPr>
        <p:spPr>
          <a:xfrm>
            <a:off x="7689003" y="228600"/>
            <a:ext cx="1226400" cy="338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de-CH" sz="1000" noProof="0" dirty="0">
                <a:solidFill>
                  <a:schemeClr val="dk1"/>
                </a:solidFill>
                <a:latin typeface="Heebo"/>
                <a:ea typeface="Heebo"/>
                <a:cs typeface="Heebo"/>
                <a:sym typeface="Heebo"/>
              </a:rPr>
              <a:t>12.01.2026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35062C9B-5840-E363-0930-4EE7EB0BC2DA}"/>
            </a:ext>
          </a:extLst>
        </p:cNvPr>
        <p:cNvGrpSpPr/>
        <p:nvPr/>
      </p:nvGrpSpPr>
      <p:grpSpPr>
        <a:xfrm>
          <a:off x="0" y="0"/>
          <a:ext cx="0" cy="0"/>
          <a:chOff x="0" y="0"/>
          <a:chExt cx="0" cy="0"/>
        </a:xfrm>
      </p:grpSpPr>
      <p:sp>
        <p:nvSpPr>
          <p:cNvPr id="235" name="Google Shape;235;p34">
            <a:extLst>
              <a:ext uri="{FF2B5EF4-FFF2-40B4-BE49-F238E27FC236}">
                <a16:creationId xmlns:a16="http://schemas.microsoft.com/office/drawing/2014/main" id="{DBDC133F-2BB5-8D15-6901-F42C81EF62E7}"/>
              </a:ext>
            </a:extLst>
          </p:cNvPr>
          <p:cNvSpPr txBox="1">
            <a:spLocks noGrp="1"/>
          </p:cNvSpPr>
          <p:nvPr>
            <p:ph type="title"/>
          </p:nvPr>
        </p:nvSpPr>
        <p:spPr>
          <a:xfrm>
            <a:off x="228749" y="228600"/>
            <a:ext cx="5469317" cy="232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Ausgangslage</a:t>
            </a:r>
          </a:p>
        </p:txBody>
      </p:sp>
      <p:sp>
        <p:nvSpPr>
          <p:cNvPr id="237" name="Google Shape;237;p34">
            <a:extLst>
              <a:ext uri="{FF2B5EF4-FFF2-40B4-BE49-F238E27FC236}">
                <a16:creationId xmlns:a16="http://schemas.microsoft.com/office/drawing/2014/main" id="{D4474DC4-1F7F-14F6-95E6-D00609FAA245}"/>
              </a:ext>
            </a:extLst>
          </p:cNvPr>
          <p:cNvSpPr txBox="1">
            <a:spLocks noGrp="1"/>
          </p:cNvSpPr>
          <p:nvPr>
            <p:ph type="subTitle" idx="1"/>
          </p:nvPr>
        </p:nvSpPr>
        <p:spPr>
          <a:xfrm>
            <a:off x="3767850" y="1881835"/>
            <a:ext cx="5147400" cy="8478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Ein Shop für diverse physische Produkte und digitale Dienstleistungen.</a:t>
            </a:r>
          </a:p>
        </p:txBody>
      </p:sp>
      <p:sp>
        <p:nvSpPr>
          <p:cNvPr id="236" name="Google Shape;236;p34">
            <a:extLst>
              <a:ext uri="{FF2B5EF4-FFF2-40B4-BE49-F238E27FC236}">
                <a16:creationId xmlns:a16="http://schemas.microsoft.com/office/drawing/2014/main" id="{ADBB6155-70F4-FCD4-2645-8A448E53871E}"/>
              </a:ext>
            </a:extLst>
          </p:cNvPr>
          <p:cNvSpPr txBox="1">
            <a:spLocks noGrp="1"/>
          </p:cNvSpPr>
          <p:nvPr>
            <p:ph type="subTitle" idx="2"/>
          </p:nvPr>
        </p:nvSpPr>
        <p:spPr>
          <a:xfrm>
            <a:off x="3767803" y="1329235"/>
            <a:ext cx="5147400"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Anwendungsfall</a:t>
            </a:r>
          </a:p>
        </p:txBody>
      </p:sp>
      <p:sp>
        <p:nvSpPr>
          <p:cNvPr id="238" name="Google Shape;238;p34">
            <a:extLst>
              <a:ext uri="{FF2B5EF4-FFF2-40B4-BE49-F238E27FC236}">
                <a16:creationId xmlns:a16="http://schemas.microsoft.com/office/drawing/2014/main" id="{28C6FB8C-AA25-D257-FAF9-A7E1DD96F7FA}"/>
              </a:ext>
            </a:extLst>
          </p:cNvPr>
          <p:cNvSpPr txBox="1">
            <a:spLocks noGrp="1"/>
          </p:cNvSpPr>
          <p:nvPr>
            <p:ph type="subTitle" idx="3"/>
          </p:nvPr>
        </p:nvSpPr>
        <p:spPr>
          <a:xfrm>
            <a:off x="3767775" y="2695468"/>
            <a:ext cx="5147400" cy="1245300"/>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de-CH" noProof="0" dirty="0"/>
              <a:t>Benutzerverwaltung mit mehreren Adressen</a:t>
            </a:r>
          </a:p>
          <a:p>
            <a:pPr marL="171450" lvl="0" indent="-171450">
              <a:buFont typeface="Arial" panose="020B0604020202020204" pitchFamily="34" charset="0"/>
              <a:buChar char="•"/>
            </a:pPr>
            <a:r>
              <a:rPr lang="de-CH" noProof="0" dirty="0"/>
              <a:t>Kategorisierung von Produkten</a:t>
            </a:r>
          </a:p>
          <a:p>
            <a:pPr marL="171450" lvl="0" indent="-171450">
              <a:buFont typeface="Arial" panose="020B0604020202020204" pitchFamily="34" charset="0"/>
              <a:buChar char="•"/>
            </a:pPr>
            <a:r>
              <a:rPr lang="de-CH" noProof="0" dirty="0"/>
              <a:t>Abwicklung von Bestellungen mit variablen Mengen</a:t>
            </a:r>
          </a:p>
          <a:p>
            <a:pPr marL="171450" lvl="0" indent="-171450">
              <a:buFont typeface="Arial" panose="020B0604020202020204" pitchFamily="34" charset="0"/>
              <a:buChar char="•"/>
            </a:pPr>
            <a:r>
              <a:rPr lang="de-CH" noProof="0" dirty="0"/>
              <a:t>Integration von Rabatten und verschiedenen Zahlungsarten</a:t>
            </a:r>
          </a:p>
        </p:txBody>
      </p:sp>
      <p:sp>
        <p:nvSpPr>
          <p:cNvPr id="239" name="Google Shape;239;p34">
            <a:extLst>
              <a:ext uri="{FF2B5EF4-FFF2-40B4-BE49-F238E27FC236}">
                <a16:creationId xmlns:a16="http://schemas.microsoft.com/office/drawing/2014/main" id="{A4B835A3-D427-2C41-17B7-7B7372E4677F}"/>
              </a:ext>
            </a:extLst>
          </p:cNvPr>
          <p:cNvSpPr txBox="1">
            <a:spLocks noGrp="1"/>
          </p:cNvSpPr>
          <p:nvPr>
            <p:ph type="subTitle" idx="4"/>
          </p:nvPr>
        </p:nvSpPr>
        <p:spPr>
          <a:xfrm>
            <a:off x="3767705" y="2142868"/>
            <a:ext cx="5147400"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Kernfunktionen</a:t>
            </a:r>
          </a:p>
        </p:txBody>
      </p:sp>
    </p:spTree>
    <p:extLst>
      <p:ext uri="{BB962C8B-B14F-4D97-AF65-F5344CB8AC3E}">
        <p14:creationId xmlns:p14="http://schemas.microsoft.com/office/powerpoint/2010/main" val="47174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6EDB0-6D0C-661A-7B78-C54C05680B56}"/>
              </a:ext>
            </a:extLst>
          </p:cNvPr>
          <p:cNvSpPr>
            <a:spLocks noGrp="1"/>
          </p:cNvSpPr>
          <p:nvPr>
            <p:ph type="title"/>
          </p:nvPr>
        </p:nvSpPr>
        <p:spPr/>
        <p:txBody>
          <a:bodyPr/>
          <a:lstStyle/>
          <a:p>
            <a:r>
              <a:rPr lang="de-CH" noProof="0" dirty="0"/>
              <a:t>Das ERD</a:t>
            </a:r>
          </a:p>
        </p:txBody>
      </p:sp>
      <p:sp>
        <p:nvSpPr>
          <p:cNvPr id="3" name="Textplatzhalter 2">
            <a:extLst>
              <a:ext uri="{FF2B5EF4-FFF2-40B4-BE49-F238E27FC236}">
                <a16:creationId xmlns:a16="http://schemas.microsoft.com/office/drawing/2014/main" id="{D1D8578C-07E8-7706-F837-7CDE795FB111}"/>
              </a:ext>
            </a:extLst>
          </p:cNvPr>
          <p:cNvSpPr>
            <a:spLocks noGrp="1"/>
          </p:cNvSpPr>
          <p:nvPr>
            <p:ph type="body" idx="1"/>
          </p:nvPr>
        </p:nvSpPr>
        <p:spPr/>
        <p:txBody>
          <a:bodyPr/>
          <a:lstStyle/>
          <a:p>
            <a:endParaRPr lang="de-CH" noProof="0" dirty="0"/>
          </a:p>
        </p:txBody>
      </p:sp>
      <p:pic>
        <p:nvPicPr>
          <p:cNvPr id="9" name="Grafik 8" descr="Ein Bild, das Schwarz, Dunkelheit enthält.&#10;&#10;KI-generierte Inhalte können fehlerhaft sein.">
            <a:extLst>
              <a:ext uri="{FF2B5EF4-FFF2-40B4-BE49-F238E27FC236}">
                <a16:creationId xmlns:a16="http://schemas.microsoft.com/office/drawing/2014/main" id="{1AA5459F-5667-97D1-7938-6AF8EFFF07D4}"/>
              </a:ext>
            </a:extLst>
          </p:cNvPr>
          <p:cNvPicPr>
            <a:picLocks noChangeAspect="1"/>
          </p:cNvPicPr>
          <p:nvPr/>
        </p:nvPicPr>
        <p:blipFill>
          <a:blip r:embed="rId3"/>
          <a:stretch>
            <a:fillRect/>
          </a:stretch>
        </p:blipFill>
        <p:spPr>
          <a:xfrm>
            <a:off x="1138326" y="225162"/>
            <a:ext cx="6794274" cy="4689738"/>
          </a:xfrm>
          <a:prstGeom prst="rect">
            <a:avLst/>
          </a:prstGeom>
        </p:spPr>
      </p:pic>
    </p:spTree>
    <p:extLst>
      <p:ext uri="{BB962C8B-B14F-4D97-AF65-F5344CB8AC3E}">
        <p14:creationId xmlns:p14="http://schemas.microsoft.com/office/powerpoint/2010/main" val="3693768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BE50A7B6-6F6D-A423-975A-71BCAA267550}"/>
            </a:ext>
          </a:extLst>
        </p:cNvPr>
        <p:cNvGrpSpPr/>
        <p:nvPr/>
      </p:nvGrpSpPr>
      <p:grpSpPr>
        <a:xfrm>
          <a:off x="0" y="0"/>
          <a:ext cx="0" cy="0"/>
          <a:chOff x="0" y="0"/>
          <a:chExt cx="0" cy="0"/>
        </a:xfrm>
      </p:grpSpPr>
      <p:sp>
        <p:nvSpPr>
          <p:cNvPr id="235" name="Google Shape;235;p34">
            <a:extLst>
              <a:ext uri="{FF2B5EF4-FFF2-40B4-BE49-F238E27FC236}">
                <a16:creationId xmlns:a16="http://schemas.microsoft.com/office/drawing/2014/main" id="{F80FFF72-A3D0-3531-73BC-177AB9B6B935}"/>
              </a:ext>
            </a:extLst>
          </p:cNvPr>
          <p:cNvSpPr txBox="1">
            <a:spLocks noGrp="1"/>
          </p:cNvSpPr>
          <p:nvPr>
            <p:ph type="title"/>
          </p:nvPr>
        </p:nvSpPr>
        <p:spPr>
          <a:xfrm>
            <a:off x="228748" y="228600"/>
            <a:ext cx="8500385" cy="1014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Integrität &amp; Normalisierung</a:t>
            </a:r>
          </a:p>
        </p:txBody>
      </p:sp>
      <p:sp>
        <p:nvSpPr>
          <p:cNvPr id="237" name="Google Shape;237;p34">
            <a:extLst>
              <a:ext uri="{FF2B5EF4-FFF2-40B4-BE49-F238E27FC236}">
                <a16:creationId xmlns:a16="http://schemas.microsoft.com/office/drawing/2014/main" id="{EB02ABE6-4C28-362C-F36F-F2FA4940BD60}"/>
              </a:ext>
            </a:extLst>
          </p:cNvPr>
          <p:cNvSpPr txBox="1">
            <a:spLocks noGrp="1"/>
          </p:cNvSpPr>
          <p:nvPr>
            <p:ph type="subTitle" idx="1"/>
          </p:nvPr>
        </p:nvSpPr>
        <p:spPr>
          <a:xfrm>
            <a:off x="3718060" y="1881835"/>
            <a:ext cx="5197339" cy="8478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3. Normalform durch Auslagerung von Kategorien und Zahlungsmethoden</a:t>
            </a:r>
          </a:p>
        </p:txBody>
      </p:sp>
      <p:sp>
        <p:nvSpPr>
          <p:cNvPr id="236" name="Google Shape;236;p34">
            <a:extLst>
              <a:ext uri="{FF2B5EF4-FFF2-40B4-BE49-F238E27FC236}">
                <a16:creationId xmlns:a16="http://schemas.microsoft.com/office/drawing/2014/main" id="{24B2C152-9F92-6D4E-7234-20FDBD06D196}"/>
              </a:ext>
            </a:extLst>
          </p:cNvPr>
          <p:cNvSpPr txBox="1">
            <a:spLocks noGrp="1"/>
          </p:cNvSpPr>
          <p:nvPr>
            <p:ph type="subTitle" idx="2"/>
          </p:nvPr>
        </p:nvSpPr>
        <p:spPr>
          <a:xfrm>
            <a:off x="3718013" y="1329235"/>
            <a:ext cx="5197339"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Normalisierung</a:t>
            </a:r>
          </a:p>
        </p:txBody>
      </p:sp>
      <p:sp>
        <p:nvSpPr>
          <p:cNvPr id="238" name="Google Shape;238;p34">
            <a:extLst>
              <a:ext uri="{FF2B5EF4-FFF2-40B4-BE49-F238E27FC236}">
                <a16:creationId xmlns:a16="http://schemas.microsoft.com/office/drawing/2014/main" id="{4D0ADA9C-7D62-9D87-F5F2-CE7D943D4A6E}"/>
              </a:ext>
            </a:extLst>
          </p:cNvPr>
          <p:cNvSpPr txBox="1">
            <a:spLocks noGrp="1"/>
          </p:cNvSpPr>
          <p:nvPr>
            <p:ph type="subTitle" idx="3"/>
          </p:nvPr>
        </p:nvSpPr>
        <p:spPr>
          <a:xfrm>
            <a:off x="3717985" y="2695468"/>
            <a:ext cx="5197339" cy="1245300"/>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de-CH" b="1" noProof="0" dirty="0"/>
              <a:t>PK / AI: </a:t>
            </a:r>
            <a:r>
              <a:rPr lang="de-CH" noProof="0" dirty="0"/>
              <a:t>Primärschlüssel mit Auto-</a:t>
            </a:r>
            <a:r>
              <a:rPr lang="de-CH" noProof="0" dirty="0" err="1"/>
              <a:t>Increment</a:t>
            </a:r>
            <a:r>
              <a:rPr lang="de-CH" noProof="0" dirty="0"/>
              <a:t> für eindeutige IDs</a:t>
            </a:r>
          </a:p>
          <a:p>
            <a:pPr marL="171450" lvl="0" indent="-171450">
              <a:buFont typeface="Arial" panose="020B0604020202020204" pitchFamily="34" charset="0"/>
              <a:buChar char="•"/>
            </a:pPr>
            <a:r>
              <a:rPr lang="de-CH" b="1" noProof="0" dirty="0"/>
              <a:t>NN: </a:t>
            </a:r>
            <a:r>
              <a:rPr lang="de-CH" noProof="0" dirty="0"/>
              <a:t>Not Null für alle Pflichtfelder</a:t>
            </a:r>
            <a:endParaRPr lang="de-CH" b="1" noProof="0" dirty="0"/>
          </a:p>
          <a:p>
            <a:pPr marL="171450" lvl="0" indent="-171450">
              <a:buFont typeface="Arial" panose="020B0604020202020204" pitchFamily="34" charset="0"/>
              <a:buChar char="•"/>
            </a:pPr>
            <a:r>
              <a:rPr lang="de-CH" b="1" noProof="0" dirty="0"/>
              <a:t>UN: </a:t>
            </a:r>
            <a:r>
              <a:rPr lang="de-CH" noProof="0" dirty="0"/>
              <a:t>Unique für Eindeutigkeit für Felder wie </a:t>
            </a:r>
            <a:r>
              <a:rPr lang="de-CH" b="1" noProof="0" dirty="0" err="1"/>
              <a:t>username</a:t>
            </a:r>
            <a:r>
              <a:rPr lang="de-CH" i="1" noProof="0" dirty="0"/>
              <a:t> </a:t>
            </a:r>
            <a:r>
              <a:rPr lang="de-CH" noProof="0" dirty="0"/>
              <a:t>und </a:t>
            </a:r>
            <a:r>
              <a:rPr lang="de-CH" b="1" noProof="0" dirty="0" err="1"/>
              <a:t>label</a:t>
            </a:r>
            <a:endParaRPr lang="de-CH" b="1" noProof="0" dirty="0"/>
          </a:p>
        </p:txBody>
      </p:sp>
      <p:sp>
        <p:nvSpPr>
          <p:cNvPr id="239" name="Google Shape;239;p34">
            <a:extLst>
              <a:ext uri="{FF2B5EF4-FFF2-40B4-BE49-F238E27FC236}">
                <a16:creationId xmlns:a16="http://schemas.microsoft.com/office/drawing/2014/main" id="{699D65D7-A5D3-E08D-3FC8-39542960817B}"/>
              </a:ext>
            </a:extLst>
          </p:cNvPr>
          <p:cNvSpPr txBox="1">
            <a:spLocks noGrp="1"/>
          </p:cNvSpPr>
          <p:nvPr>
            <p:ph type="subTitle" idx="4"/>
          </p:nvPr>
        </p:nvSpPr>
        <p:spPr>
          <a:xfrm>
            <a:off x="3717915" y="2142868"/>
            <a:ext cx="5197339"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Technische </a:t>
            </a:r>
            <a:r>
              <a:rPr lang="de-CH" noProof="0" dirty="0" err="1"/>
              <a:t>Constrains</a:t>
            </a:r>
            <a:endParaRPr lang="de-CH" noProof="0" dirty="0"/>
          </a:p>
        </p:txBody>
      </p:sp>
    </p:spTree>
    <p:extLst>
      <p:ext uri="{BB962C8B-B14F-4D97-AF65-F5344CB8AC3E}">
        <p14:creationId xmlns:p14="http://schemas.microsoft.com/office/powerpoint/2010/main" val="374517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1A1A55F3-9634-78C0-D20D-6FF2591E3B78}"/>
            </a:ext>
          </a:extLst>
        </p:cNvPr>
        <p:cNvGrpSpPr/>
        <p:nvPr/>
      </p:nvGrpSpPr>
      <p:grpSpPr>
        <a:xfrm>
          <a:off x="0" y="0"/>
          <a:ext cx="0" cy="0"/>
          <a:chOff x="0" y="0"/>
          <a:chExt cx="0" cy="0"/>
        </a:xfrm>
      </p:grpSpPr>
      <p:sp>
        <p:nvSpPr>
          <p:cNvPr id="235" name="Google Shape;235;p34">
            <a:extLst>
              <a:ext uri="{FF2B5EF4-FFF2-40B4-BE49-F238E27FC236}">
                <a16:creationId xmlns:a16="http://schemas.microsoft.com/office/drawing/2014/main" id="{4DC19915-3A40-2816-2D1B-58B72B54A046}"/>
              </a:ext>
            </a:extLst>
          </p:cNvPr>
          <p:cNvSpPr txBox="1">
            <a:spLocks noGrp="1"/>
          </p:cNvSpPr>
          <p:nvPr>
            <p:ph type="title"/>
          </p:nvPr>
        </p:nvSpPr>
        <p:spPr>
          <a:xfrm>
            <a:off x="228749" y="228600"/>
            <a:ext cx="6637718" cy="1014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Preisberechnung </a:t>
            </a:r>
          </a:p>
        </p:txBody>
      </p:sp>
      <p:sp>
        <p:nvSpPr>
          <p:cNvPr id="237" name="Google Shape;237;p34">
            <a:extLst>
              <a:ext uri="{FF2B5EF4-FFF2-40B4-BE49-F238E27FC236}">
                <a16:creationId xmlns:a16="http://schemas.microsoft.com/office/drawing/2014/main" id="{5BBB2657-1312-2E40-8AB4-CE61ADF57D05}"/>
              </a:ext>
            </a:extLst>
          </p:cNvPr>
          <p:cNvSpPr txBox="1">
            <a:spLocks noGrp="1"/>
          </p:cNvSpPr>
          <p:nvPr>
            <p:ph type="subTitle" idx="1"/>
          </p:nvPr>
        </p:nvSpPr>
        <p:spPr>
          <a:xfrm>
            <a:off x="3718060" y="1881835"/>
            <a:ext cx="5197339" cy="8478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(Produktpreis * Menge) – Rabatt = Zahlungsbetrag</a:t>
            </a:r>
          </a:p>
        </p:txBody>
      </p:sp>
      <p:sp>
        <p:nvSpPr>
          <p:cNvPr id="236" name="Google Shape;236;p34">
            <a:extLst>
              <a:ext uri="{FF2B5EF4-FFF2-40B4-BE49-F238E27FC236}">
                <a16:creationId xmlns:a16="http://schemas.microsoft.com/office/drawing/2014/main" id="{AF047E78-A312-E588-C5C0-A58C68005708}"/>
              </a:ext>
            </a:extLst>
          </p:cNvPr>
          <p:cNvSpPr txBox="1">
            <a:spLocks noGrp="1"/>
          </p:cNvSpPr>
          <p:nvPr>
            <p:ph type="subTitle" idx="2"/>
          </p:nvPr>
        </p:nvSpPr>
        <p:spPr>
          <a:xfrm>
            <a:off x="3718013" y="1329235"/>
            <a:ext cx="5197339"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Berechnungspfad</a:t>
            </a:r>
          </a:p>
        </p:txBody>
      </p:sp>
      <p:sp>
        <p:nvSpPr>
          <p:cNvPr id="238" name="Google Shape;238;p34">
            <a:extLst>
              <a:ext uri="{FF2B5EF4-FFF2-40B4-BE49-F238E27FC236}">
                <a16:creationId xmlns:a16="http://schemas.microsoft.com/office/drawing/2014/main" id="{0B9076E9-D662-C441-3FC1-948ECFC7CE78}"/>
              </a:ext>
            </a:extLst>
          </p:cNvPr>
          <p:cNvSpPr txBox="1">
            <a:spLocks noGrp="1"/>
          </p:cNvSpPr>
          <p:nvPr>
            <p:ph type="subTitle" idx="3"/>
          </p:nvPr>
        </p:nvSpPr>
        <p:spPr>
          <a:xfrm>
            <a:off x="3717985" y="2695468"/>
            <a:ext cx="5197339" cy="1245300"/>
          </a:xfrm>
          <a:prstGeom prst="rect">
            <a:avLst/>
          </a:prstGeom>
        </p:spPr>
        <p:txBody>
          <a:bodyPr spcFirstLastPara="1" wrap="square" lIns="91425" tIns="91425" rIns="91425" bIns="91425" anchor="t" anchorCtr="0">
            <a:noAutofit/>
          </a:bodyPr>
          <a:lstStyle/>
          <a:p>
            <a:pPr marL="171450" lvl="0" indent="-171450">
              <a:buFont typeface="Arial" panose="020B0604020202020204" pitchFamily="34" charset="0"/>
              <a:buChar char="•"/>
            </a:pPr>
            <a:r>
              <a:rPr lang="de-CH" noProof="0" dirty="0"/>
              <a:t>Preis aus </a:t>
            </a:r>
            <a:r>
              <a:rPr lang="de-CH" b="1" noProof="0" dirty="0" err="1"/>
              <a:t>Product</a:t>
            </a:r>
            <a:r>
              <a:rPr lang="de-CH" noProof="0" dirty="0"/>
              <a:t>, Menge aus </a:t>
            </a:r>
            <a:r>
              <a:rPr lang="de-CH" b="1" noProof="0" dirty="0" err="1"/>
              <a:t>ProductOrder</a:t>
            </a:r>
            <a:endParaRPr lang="de-CH" noProof="0" dirty="0"/>
          </a:p>
          <a:p>
            <a:pPr marL="171450" lvl="0" indent="-171450">
              <a:buFont typeface="Arial" panose="020B0604020202020204" pitchFamily="34" charset="0"/>
              <a:buChar char="•"/>
            </a:pPr>
            <a:r>
              <a:rPr lang="de-CH" noProof="0" dirty="0"/>
              <a:t>Rabatt aus </a:t>
            </a:r>
            <a:r>
              <a:rPr lang="de-CH" b="1" noProof="0" dirty="0"/>
              <a:t>Order</a:t>
            </a:r>
            <a:endParaRPr lang="de-CH" noProof="0" dirty="0"/>
          </a:p>
          <a:p>
            <a:pPr marL="171450" lvl="0" indent="-171450">
              <a:buFont typeface="Arial" panose="020B0604020202020204" pitchFamily="34" charset="0"/>
              <a:buChar char="•"/>
            </a:pPr>
            <a:r>
              <a:rPr lang="de-CH" noProof="0" dirty="0"/>
              <a:t>Ergebnis wird im Feld </a:t>
            </a:r>
            <a:r>
              <a:rPr lang="de-CH" b="1" noProof="0" dirty="0" err="1"/>
              <a:t>amount_due</a:t>
            </a:r>
            <a:r>
              <a:rPr lang="de-CH" b="1" noProof="0" dirty="0"/>
              <a:t> (Payment) </a:t>
            </a:r>
            <a:r>
              <a:rPr lang="de-CH" noProof="0" dirty="0"/>
              <a:t>gespeichert</a:t>
            </a:r>
          </a:p>
        </p:txBody>
      </p:sp>
      <p:sp>
        <p:nvSpPr>
          <p:cNvPr id="239" name="Google Shape;239;p34">
            <a:extLst>
              <a:ext uri="{FF2B5EF4-FFF2-40B4-BE49-F238E27FC236}">
                <a16:creationId xmlns:a16="http://schemas.microsoft.com/office/drawing/2014/main" id="{8407CE23-C61E-E46D-B5C3-7221E7228F24}"/>
              </a:ext>
            </a:extLst>
          </p:cNvPr>
          <p:cNvSpPr txBox="1">
            <a:spLocks noGrp="1"/>
          </p:cNvSpPr>
          <p:nvPr>
            <p:ph type="subTitle" idx="4"/>
          </p:nvPr>
        </p:nvSpPr>
        <p:spPr>
          <a:xfrm>
            <a:off x="3717915" y="2142868"/>
            <a:ext cx="5197339" cy="62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Datenherkunft</a:t>
            </a:r>
          </a:p>
        </p:txBody>
      </p:sp>
    </p:spTree>
    <p:extLst>
      <p:ext uri="{BB962C8B-B14F-4D97-AF65-F5344CB8AC3E}">
        <p14:creationId xmlns:p14="http://schemas.microsoft.com/office/powerpoint/2010/main" val="298249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228450" y="3909000"/>
            <a:ext cx="8686950" cy="1005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de-CH" sz="4200" noProof="0" dirty="0"/>
              <a:t>Validierung durch Beispieldaten</a:t>
            </a:r>
          </a:p>
        </p:txBody>
      </p:sp>
      <p:sp>
        <p:nvSpPr>
          <p:cNvPr id="246" name="Google Shape;246;p35"/>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Verschiedene Methoden wie PayPal oder Kreditkarte</a:t>
            </a:r>
          </a:p>
        </p:txBody>
      </p:sp>
      <p:sp>
        <p:nvSpPr>
          <p:cNvPr id="245" name="Google Shape;245;p35"/>
          <p:cNvSpPr txBox="1">
            <a:spLocks noGrp="1"/>
          </p:cNvSpPr>
          <p:nvPr>
            <p:ph type="subTitle" idx="2"/>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Produkte wie </a:t>
            </a:r>
            <a:r>
              <a:rPr lang="de-CH" b="1" noProof="0" dirty="0"/>
              <a:t>Smartphone Plus</a:t>
            </a:r>
            <a:r>
              <a:rPr lang="de-CH" noProof="0" dirty="0"/>
              <a:t> oder </a:t>
            </a:r>
            <a:r>
              <a:rPr lang="de-CH" b="1" noProof="0" dirty="0"/>
              <a:t>Web Dev Course</a:t>
            </a:r>
            <a:endParaRPr lang="de-CH" noProof="0" dirty="0"/>
          </a:p>
        </p:txBody>
      </p:sp>
      <p:sp>
        <p:nvSpPr>
          <p:cNvPr id="247" name="Google Shape;247;p35"/>
          <p:cNvSpPr txBox="1">
            <a:spLocks noGrp="1"/>
          </p:cNvSpPr>
          <p:nvPr>
            <p:ph type="subTitle" idx="3"/>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noProof="0" dirty="0"/>
              <a:t>Robustes Modell für vollständigen Verkaufszyklus</a:t>
            </a:r>
          </a:p>
        </p:txBody>
      </p:sp>
      <p:sp>
        <p:nvSpPr>
          <p:cNvPr id="248" name="Google Shape;248;p35"/>
          <p:cNvSpPr txBox="1">
            <a:spLocks noGrp="1"/>
          </p:cNvSpPr>
          <p:nvPr>
            <p:ph type="title" idx="4"/>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CH" noProof="0" dirty="0"/>
              <a:t>02</a:t>
            </a:r>
          </a:p>
        </p:txBody>
      </p:sp>
      <p:sp>
        <p:nvSpPr>
          <p:cNvPr id="249" name="Google Shape;249;p35"/>
          <p:cNvSpPr txBox="1">
            <a:spLocks noGrp="1"/>
          </p:cNvSpPr>
          <p:nvPr>
            <p:ph type="title" idx="5"/>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CH" noProof="0" dirty="0"/>
              <a:t>01</a:t>
            </a:r>
          </a:p>
        </p:txBody>
      </p:sp>
      <p:sp>
        <p:nvSpPr>
          <p:cNvPr id="250" name="Google Shape;250;p35"/>
          <p:cNvSpPr txBox="1">
            <a:spLocks noGrp="1"/>
          </p:cNvSpPr>
          <p:nvPr>
            <p:ph type="title" idx="6"/>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CH" noProof="0" dirty="0"/>
              <a:t>03</a:t>
            </a:r>
          </a:p>
        </p:txBody>
      </p:sp>
      <p:sp>
        <p:nvSpPr>
          <p:cNvPr id="251" name="Google Shape;251;p35"/>
          <p:cNvSpPr txBox="1">
            <a:spLocks noGrp="1"/>
          </p:cNvSpPr>
          <p:nvPr>
            <p:ph type="subTitle" idx="7"/>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Zahlung</a:t>
            </a:r>
          </a:p>
        </p:txBody>
      </p:sp>
      <p:sp>
        <p:nvSpPr>
          <p:cNvPr id="252" name="Google Shape;252;p35"/>
          <p:cNvSpPr txBox="1">
            <a:spLocks noGrp="1"/>
          </p:cNvSpPr>
          <p:nvPr>
            <p:ph type="subTitle" idx="8"/>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Testdaten</a:t>
            </a:r>
          </a:p>
        </p:txBody>
      </p:sp>
      <p:sp>
        <p:nvSpPr>
          <p:cNvPr id="253" name="Google Shape;253;p35"/>
          <p:cNvSpPr txBox="1">
            <a:spLocks noGrp="1"/>
          </p:cNvSpPr>
          <p:nvPr>
            <p:ph type="subTitle" idx="9"/>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noProof="0" dirty="0"/>
              <a:t>Fazit</a:t>
            </a:r>
          </a:p>
        </p:txBody>
      </p:sp>
      <p:pic>
        <p:nvPicPr>
          <p:cNvPr id="3" name="Grafik 2">
            <a:extLst>
              <a:ext uri="{FF2B5EF4-FFF2-40B4-BE49-F238E27FC236}">
                <a16:creationId xmlns:a16="http://schemas.microsoft.com/office/drawing/2014/main" id="{A685BCFB-E049-3784-E19A-F0075656D0E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28450" y="2170113"/>
            <a:ext cx="2348063" cy="1305838"/>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E13CB246-DC5C-5501-29E8-25DECF934CB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993780" y="2166005"/>
            <a:ext cx="2921620" cy="1244540"/>
          </a:xfrm>
          <a:prstGeom prst="rect">
            <a:avLst/>
          </a:prstGeom>
        </p:spPr>
      </p:pic>
      <p:pic>
        <p:nvPicPr>
          <p:cNvPr id="9" name="Grafik 8" descr="Ein Bild, das Text, Screenshot, Schrift, Zahl enthält.&#10;&#10;KI-generierte Inhalte können fehlerhaft sein.">
            <a:extLst>
              <a:ext uri="{FF2B5EF4-FFF2-40B4-BE49-F238E27FC236}">
                <a16:creationId xmlns:a16="http://schemas.microsoft.com/office/drawing/2014/main" id="{DCAD3A0A-8202-EA24-D8FD-1EC18AE4678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4119" y="2166005"/>
            <a:ext cx="1889520" cy="9882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EDE3FEAA-04BD-FAA9-0699-D4D24DBB46B4}"/>
            </a:ext>
          </a:extLst>
        </p:cNvPr>
        <p:cNvGrpSpPr/>
        <p:nvPr/>
      </p:nvGrpSpPr>
      <p:grpSpPr>
        <a:xfrm>
          <a:off x="0" y="0"/>
          <a:ext cx="0" cy="0"/>
          <a:chOff x="0" y="0"/>
          <a:chExt cx="0" cy="0"/>
        </a:xfrm>
      </p:grpSpPr>
      <p:sp>
        <p:nvSpPr>
          <p:cNvPr id="121" name="Google Shape;121;p26">
            <a:extLst>
              <a:ext uri="{FF2B5EF4-FFF2-40B4-BE49-F238E27FC236}">
                <a16:creationId xmlns:a16="http://schemas.microsoft.com/office/drawing/2014/main" id="{735949E3-F1EE-0E4D-5F9B-2AD35C50E623}"/>
              </a:ext>
            </a:extLst>
          </p:cNvPr>
          <p:cNvSpPr txBox="1">
            <a:spLocks noGrp="1"/>
          </p:cNvSpPr>
          <p:nvPr>
            <p:ph type="ctrTitle"/>
          </p:nvPr>
        </p:nvSpPr>
        <p:spPr>
          <a:xfrm>
            <a:off x="228599" y="2854200"/>
            <a:ext cx="8269133" cy="206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sz="3000" b="0" noProof="0" dirty="0"/>
              <a:t> Vielen Dank für eure Aufmerksamkeit!</a:t>
            </a:r>
            <a:br>
              <a:rPr lang="de-CH" sz="3000" b="0" noProof="0"/>
            </a:br>
            <a:r>
              <a:rPr lang="de-CH" sz="10000" noProof="0"/>
              <a:t>Fragen</a:t>
            </a:r>
            <a:r>
              <a:rPr lang="de-CH" sz="10000" noProof="0" dirty="0"/>
              <a:t>?</a:t>
            </a:r>
          </a:p>
        </p:txBody>
      </p:sp>
      <p:sp>
        <p:nvSpPr>
          <p:cNvPr id="123" name="Google Shape;123;p26">
            <a:extLst>
              <a:ext uri="{FF2B5EF4-FFF2-40B4-BE49-F238E27FC236}">
                <a16:creationId xmlns:a16="http://schemas.microsoft.com/office/drawing/2014/main" id="{5D59A5E6-2333-E6D6-8C5C-4B922D4F2CCE}"/>
              </a:ext>
            </a:extLst>
          </p:cNvPr>
          <p:cNvSpPr txBox="1"/>
          <p:nvPr/>
        </p:nvSpPr>
        <p:spPr>
          <a:xfrm>
            <a:off x="5541950" y="228600"/>
            <a:ext cx="1741800" cy="338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de-CH" sz="1000" noProof="0" dirty="0">
                <a:solidFill>
                  <a:schemeClr val="dk1"/>
                </a:solidFill>
                <a:latin typeface="Heebo"/>
                <a:ea typeface="Heebo"/>
                <a:cs typeface="Heebo"/>
                <a:sym typeface="Heebo"/>
              </a:rPr>
              <a:t>Matteo Bosshard</a:t>
            </a:r>
          </a:p>
        </p:txBody>
      </p:sp>
      <p:sp>
        <p:nvSpPr>
          <p:cNvPr id="124" name="Google Shape;124;p26">
            <a:extLst>
              <a:ext uri="{FF2B5EF4-FFF2-40B4-BE49-F238E27FC236}">
                <a16:creationId xmlns:a16="http://schemas.microsoft.com/office/drawing/2014/main" id="{6460E021-9254-8761-66B1-F6B795B7D020}"/>
              </a:ext>
            </a:extLst>
          </p:cNvPr>
          <p:cNvSpPr txBox="1"/>
          <p:nvPr/>
        </p:nvSpPr>
        <p:spPr>
          <a:xfrm>
            <a:off x="7689003" y="228600"/>
            <a:ext cx="1226400" cy="3387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de-CH" sz="1000" noProof="0" dirty="0">
                <a:solidFill>
                  <a:schemeClr val="dk1"/>
                </a:solidFill>
                <a:latin typeface="Heebo"/>
                <a:ea typeface="Heebo"/>
                <a:cs typeface="Heebo"/>
                <a:sym typeface="Heebo"/>
              </a:rPr>
              <a:t>12.01.2026</a:t>
            </a:r>
          </a:p>
        </p:txBody>
      </p:sp>
    </p:spTree>
    <p:extLst>
      <p:ext uri="{BB962C8B-B14F-4D97-AF65-F5344CB8AC3E}">
        <p14:creationId xmlns:p14="http://schemas.microsoft.com/office/powerpoint/2010/main" val="4188025982"/>
      </p:ext>
    </p:extLst>
  </p:cSld>
  <p:clrMapOvr>
    <a:masterClrMapping/>
  </p:clrMapOvr>
</p:sld>
</file>

<file path=ppt/theme/theme1.xml><?xml version="1.0" encoding="utf-8"?>
<a:theme xmlns:a="http://schemas.openxmlformats.org/drawingml/2006/main" name="Project roadmaps by Slidesgo">
  <a:themeElements>
    <a:clrScheme name="Simple Light">
      <a:dk1>
        <a:srgbClr val="161616"/>
      </a:dk1>
      <a:lt1>
        <a:srgbClr val="F0F0F0"/>
      </a:lt1>
      <a:dk2>
        <a:srgbClr val="161616"/>
      </a:dk2>
      <a:lt2>
        <a:srgbClr val="C2C2C2"/>
      </a:lt2>
      <a:accent1>
        <a:srgbClr val="FFFFFF"/>
      </a:accent1>
      <a:accent2>
        <a:srgbClr val="FFFFFF"/>
      </a:accent2>
      <a:accent3>
        <a:srgbClr val="FFFFFF"/>
      </a:accent3>
      <a:accent4>
        <a:srgbClr val="FFFFFF"/>
      </a:accent4>
      <a:accent5>
        <a:srgbClr val="FFFFFF"/>
      </a:accent5>
      <a:accent6>
        <a:srgbClr val="FFFFFF"/>
      </a:accent6>
      <a:hlink>
        <a:srgbClr val="16161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556</Words>
  <Application>Microsoft Office PowerPoint</Application>
  <PresentationFormat>Bildschirmpräsentation (16:9)</PresentationFormat>
  <Paragraphs>50</Paragraphs>
  <Slides>7</Slides>
  <Notes>7</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vt:i4>
      </vt:variant>
    </vt:vector>
  </HeadingPairs>
  <TitlesOfParts>
    <vt:vector size="13" baseType="lpstr">
      <vt:lpstr>Heebo</vt:lpstr>
      <vt:lpstr>Bricolage Grotesque</vt:lpstr>
      <vt:lpstr>Arial</vt:lpstr>
      <vt:lpstr>Nunito Light</vt:lpstr>
      <vt:lpstr>Raleway</vt:lpstr>
      <vt:lpstr>Project roadmaps by Slidesgo</vt:lpstr>
      <vt:lpstr> Datenbank-Design E-Commerce</vt:lpstr>
      <vt:lpstr>Ausgangslage</vt:lpstr>
      <vt:lpstr>Das ERD</vt:lpstr>
      <vt:lpstr>Integrität &amp; Normalisierung</vt:lpstr>
      <vt:lpstr>Preisberechnung </vt:lpstr>
      <vt:lpstr>Validierung durch Beispieldaten</vt:lpstr>
      <vt:lpstr> Vielen Dank für eure Aufmerksamkeit! Fragen?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Matteo Bosshard</cp:lastModifiedBy>
  <cp:revision>23</cp:revision>
  <dcterms:modified xsi:type="dcterms:W3CDTF">2026-01-12T09:50:06Z</dcterms:modified>
</cp:coreProperties>
</file>