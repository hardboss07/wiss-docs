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344" autoAdjust="0"/>
  </p:normalViewPr>
  <p:slideViewPr>
    <p:cSldViewPr snapToGrid="0">
      <p:cViewPr>
        <p:scale>
          <a:sx n="66" d="100"/>
          <a:sy n="66" d="100"/>
        </p:scale>
        <p:origin x="2274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C90C43-11F8-408A-A78B-A8E53C959172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FE2AF8-8288-4650-8D30-16C04325C37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2030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Complexity is often seen as something positive.</a:t>
            </a:r>
            <a:br>
              <a:rPr lang="en-US" dirty="0"/>
            </a:br>
            <a:r>
              <a:rPr lang="en-US" dirty="0"/>
              <a:t>Many people assume that more features or more steps automatically mean higher quality.</a:t>
            </a:r>
            <a:br>
              <a:rPr lang="en-US" dirty="0"/>
            </a:br>
            <a:r>
              <a:rPr lang="en-US" dirty="0"/>
              <a:t>This presentation looks at why that assumption isn’t always true, and why simple solutions are often more effective in everyday situations.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18419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complex solution usually involves many parts working together.</a:t>
            </a:r>
            <a:br>
              <a:rPr lang="en-US" dirty="0"/>
            </a:br>
            <a:r>
              <a:rPr lang="en-US" dirty="0"/>
              <a:t>It often has more features, more steps, and more things that can go wrong.</a:t>
            </a:r>
            <a:br>
              <a:rPr lang="en-US" dirty="0"/>
            </a:br>
            <a:r>
              <a:rPr lang="en-US" dirty="0"/>
              <a:t>While complexity can be useful, it also increases the effort needed to understand and use a solution properly.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98147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Complex solutions are attractive for several reasons.</a:t>
            </a:r>
            <a:br>
              <a:rPr lang="en-US" dirty="0"/>
            </a:br>
            <a:r>
              <a:rPr lang="en-US" dirty="0"/>
              <a:t>They often look more professional and promise more possibilities.</a:t>
            </a:r>
            <a:br>
              <a:rPr lang="en-US" dirty="0"/>
            </a:br>
            <a:r>
              <a:rPr lang="en-US" dirty="0"/>
              <a:t>There is also a fear of missing features that might be needed later.</a:t>
            </a:r>
            <a:br>
              <a:rPr lang="en-US" dirty="0"/>
            </a:br>
            <a:r>
              <a:rPr lang="en-US" dirty="0"/>
              <a:t>Because of this, complexity can feel like a safer choice, even if it is not strictly necessary.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3105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that complexity comes with hidden costs.</a:t>
            </a:r>
            <a:br>
              <a:rPr lang="en-US" dirty="0"/>
            </a:br>
            <a:r>
              <a:rPr lang="en-US" dirty="0"/>
              <a:t>It takes longer to learn, errors are more likely, and fixing problems becomes harder.</a:t>
            </a:r>
            <a:br>
              <a:rPr lang="en-US" dirty="0"/>
            </a:br>
            <a:r>
              <a:rPr lang="en-US" dirty="0"/>
              <a:t>Over time, this can lead to wasted time and frustration, especially when the added features are rarely used.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729205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solutions focus on what is actually needed.</a:t>
            </a:r>
            <a:br>
              <a:rPr lang="en-US" dirty="0"/>
            </a:br>
            <a:r>
              <a:rPr lang="en-US" dirty="0"/>
              <a:t>They are easier to learn, faster to use, and usually more reliable.</a:t>
            </a:r>
            <a:br>
              <a:rPr lang="en-US" dirty="0"/>
            </a:br>
            <a:r>
              <a:rPr lang="en-US" dirty="0"/>
              <a:t>For tasks that are repeated often or need to work consistently, simplicity can be a major advantage..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46208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does not mean that simplicity is always the best option.</a:t>
            </a:r>
            <a:br>
              <a:rPr lang="en-US" dirty="0"/>
            </a:br>
            <a:r>
              <a:rPr lang="en-US" dirty="0"/>
              <a:t>In large systems with many users or special requirements, complexity may be unavoidable.</a:t>
            </a:r>
            <a:br>
              <a:rPr lang="en-US" dirty="0"/>
            </a:br>
            <a:r>
              <a:rPr lang="en-US" dirty="0"/>
              <a:t>In these cases, added structure and features can help manage scale and long-term growth.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95405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Choosing between a simple or complex solution depends on the situation.</a:t>
            </a:r>
            <a:br>
              <a:rPr lang="en-US" dirty="0"/>
            </a:br>
            <a:r>
              <a:rPr lang="en-US" dirty="0"/>
              <a:t>Important factors include actual requirements, how often the solution is used, and how costly failures would be.</a:t>
            </a:r>
            <a:br>
              <a:rPr lang="en-US" dirty="0"/>
            </a:br>
            <a:r>
              <a:rPr lang="en-US" dirty="0"/>
              <a:t>Thinking about maintenance and long-term effort also helps avoid unnecessary complexity.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34779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show you what I mean by 'simple works better,' look at these two images. On the left is the complex Microsoft Task Manager. On the right is a custom </a:t>
            </a:r>
            <a:r>
              <a:rPr lang="en-US" b="0" dirty="0"/>
              <a:t>Resource Monitor </a:t>
            </a:r>
            <a:r>
              <a:rPr lang="en-US" dirty="0"/>
              <a:t>I wrote from scratch. By stripping away the clutter and focusing only on the metrics I actually use, I created a tool that is faster and easier for me to read.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8311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end, complexity does not automatically mean quality, and simplicity is not a weakness.</a:t>
            </a:r>
            <a:br>
              <a:rPr lang="en-US" dirty="0"/>
            </a:br>
            <a:r>
              <a:rPr lang="en-US" dirty="0"/>
              <a:t>The best solution is the one that fits the problem, not the one with the most features.</a:t>
            </a:r>
            <a:br>
              <a:rPr lang="en-US" dirty="0"/>
            </a:br>
            <a:r>
              <a:rPr lang="en-US" dirty="0"/>
              <a:t>Understanding this can lead to better decisions in many areas, not just technical ones.</a:t>
            </a:r>
          </a:p>
          <a:p>
            <a:endParaRPr lang="en-US" dirty="0"/>
          </a:p>
          <a:p>
            <a:r>
              <a:rPr lang="en-US" dirty="0"/>
              <a:t>Thank you for your attentions, are there any questions?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FE2AF8-8288-4650-8D30-16C04325C37B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41035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BAED8C-1F9A-1F21-ECF1-0E1E786636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1A85C9A-D302-EEEC-57D4-4B31FF54B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612075-4F8C-0EDB-4805-CDACA13F7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54A21A-3292-3E8B-D3C1-34DA6478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7F88C6-A941-5724-A591-464580C56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91120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629698-8311-259E-E57E-E8AAF4844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F68BF1-F91A-91E3-702B-96AA04519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455FF4-5034-014E-C811-BAD609DB9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6AAD6A-60E5-6682-F78F-FB8D39DF1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1B2274-41A9-A7E3-39A0-542560EF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84472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251B8-CB3B-8630-ED8D-933667C9A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3D5AEA9-79B2-B552-4271-6ABCBAAB9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2C2C46-0B06-CE51-3935-07287DA02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9D2C89-4A86-96AC-D44F-15148B250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707E3D-C59B-6763-8ED4-8C66C85B6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77313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79186D-A320-5A77-79EC-C4D10E1E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67DE8C-E92B-08EF-9551-D241FC2711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794081-7F78-6C53-653F-AAF0A0B09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CCED09-4C9C-37DA-3AD0-7AAE50E7E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069F121-EAE2-2E8A-1ECF-D0AD872AD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2F1800-4213-E084-6BC4-D53E925E9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7841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C38FA0-614B-5AD8-08DC-A11DBD472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71CB05-AB44-7E19-59BC-7E57F1D7E4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5E603D-524A-1037-C8FA-9EF249FCD6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082D28E-C140-D95D-50D2-8ECE81545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0F9A04A-4754-176E-77B4-EDFE3CBDF4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8A0C81D-A4DB-2723-D844-440BCAF29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626A7F9-4CDE-E44A-2419-DBD4301F1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46041B2-926E-060C-6DE4-00050F4B7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9741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0CE59D-7BF9-5460-B771-A30A3BF74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D6DD493-E928-8CE4-226F-2FBB3646D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1CB1EBA-271A-E1BC-6BAD-B4683B49D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858BD2-4669-07DB-2B60-5574A8795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10089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A254BC7-22E9-9F00-BBEE-99129A1C2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3DC98A4-2428-FB4C-6F18-FAD825C9E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70F258-2A9E-006C-A753-915DB5696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4994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4F113A-2F55-B3F9-9FDA-E69B45558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64164-6E36-259A-650D-92363CCD1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C292AF-DFAE-8385-54FD-8BB6EC51C8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AD0E740-5389-2800-D869-C840364C2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24A3B37-E5CB-6C5B-1AC1-0AD3A4C13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1CDFD05-062E-C60E-063A-44B3FBF7F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60422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87156A-690F-1FA3-D939-3BE6640AB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6A9C7CE-45AD-C0AD-2F81-A69D6C56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6220CFE-4635-E8D8-00B9-1D4B51B8AC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6350FE6-A87E-6F54-C862-5F31DE9CA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EB2C42-A482-C459-D620-FBDA6B48E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58898B9-CA54-4E70-7BE2-E09333467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33027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DB7B17-3EF4-5B15-BC4F-F77606B98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A4D5CE6-5583-9ED2-FBD6-9363C628E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CEC1A6-7457-D938-64FC-BA7B08722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1F8D8E-6DA6-F3BD-E051-52D2BBB78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7631EA-E644-3AFC-B1DD-34E94D9D1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08066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707AF0E-1CB3-F82E-CE24-7CADD31D58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0A8EBA3-7F1B-49BF-18B6-BDEC1C91B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D4DAEF5-B74F-DE38-DEE9-3C7E54E9B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8A4036-FCD8-B869-4F3C-9698AB8A4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5FD205-AE56-475F-3206-97C7DAFA6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2574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B8CD34B-A6B3-527E-43F8-E05F7E280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94A570-2B70-07ED-5531-DFA9DC080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53FF6F-B754-7484-F90C-1F61297DB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6902A-69A9-4416-B7AD-A55EEE13B60C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1C3250-CED1-F1B0-4ADB-8BE05BCC03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BDB7B4-348C-7CB5-6FD3-8BED4C6064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56A405-0E83-4146-89EB-974CF39EB0E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07529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accent3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C8D7CA-BACB-52C3-DDB9-82DBF09C5D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1400" y="965580"/>
            <a:ext cx="5204489" cy="3160593"/>
          </a:xfrm>
        </p:spPr>
        <p:txBody>
          <a:bodyPr>
            <a:normAutofit/>
          </a:bodyPr>
          <a:lstStyle/>
          <a:p>
            <a:r>
              <a:rPr lang="en-US" sz="5000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Why Simple Solutions Often Work Better Than Complex Ones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17482B6-5D2C-1C05-AF4A-E67E93167E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20817" y="4409960"/>
            <a:ext cx="4508641" cy="1116414"/>
          </a:xfrm>
        </p:spPr>
        <p:txBody>
          <a:bodyPr>
            <a:normAutofit/>
          </a:bodyPr>
          <a:lstStyle/>
          <a:p>
            <a:endParaRPr lang="en-US" sz="1700" noProof="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r>
              <a:rPr lang="en-US" sz="1700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Matteo Bosshard</a:t>
            </a:r>
          </a:p>
          <a:p>
            <a:r>
              <a:rPr lang="en-US" sz="1700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09.01.2026</a:t>
            </a:r>
          </a:p>
        </p:txBody>
      </p:sp>
      <p:sp>
        <p:nvSpPr>
          <p:cNvPr id="25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>
              <a:solidFill>
                <a:schemeClr val="lt1"/>
              </a:solidFill>
            </a:endParaRPr>
          </a:p>
        </p:txBody>
      </p:sp>
      <p:sp>
        <p:nvSpPr>
          <p:cNvPr id="27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>
              <a:solidFill>
                <a:schemeClr val="lt1"/>
              </a:solidFill>
            </a:endParaRPr>
          </a:p>
        </p:txBody>
      </p:sp>
      <p:grpSp>
        <p:nvGrpSpPr>
          <p:cNvPr id="29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7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788335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Rectangle 37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5" name="Grafik 4" descr="Puzzleteile mit einfarbiger Füllung">
            <a:extLst>
              <a:ext uri="{FF2B5EF4-FFF2-40B4-BE49-F238E27FC236}">
                <a16:creationId xmlns:a16="http://schemas.microsoft.com/office/drawing/2014/main" id="{25402BF3-45CA-231B-5B92-E5162CC239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34992" y="3067823"/>
            <a:ext cx="3217333" cy="3217333"/>
          </a:xfrm>
          <a:prstGeom prst="rect">
            <a:avLst/>
          </a:prstGeom>
        </p:spPr>
      </p:pic>
      <p:grpSp>
        <p:nvGrpSpPr>
          <p:cNvPr id="380" name="Group 379">
            <a:extLst>
              <a:ext uri="{FF2B5EF4-FFF2-40B4-BE49-F238E27FC236}">
                <a16:creationId xmlns:a16="http://schemas.microsoft.com/office/drawing/2014/main" id="{134CC3FF-7AA4-46F4-8B24-2F9383D86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275E42E8-8B96-4FF0-9DCC-7E2084C0FD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78FEA8A4-ED0E-429C-884B-1599153B8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84" name="Rectangle 383">
            <a:extLst>
              <a:ext uri="{FF2B5EF4-FFF2-40B4-BE49-F238E27FC236}">
                <a16:creationId xmlns:a16="http://schemas.microsoft.com/office/drawing/2014/main" id="{CAEBFCD5-5356-4326-8D39-8235A46CD7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4EC67B-166E-0CFD-48EB-2F86E743E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584" y="859808"/>
            <a:ext cx="3543197" cy="2878986"/>
          </a:xfrm>
        </p:spPr>
        <p:txBody>
          <a:bodyPr>
            <a:normAutofit/>
          </a:bodyPr>
          <a:lstStyle/>
          <a:p>
            <a:pPr algn="ctr"/>
            <a:r>
              <a:rPr lang="en-US" sz="3700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Understanding Complexity</a:t>
            </a:r>
          </a:p>
        </p:txBody>
      </p:sp>
      <p:grpSp>
        <p:nvGrpSpPr>
          <p:cNvPr id="386" name="Graphic 4">
            <a:extLst>
              <a:ext uri="{FF2B5EF4-FFF2-40B4-BE49-F238E27FC236}">
                <a16:creationId xmlns:a16="http://schemas.microsoft.com/office/drawing/2014/main" id="{5F2AA49C-5AC0-41C7-BFAF-74B8D8293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88A750A0-64B5-41B2-B525-A914EB40B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F8216C77-85C1-4BDC-87A8-7E7593320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471AED48-754E-41AC-9ECC-DB25976447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48005417-D297-404F-82A5-8C4393E85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17F942D6-2D0C-4894-81F0-6F81714BA4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4FAD802E-9670-4B80-876B-3FF64D29A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838AF437-0BFB-40E4-ADA0-5749919AA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F8BC9C3D-CBBE-4D29-9DAC-98B3CAF39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A7016629-22ED-494E-9205-594895DA9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BFF3CC1E-0ED4-4599-9B4E-F057769B96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065A4B3A-F9A7-4FA6-A7F3-EA08E0BA1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783B6A14-A56D-4B95-8395-89CF53A09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9F0868B-B193-43B6-BB1E-1FF72993E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grpSp>
        <p:nvGrpSpPr>
          <p:cNvPr id="401" name="Graphic 4">
            <a:extLst>
              <a:ext uri="{FF2B5EF4-FFF2-40B4-BE49-F238E27FC236}">
                <a16:creationId xmlns:a16="http://schemas.microsoft.com/office/drawing/2014/main" id="{BB32367D-C4F2-49D5-A586-298C7CA82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E1FF7EE7-ACA2-4BFF-BA75-7FAE93FBB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8647462E-B5E8-4F02-A1E4-BD0380A22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412CE109-6153-414A-B2D6-C4F9C6FA2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DAF530F5-D68D-4BC8-8984-F1A8B5DEB6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2EB69747-F9DD-4B80-B488-D5565D0BC6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73AFB787-B8A4-4269-9DA9-FF4A6603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6E682D93-25A6-4D91-9A81-3F247BBEE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D5F48B5-53B4-4DA8-B929-6AFF506589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8CA195A3-2A74-4D13-A1B8-24765E26B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B98F1918-C39D-4713-AB21-685A94435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33592273-DEE6-42E1-B824-11D5443323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12D6F82B-B619-4D8B-85AE-0E57103BA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6246C574-90D4-412B-9444-203F7C83CD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A04693-EBA6-233E-F069-751840058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270" y="685805"/>
            <a:ext cx="4974771" cy="5534019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Simple vs complex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Common assumptions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Everyday decisions</a:t>
            </a:r>
          </a:p>
        </p:txBody>
      </p:sp>
    </p:spTree>
    <p:extLst>
      <p:ext uri="{BB962C8B-B14F-4D97-AF65-F5344CB8AC3E}">
        <p14:creationId xmlns:p14="http://schemas.microsoft.com/office/powerpoint/2010/main" val="418727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D44A331-F802-10B8-1317-F35DE85C5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6784" y="396117"/>
            <a:ext cx="5217172" cy="1158857"/>
          </a:xfrm>
        </p:spPr>
        <p:txBody>
          <a:bodyPr anchor="b">
            <a:normAutofit/>
          </a:bodyPr>
          <a:lstStyle/>
          <a:p>
            <a:r>
              <a:rPr lang="en-US" sz="3700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The Appeal of Complex Solutions</a:t>
            </a:r>
          </a:p>
        </p:txBody>
      </p:sp>
      <p:grpSp>
        <p:nvGrpSpPr>
          <p:cNvPr id="21" name="Graphic 38">
            <a:extLst>
              <a:ext uri="{FF2B5EF4-FFF2-40B4-BE49-F238E27FC236}">
                <a16:creationId xmlns:a16="http://schemas.microsoft.com/office/drawing/2014/main" id="{9742E72B-7FDB-4BC3-84CE-9A86756476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6583" y="975545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E41CB4E-1ACC-413B-9806-FF276C0F0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9B54E44-06C0-461C-A803-0F535321AD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09645E15-CD1B-4EAA-B2F2-D41E53CA4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59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C571069-A359-469A-98CD-9458DBAA0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59" y="4752208"/>
            <a:ext cx="365021" cy="36502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pic>
        <p:nvPicPr>
          <p:cNvPr id="5" name="Grafik 4" descr="Sterne mit einfarbiger Füllung">
            <a:extLst>
              <a:ext uri="{FF2B5EF4-FFF2-40B4-BE49-F238E27FC236}">
                <a16:creationId xmlns:a16="http://schemas.microsoft.com/office/drawing/2014/main" id="{4DDD6870-09D7-C6EC-5D6F-5EF08E9094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5148" y="1820334"/>
            <a:ext cx="3217333" cy="3217333"/>
          </a:xfrm>
          <a:prstGeom prst="rect">
            <a:avLst/>
          </a:prstGeom>
        </p:spPr>
      </p:pic>
      <p:grpSp>
        <p:nvGrpSpPr>
          <p:cNvPr id="29" name="Graphic 4">
            <a:extLst>
              <a:ext uri="{FF2B5EF4-FFF2-40B4-BE49-F238E27FC236}">
                <a16:creationId xmlns:a16="http://schemas.microsoft.com/office/drawing/2014/main" id="{A61BDD87-32CE-4DE2-AAE1-62C2F4793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4903343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F0F3645-6645-44FD-A4C7-06D41C0991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5458736-D4A2-40D4-9420-C40AEB2AB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68FA6A4-209B-443A-9CF2-FFDC90EC3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EB0A6C9-E0F4-403E-8FB7-5FF4F1F646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DA5950E-75DA-4E34-99EB-8982548700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F609E6F-709D-42D6-8E54-91E37E2B1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C4707FB-9E68-4EBA-A4E0-4516F15061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799771A-5CA8-4CCE-B4F5-FE8C20379A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461D636C-9A38-466B-BD92-39795F493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99F3BD6-49A2-4D64-A3C0-8EFCEF9D9D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ABC753B-C028-4FCD-9D53-2BDBB2644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A8F316F-3B46-4F37-AB8C-E69368303B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636F8A8-BD35-4E0B-901B-1589A0534D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91E356-84EB-F838-43AE-958457CFA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783" y="1747592"/>
            <a:ext cx="5217173" cy="4351338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Professional appearance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More options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Fear of missing features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Marketing influence</a:t>
            </a:r>
          </a:p>
        </p:txBody>
      </p:sp>
    </p:spTree>
    <p:extLst>
      <p:ext uri="{BB962C8B-B14F-4D97-AF65-F5344CB8AC3E}">
        <p14:creationId xmlns:p14="http://schemas.microsoft.com/office/powerpoint/2010/main" val="1293709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81BCBCF-3963-E2C4-38C0-762E9FE88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8361" y="484348"/>
            <a:ext cx="5217172" cy="1158857"/>
          </a:xfrm>
        </p:spPr>
        <p:txBody>
          <a:bodyPr anchor="b"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Hidden Costs</a:t>
            </a:r>
          </a:p>
        </p:txBody>
      </p:sp>
      <p:grpSp>
        <p:nvGrpSpPr>
          <p:cNvPr id="21" name="Graphic 38">
            <a:extLst>
              <a:ext uri="{FF2B5EF4-FFF2-40B4-BE49-F238E27FC236}">
                <a16:creationId xmlns:a16="http://schemas.microsoft.com/office/drawing/2014/main" id="{9742E72B-7FDB-4BC3-84CE-9A86756476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6583" y="975545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E41CB4E-1ACC-413B-9806-FF276C0F0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9B54E44-06C0-461C-A803-0F535321AD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09645E15-CD1B-4EAA-B2F2-D41E53CA4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59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C571069-A359-469A-98CD-9458DBAA0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59" y="4752208"/>
            <a:ext cx="365021" cy="36502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pic>
        <p:nvPicPr>
          <p:cNvPr id="5" name="Grafik 4" descr="Warnung mit einfarbiger Füllung">
            <a:extLst>
              <a:ext uri="{FF2B5EF4-FFF2-40B4-BE49-F238E27FC236}">
                <a16:creationId xmlns:a16="http://schemas.microsoft.com/office/drawing/2014/main" id="{9EDE878E-6686-9A5A-2F7A-1229777A32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70037" y="1534875"/>
            <a:ext cx="3217333" cy="3217333"/>
          </a:xfrm>
          <a:prstGeom prst="rect">
            <a:avLst/>
          </a:prstGeom>
        </p:spPr>
      </p:pic>
      <p:grpSp>
        <p:nvGrpSpPr>
          <p:cNvPr id="29" name="Graphic 4">
            <a:extLst>
              <a:ext uri="{FF2B5EF4-FFF2-40B4-BE49-F238E27FC236}">
                <a16:creationId xmlns:a16="http://schemas.microsoft.com/office/drawing/2014/main" id="{A61BDD87-32CE-4DE2-AAE1-62C2F4793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4903343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F0F3645-6645-44FD-A4C7-06D41C0991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5458736-D4A2-40D4-9420-C40AEB2AB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68FA6A4-209B-443A-9CF2-FFDC90EC3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EB0A6C9-E0F4-403E-8FB7-5FF4F1F646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DA5950E-75DA-4E34-99EB-8982548700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F609E6F-709D-42D6-8E54-91E37E2B1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C4707FB-9E68-4EBA-A4E0-4516F15061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799771A-5CA8-4CCE-B4F5-FE8C20379A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461D636C-9A38-466B-BD92-39795F493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99F3BD6-49A2-4D64-A3C0-8EFCEF9D9D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ABC753B-C028-4FCD-9D53-2BDBB2644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A8F316F-3B46-4F37-AB8C-E69368303B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636F8A8-BD35-4E0B-901B-1589A0534D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F55918-F190-B889-D878-231F5528C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8360" y="1835823"/>
            <a:ext cx="5217173" cy="4351338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Steep learning curve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Higher error risk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Difficult maintenance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Time consumption </a:t>
            </a:r>
          </a:p>
        </p:txBody>
      </p:sp>
    </p:spTree>
    <p:extLst>
      <p:ext uri="{BB962C8B-B14F-4D97-AF65-F5344CB8AC3E}">
        <p14:creationId xmlns:p14="http://schemas.microsoft.com/office/powerpoint/2010/main" val="1834138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206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5" name="Grafik 4" descr="Abzeichen Tick1 mit einfarbiger Füllung">
            <a:extLst>
              <a:ext uri="{FF2B5EF4-FFF2-40B4-BE49-F238E27FC236}">
                <a16:creationId xmlns:a16="http://schemas.microsoft.com/office/drawing/2014/main" id="{E248140D-811B-9817-2558-4372048917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0383" y="3104705"/>
            <a:ext cx="3217333" cy="3217333"/>
          </a:xfrm>
          <a:prstGeom prst="rect">
            <a:avLst/>
          </a:prstGeom>
        </p:spPr>
      </p:pic>
      <p:grpSp>
        <p:nvGrpSpPr>
          <p:cNvPr id="209" name="Group 208">
            <a:extLst>
              <a:ext uri="{FF2B5EF4-FFF2-40B4-BE49-F238E27FC236}">
                <a16:creationId xmlns:a16="http://schemas.microsoft.com/office/drawing/2014/main" id="{134CC3FF-7AA4-46F4-8B24-2F9383D86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275E42E8-8B96-4FF0-9DCC-7E2084C0FD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78FEA8A4-ED0E-429C-884B-1599153B8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AEBFCD5-5356-4326-8D39-8235A46CD7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5092E2-145F-5019-F8C0-28E45448D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584" y="859808"/>
            <a:ext cx="3543197" cy="2878986"/>
          </a:xfrm>
        </p:spPr>
        <p:txBody>
          <a:bodyPr>
            <a:normAutofit/>
          </a:bodyPr>
          <a:lstStyle/>
          <a:p>
            <a:pPr algn="ctr"/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Strengths of Simple Solutions</a:t>
            </a:r>
          </a:p>
        </p:txBody>
      </p:sp>
      <p:grpSp>
        <p:nvGrpSpPr>
          <p:cNvPr id="215" name="Graphic 4">
            <a:extLst>
              <a:ext uri="{FF2B5EF4-FFF2-40B4-BE49-F238E27FC236}">
                <a16:creationId xmlns:a16="http://schemas.microsoft.com/office/drawing/2014/main" id="{5F2AA49C-5AC0-41C7-BFAF-74B8D8293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88A750A0-64B5-41B2-B525-A914EB40B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F8216C77-85C1-4BDC-87A8-7E7593320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471AED48-754E-41AC-9ECC-DB25976447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48005417-D297-404F-82A5-8C4393E85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17F942D6-2D0C-4894-81F0-6F81714BA4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4FAD802E-9670-4B80-876B-3FF64D29A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838AF437-0BFB-40E4-ADA0-5749919AA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F8BC9C3D-CBBE-4D29-9DAC-98B3CAF39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A7016629-22ED-494E-9205-594895DA9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BFF3CC1E-0ED4-4599-9B4E-F057769B96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065A4B3A-F9A7-4FA6-A7F3-EA08E0BA1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783B6A14-A56D-4B95-8395-89CF53A09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49F0868B-B193-43B6-BB1E-1FF72993E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grpSp>
        <p:nvGrpSpPr>
          <p:cNvPr id="230" name="Graphic 4">
            <a:extLst>
              <a:ext uri="{FF2B5EF4-FFF2-40B4-BE49-F238E27FC236}">
                <a16:creationId xmlns:a16="http://schemas.microsoft.com/office/drawing/2014/main" id="{BB32367D-C4F2-49D5-A586-298C7CA82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E1FF7EE7-ACA2-4BFF-BA75-7FAE93FBB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8647462E-B5E8-4F02-A1E4-BD0380A22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412CE109-6153-414A-B2D6-C4F9C6FA2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AF530F5-D68D-4BC8-8984-F1A8B5DEB6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2EB69747-F9DD-4B80-B488-D5565D0BC6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73AFB787-B8A4-4269-9DA9-FF4A6603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E682D93-25A6-4D91-9A81-3F247BBEE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9D5F48B5-53B4-4DA8-B929-6AFF506589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8CA195A3-2A74-4D13-A1B8-24765E26B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B98F1918-C39D-4713-AB21-685A94435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33592273-DEE6-42E1-B824-11D5443323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12D6F82B-B619-4D8B-85AE-0E57103BA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6246C574-90D4-412B-9444-203F7C83CD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5CF6D8-6900-9896-CA5B-BB5AD9534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270" y="685805"/>
            <a:ext cx="4974771" cy="5534019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Clear goals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Frequent use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Fast learning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High reliability</a:t>
            </a:r>
          </a:p>
        </p:txBody>
      </p:sp>
    </p:spTree>
    <p:extLst>
      <p:ext uri="{BB962C8B-B14F-4D97-AF65-F5344CB8AC3E}">
        <p14:creationId xmlns:p14="http://schemas.microsoft.com/office/powerpoint/2010/main" val="3722858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E009106-621E-DCCB-04AB-0E31EB62D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521" y="396117"/>
            <a:ext cx="5217172" cy="1158857"/>
          </a:xfrm>
        </p:spPr>
        <p:txBody>
          <a:bodyPr anchor="b">
            <a:normAutofit/>
          </a:bodyPr>
          <a:lstStyle/>
          <a:p>
            <a:r>
              <a:rPr lang="en-US" sz="3700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When Simple Is Not Enough</a:t>
            </a:r>
          </a:p>
        </p:txBody>
      </p:sp>
      <p:sp>
        <p:nvSpPr>
          <p:cNvPr id="21" name="Graphic 212">
            <a:extLst>
              <a:ext uri="{FF2B5EF4-FFF2-40B4-BE49-F238E27FC236}">
                <a16:creationId xmlns:a16="http://schemas.microsoft.com/office/drawing/2014/main" id="{52D7FCC1-2D52-49CE-A986-EE6E0CA64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91258" y="619275"/>
            <a:ext cx="932200" cy="932200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>
              <a:solidFill>
                <a:schemeClr val="lt1"/>
              </a:solidFill>
            </a:endParaRPr>
          </a:p>
        </p:txBody>
      </p:sp>
      <p:sp>
        <p:nvSpPr>
          <p:cNvPr id="23" name="Graphic 212">
            <a:extLst>
              <a:ext uri="{FF2B5EF4-FFF2-40B4-BE49-F238E27FC236}">
                <a16:creationId xmlns:a16="http://schemas.microsoft.com/office/drawing/2014/main" id="{28C3CACD-E5A7-4AAC-AE47-75CF7D30F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91258" y="619275"/>
            <a:ext cx="932200" cy="932200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>
              <a:solidFill>
                <a:schemeClr val="lt1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47482-D92F-07CE-34B9-F388C56B2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6520" y="1747592"/>
            <a:ext cx="5217173" cy="4351338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Large Systems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Special requirements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Many users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Long-term scaling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35C15A-135A-4FD3-BA11-A046CFA39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491531" y="1226111"/>
            <a:ext cx="1598829" cy="531293"/>
            <a:chOff x="6491531" y="1420258"/>
            <a:chExt cx="1598829" cy="531293"/>
          </a:xfrm>
          <a:solidFill>
            <a:schemeClr val="bg1"/>
          </a:solidFill>
        </p:grpSpPr>
        <p:grpSp>
          <p:nvGrpSpPr>
            <p:cNvPr id="26" name="Graphic 190">
              <a:extLst>
                <a:ext uri="{FF2B5EF4-FFF2-40B4-BE49-F238E27FC236}">
                  <a16:creationId xmlns:a16="http://schemas.microsoft.com/office/drawing/2014/main" id="{61E65A99-85A2-448D-AA1F-7690BD01A7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491531" y="1420258"/>
              <a:ext cx="1598829" cy="531293"/>
              <a:chOff x="2504802" y="1755501"/>
              <a:chExt cx="1598829" cy="531293"/>
            </a:xfrm>
            <a:grp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27EC05-3250-408F-8F9F-A73F8B9B1D7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2113855"/>
                <a:ext cx="1598614" cy="172939"/>
              </a:xfrm>
              <a:custGeom>
                <a:avLst/>
                <a:gdLst>
                  <a:gd name="connsiteX0" fmla="*/ 1248648 w 1598614"/>
                  <a:gd name="connsiteY0" fmla="*/ 172939 h 172939"/>
                  <a:gd name="connsiteX1" fmla="*/ 1123031 w 1598614"/>
                  <a:gd name="connsiteY1" fmla="*/ 92708 h 172939"/>
                  <a:gd name="connsiteX2" fmla="*/ 1024085 w 1598614"/>
                  <a:gd name="connsiteY2" fmla="*/ 29469 h 172939"/>
                  <a:gd name="connsiteX3" fmla="*/ 925140 w 1598614"/>
                  <a:gd name="connsiteY3" fmla="*/ 92708 h 172939"/>
                  <a:gd name="connsiteX4" fmla="*/ 799522 w 1598614"/>
                  <a:gd name="connsiteY4" fmla="*/ 172939 h 172939"/>
                  <a:gd name="connsiteX5" fmla="*/ 799522 w 1598614"/>
                  <a:gd name="connsiteY5" fmla="*/ 172939 h 172939"/>
                  <a:gd name="connsiteX6" fmla="*/ 673905 w 1598614"/>
                  <a:gd name="connsiteY6" fmla="*/ 92708 h 172939"/>
                  <a:gd name="connsiteX7" fmla="*/ 574959 w 1598614"/>
                  <a:gd name="connsiteY7" fmla="*/ 29469 h 172939"/>
                  <a:gd name="connsiteX8" fmla="*/ 476014 w 1598614"/>
                  <a:gd name="connsiteY8" fmla="*/ 92708 h 172939"/>
                  <a:gd name="connsiteX9" fmla="*/ 350396 w 1598614"/>
                  <a:gd name="connsiteY9" fmla="*/ 172939 h 172939"/>
                  <a:gd name="connsiteX10" fmla="*/ 224778 w 1598614"/>
                  <a:gd name="connsiteY10" fmla="*/ 92708 h 172939"/>
                  <a:gd name="connsiteX11" fmla="*/ 125833 w 1598614"/>
                  <a:gd name="connsiteY11" fmla="*/ 29469 h 172939"/>
                  <a:gd name="connsiteX12" fmla="*/ 26887 w 1598614"/>
                  <a:gd name="connsiteY12" fmla="*/ 92708 h 172939"/>
                  <a:gd name="connsiteX13" fmla="*/ 0 w 1598614"/>
                  <a:gd name="connsiteY13" fmla="*/ 80232 h 172939"/>
                  <a:gd name="connsiteX14" fmla="*/ 125618 w 1598614"/>
                  <a:gd name="connsiteY14" fmla="*/ 0 h 172939"/>
                  <a:gd name="connsiteX15" fmla="*/ 251235 w 1598614"/>
                  <a:gd name="connsiteY15" fmla="*/ 80232 h 172939"/>
                  <a:gd name="connsiteX16" fmla="*/ 350181 w 1598614"/>
                  <a:gd name="connsiteY16" fmla="*/ 143471 h 172939"/>
                  <a:gd name="connsiteX17" fmla="*/ 449126 w 1598614"/>
                  <a:gd name="connsiteY17" fmla="*/ 80232 h 172939"/>
                  <a:gd name="connsiteX18" fmla="*/ 574744 w 1598614"/>
                  <a:gd name="connsiteY18" fmla="*/ 0 h 172939"/>
                  <a:gd name="connsiteX19" fmla="*/ 700362 w 1598614"/>
                  <a:gd name="connsiteY19" fmla="*/ 80232 h 172939"/>
                  <a:gd name="connsiteX20" fmla="*/ 799307 w 1598614"/>
                  <a:gd name="connsiteY20" fmla="*/ 143471 h 172939"/>
                  <a:gd name="connsiteX21" fmla="*/ 799307 w 1598614"/>
                  <a:gd name="connsiteY21" fmla="*/ 143471 h 172939"/>
                  <a:gd name="connsiteX22" fmla="*/ 898253 w 1598614"/>
                  <a:gd name="connsiteY22" fmla="*/ 80232 h 172939"/>
                  <a:gd name="connsiteX23" fmla="*/ 1023870 w 1598614"/>
                  <a:gd name="connsiteY23" fmla="*/ 0 h 172939"/>
                  <a:gd name="connsiteX24" fmla="*/ 1149488 w 1598614"/>
                  <a:gd name="connsiteY24" fmla="*/ 80232 h 172939"/>
                  <a:gd name="connsiteX25" fmla="*/ 1248433 w 1598614"/>
                  <a:gd name="connsiteY25" fmla="*/ 143471 h 172939"/>
                  <a:gd name="connsiteX26" fmla="*/ 1347379 w 1598614"/>
                  <a:gd name="connsiteY26" fmla="*/ 80232 h 172939"/>
                  <a:gd name="connsiteX27" fmla="*/ 1472997 w 1598614"/>
                  <a:gd name="connsiteY27" fmla="*/ 0 h 172939"/>
                  <a:gd name="connsiteX28" fmla="*/ 1598614 w 1598614"/>
                  <a:gd name="connsiteY28" fmla="*/ 80232 h 172939"/>
                  <a:gd name="connsiteX29" fmla="*/ 1571942 w 1598614"/>
                  <a:gd name="connsiteY29" fmla="*/ 92708 h 172939"/>
                  <a:gd name="connsiteX30" fmla="*/ 1472997 w 1598614"/>
                  <a:gd name="connsiteY30" fmla="*/ 29469 h 172939"/>
                  <a:gd name="connsiteX31" fmla="*/ 1374051 w 1598614"/>
                  <a:gd name="connsiteY31" fmla="*/ 92708 h 172939"/>
                  <a:gd name="connsiteX32" fmla="*/ 1248648 w 1598614"/>
                  <a:gd name="connsiteY32" fmla="*/ 172939 h 172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614" h="172939">
                    <a:moveTo>
                      <a:pt x="1248648" y="172939"/>
                    </a:moveTo>
                    <a:cubicBezTo>
                      <a:pt x="1194229" y="172939"/>
                      <a:pt x="1146046" y="142180"/>
                      <a:pt x="1123031" y="92708"/>
                    </a:cubicBezTo>
                    <a:cubicBezTo>
                      <a:pt x="1104962" y="53775"/>
                      <a:pt x="1067105" y="29469"/>
                      <a:pt x="1024085" y="29469"/>
                    </a:cubicBezTo>
                    <a:cubicBezTo>
                      <a:pt x="981066" y="29469"/>
                      <a:pt x="943208" y="53775"/>
                      <a:pt x="925140" y="92708"/>
                    </a:cubicBezTo>
                    <a:cubicBezTo>
                      <a:pt x="902124" y="142180"/>
                      <a:pt x="853942" y="172939"/>
                      <a:pt x="799522" y="172939"/>
                    </a:cubicBezTo>
                    <a:cubicBezTo>
                      <a:pt x="799522" y="172939"/>
                      <a:pt x="799522" y="172939"/>
                      <a:pt x="799522" y="172939"/>
                    </a:cubicBezTo>
                    <a:cubicBezTo>
                      <a:pt x="744887" y="172939"/>
                      <a:pt x="696920" y="142180"/>
                      <a:pt x="673905" y="92708"/>
                    </a:cubicBezTo>
                    <a:cubicBezTo>
                      <a:pt x="655836" y="53775"/>
                      <a:pt x="617979" y="29469"/>
                      <a:pt x="574959" y="29469"/>
                    </a:cubicBezTo>
                    <a:cubicBezTo>
                      <a:pt x="531939" y="29469"/>
                      <a:pt x="494082" y="53775"/>
                      <a:pt x="476014" y="92708"/>
                    </a:cubicBezTo>
                    <a:cubicBezTo>
                      <a:pt x="452998" y="142180"/>
                      <a:pt x="405031" y="172939"/>
                      <a:pt x="350396" y="172939"/>
                    </a:cubicBezTo>
                    <a:cubicBezTo>
                      <a:pt x="295976" y="172939"/>
                      <a:pt x="247794" y="142180"/>
                      <a:pt x="224778" y="92708"/>
                    </a:cubicBezTo>
                    <a:cubicBezTo>
                      <a:pt x="206710" y="53775"/>
                      <a:pt x="168853" y="29469"/>
                      <a:pt x="125833" y="29469"/>
                    </a:cubicBezTo>
                    <a:cubicBezTo>
                      <a:pt x="82813" y="29469"/>
                      <a:pt x="44956" y="53775"/>
                      <a:pt x="26887" y="92708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268" y="30759"/>
                      <a:pt x="969235" y="0"/>
                      <a:pt x="1023870" y="0"/>
                    </a:cubicBezTo>
                    <a:cubicBezTo>
                      <a:pt x="1078505" y="0"/>
                      <a:pt x="1126472" y="30759"/>
                      <a:pt x="1149488" y="80232"/>
                    </a:cubicBezTo>
                    <a:cubicBezTo>
                      <a:pt x="1167556" y="119165"/>
                      <a:pt x="1205414" y="143471"/>
                      <a:pt x="1248433" y="143471"/>
                    </a:cubicBezTo>
                    <a:cubicBezTo>
                      <a:pt x="1291453" y="143471"/>
                      <a:pt x="1329311" y="119165"/>
                      <a:pt x="1347379" y="80232"/>
                    </a:cubicBezTo>
                    <a:cubicBezTo>
                      <a:pt x="1370394" y="30759"/>
                      <a:pt x="1418361" y="0"/>
                      <a:pt x="1472997" y="0"/>
                    </a:cubicBezTo>
                    <a:cubicBezTo>
                      <a:pt x="1527632" y="0"/>
                      <a:pt x="1575814" y="30759"/>
                      <a:pt x="1598614" y="80232"/>
                    </a:cubicBezTo>
                    <a:lnTo>
                      <a:pt x="1571942" y="92708"/>
                    </a:lnTo>
                    <a:cubicBezTo>
                      <a:pt x="1553874" y="53775"/>
                      <a:pt x="1515801" y="29469"/>
                      <a:pt x="1472997" y="29469"/>
                    </a:cubicBezTo>
                    <a:cubicBezTo>
                      <a:pt x="1429977" y="29469"/>
                      <a:pt x="1392119" y="53775"/>
                      <a:pt x="1374051" y="92708"/>
                    </a:cubicBezTo>
                    <a:cubicBezTo>
                      <a:pt x="1351251" y="142180"/>
                      <a:pt x="1303069" y="172939"/>
                      <a:pt x="1248648" y="172939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E6D9B8D4-23BB-4CD2-A0FF-95423AFEB0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1755501"/>
                <a:ext cx="1598829" cy="172724"/>
              </a:xfrm>
              <a:custGeom>
                <a:avLst/>
                <a:gdLst>
                  <a:gd name="connsiteX0" fmla="*/ 1248648 w 1598829"/>
                  <a:gd name="connsiteY0" fmla="*/ 172724 h 172724"/>
                  <a:gd name="connsiteX1" fmla="*/ 1123031 w 1598829"/>
                  <a:gd name="connsiteY1" fmla="*/ 92492 h 172724"/>
                  <a:gd name="connsiteX2" fmla="*/ 1024085 w 1598829"/>
                  <a:gd name="connsiteY2" fmla="*/ 29253 h 172724"/>
                  <a:gd name="connsiteX3" fmla="*/ 925140 w 1598829"/>
                  <a:gd name="connsiteY3" fmla="*/ 92492 h 172724"/>
                  <a:gd name="connsiteX4" fmla="*/ 799522 w 1598829"/>
                  <a:gd name="connsiteY4" fmla="*/ 172724 h 172724"/>
                  <a:gd name="connsiteX5" fmla="*/ 799522 w 1598829"/>
                  <a:gd name="connsiteY5" fmla="*/ 172724 h 172724"/>
                  <a:gd name="connsiteX6" fmla="*/ 673905 w 1598829"/>
                  <a:gd name="connsiteY6" fmla="*/ 92492 h 172724"/>
                  <a:gd name="connsiteX7" fmla="*/ 574959 w 1598829"/>
                  <a:gd name="connsiteY7" fmla="*/ 29253 h 172724"/>
                  <a:gd name="connsiteX8" fmla="*/ 476014 w 1598829"/>
                  <a:gd name="connsiteY8" fmla="*/ 92492 h 172724"/>
                  <a:gd name="connsiteX9" fmla="*/ 350396 w 1598829"/>
                  <a:gd name="connsiteY9" fmla="*/ 172724 h 172724"/>
                  <a:gd name="connsiteX10" fmla="*/ 224778 w 1598829"/>
                  <a:gd name="connsiteY10" fmla="*/ 92492 h 172724"/>
                  <a:gd name="connsiteX11" fmla="*/ 125833 w 1598829"/>
                  <a:gd name="connsiteY11" fmla="*/ 29253 h 172724"/>
                  <a:gd name="connsiteX12" fmla="*/ 26887 w 1598829"/>
                  <a:gd name="connsiteY12" fmla="*/ 92492 h 172724"/>
                  <a:gd name="connsiteX13" fmla="*/ 0 w 1598829"/>
                  <a:gd name="connsiteY13" fmla="*/ 80232 h 172724"/>
                  <a:gd name="connsiteX14" fmla="*/ 125618 w 1598829"/>
                  <a:gd name="connsiteY14" fmla="*/ 0 h 172724"/>
                  <a:gd name="connsiteX15" fmla="*/ 251235 w 1598829"/>
                  <a:gd name="connsiteY15" fmla="*/ 80232 h 172724"/>
                  <a:gd name="connsiteX16" fmla="*/ 350181 w 1598829"/>
                  <a:gd name="connsiteY16" fmla="*/ 143471 h 172724"/>
                  <a:gd name="connsiteX17" fmla="*/ 449126 w 1598829"/>
                  <a:gd name="connsiteY17" fmla="*/ 80232 h 172724"/>
                  <a:gd name="connsiteX18" fmla="*/ 574744 w 1598829"/>
                  <a:gd name="connsiteY18" fmla="*/ 0 h 172724"/>
                  <a:gd name="connsiteX19" fmla="*/ 700362 w 1598829"/>
                  <a:gd name="connsiteY19" fmla="*/ 80232 h 172724"/>
                  <a:gd name="connsiteX20" fmla="*/ 799307 w 1598829"/>
                  <a:gd name="connsiteY20" fmla="*/ 143471 h 172724"/>
                  <a:gd name="connsiteX21" fmla="*/ 799307 w 1598829"/>
                  <a:gd name="connsiteY21" fmla="*/ 143471 h 172724"/>
                  <a:gd name="connsiteX22" fmla="*/ 898253 w 1598829"/>
                  <a:gd name="connsiteY22" fmla="*/ 80232 h 172724"/>
                  <a:gd name="connsiteX23" fmla="*/ 1024085 w 1598829"/>
                  <a:gd name="connsiteY23" fmla="*/ 0 h 172724"/>
                  <a:gd name="connsiteX24" fmla="*/ 1149703 w 1598829"/>
                  <a:gd name="connsiteY24" fmla="*/ 80232 h 172724"/>
                  <a:gd name="connsiteX25" fmla="*/ 1248648 w 1598829"/>
                  <a:gd name="connsiteY25" fmla="*/ 143471 h 172724"/>
                  <a:gd name="connsiteX26" fmla="*/ 1347594 w 1598829"/>
                  <a:gd name="connsiteY26" fmla="*/ 80232 h 172724"/>
                  <a:gd name="connsiteX27" fmla="*/ 1473212 w 1598829"/>
                  <a:gd name="connsiteY27" fmla="*/ 0 h 172724"/>
                  <a:gd name="connsiteX28" fmla="*/ 1598829 w 1598829"/>
                  <a:gd name="connsiteY28" fmla="*/ 80232 h 172724"/>
                  <a:gd name="connsiteX29" fmla="*/ 1572157 w 1598829"/>
                  <a:gd name="connsiteY29" fmla="*/ 92492 h 172724"/>
                  <a:gd name="connsiteX30" fmla="*/ 1473212 w 1598829"/>
                  <a:gd name="connsiteY30" fmla="*/ 29253 h 172724"/>
                  <a:gd name="connsiteX31" fmla="*/ 1374266 w 1598829"/>
                  <a:gd name="connsiteY31" fmla="*/ 92492 h 172724"/>
                  <a:gd name="connsiteX32" fmla="*/ 1248648 w 1598829"/>
                  <a:gd name="connsiteY32" fmla="*/ 172724 h 172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829" h="172724">
                    <a:moveTo>
                      <a:pt x="1248648" y="172724"/>
                    </a:moveTo>
                    <a:cubicBezTo>
                      <a:pt x="1194229" y="172724"/>
                      <a:pt x="1146046" y="141965"/>
                      <a:pt x="1123031" y="92492"/>
                    </a:cubicBezTo>
                    <a:cubicBezTo>
                      <a:pt x="1104962" y="53560"/>
                      <a:pt x="1067105" y="29253"/>
                      <a:pt x="1024085" y="29253"/>
                    </a:cubicBezTo>
                    <a:cubicBezTo>
                      <a:pt x="981066" y="29253"/>
                      <a:pt x="943208" y="53560"/>
                      <a:pt x="925140" y="92492"/>
                    </a:cubicBezTo>
                    <a:cubicBezTo>
                      <a:pt x="902124" y="141965"/>
                      <a:pt x="853942" y="172724"/>
                      <a:pt x="799522" y="172724"/>
                    </a:cubicBezTo>
                    <a:cubicBezTo>
                      <a:pt x="799522" y="172724"/>
                      <a:pt x="799522" y="172724"/>
                      <a:pt x="799522" y="172724"/>
                    </a:cubicBezTo>
                    <a:cubicBezTo>
                      <a:pt x="744887" y="172724"/>
                      <a:pt x="696920" y="141965"/>
                      <a:pt x="673905" y="92492"/>
                    </a:cubicBezTo>
                    <a:cubicBezTo>
                      <a:pt x="655836" y="53560"/>
                      <a:pt x="617979" y="29253"/>
                      <a:pt x="574959" y="29253"/>
                    </a:cubicBezTo>
                    <a:cubicBezTo>
                      <a:pt x="531939" y="29253"/>
                      <a:pt x="494082" y="53560"/>
                      <a:pt x="476014" y="92492"/>
                    </a:cubicBezTo>
                    <a:cubicBezTo>
                      <a:pt x="452998" y="141965"/>
                      <a:pt x="405031" y="172724"/>
                      <a:pt x="350396" y="172724"/>
                    </a:cubicBezTo>
                    <a:cubicBezTo>
                      <a:pt x="295976" y="172724"/>
                      <a:pt x="247794" y="141965"/>
                      <a:pt x="224778" y="92492"/>
                    </a:cubicBezTo>
                    <a:cubicBezTo>
                      <a:pt x="206710" y="53560"/>
                      <a:pt x="168853" y="29253"/>
                      <a:pt x="125833" y="29253"/>
                    </a:cubicBezTo>
                    <a:cubicBezTo>
                      <a:pt x="82813" y="29253"/>
                      <a:pt x="44956" y="53560"/>
                      <a:pt x="26887" y="92492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483" y="30759"/>
                      <a:pt x="969450" y="0"/>
                      <a:pt x="1024085" y="0"/>
                    </a:cubicBezTo>
                    <a:cubicBezTo>
                      <a:pt x="1078720" y="0"/>
                      <a:pt x="1126688" y="30759"/>
                      <a:pt x="1149703" y="80232"/>
                    </a:cubicBezTo>
                    <a:cubicBezTo>
                      <a:pt x="1167771" y="119165"/>
                      <a:pt x="1205629" y="143471"/>
                      <a:pt x="1248648" y="143471"/>
                    </a:cubicBezTo>
                    <a:cubicBezTo>
                      <a:pt x="1291668" y="143471"/>
                      <a:pt x="1329526" y="119165"/>
                      <a:pt x="1347594" y="80232"/>
                    </a:cubicBezTo>
                    <a:cubicBezTo>
                      <a:pt x="1370610" y="30759"/>
                      <a:pt x="1418792" y="0"/>
                      <a:pt x="1473212" y="0"/>
                    </a:cubicBezTo>
                    <a:cubicBezTo>
                      <a:pt x="1527847" y="0"/>
                      <a:pt x="1576029" y="30759"/>
                      <a:pt x="1598829" y="80232"/>
                    </a:cubicBezTo>
                    <a:lnTo>
                      <a:pt x="1572157" y="92492"/>
                    </a:lnTo>
                    <a:cubicBezTo>
                      <a:pt x="1554089" y="53560"/>
                      <a:pt x="1516016" y="29253"/>
                      <a:pt x="1473212" y="29253"/>
                    </a:cubicBezTo>
                    <a:cubicBezTo>
                      <a:pt x="1430192" y="29253"/>
                      <a:pt x="1392335" y="53560"/>
                      <a:pt x="1374266" y="92492"/>
                    </a:cubicBezTo>
                    <a:cubicBezTo>
                      <a:pt x="1351251" y="141965"/>
                      <a:pt x="1303069" y="172724"/>
                      <a:pt x="1248648" y="172724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</p:grpSp>
        <p:grpSp>
          <p:nvGrpSpPr>
            <p:cNvPr id="27" name="Graphic 190">
              <a:extLst>
                <a:ext uri="{FF2B5EF4-FFF2-40B4-BE49-F238E27FC236}">
                  <a16:creationId xmlns:a16="http://schemas.microsoft.com/office/drawing/2014/main" id="{91DC38B0-ED19-4BAC-A009-485461F23D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491531" y="1420258"/>
              <a:ext cx="1598829" cy="531293"/>
              <a:chOff x="2504802" y="1755501"/>
              <a:chExt cx="1598829" cy="531293"/>
            </a:xfrm>
            <a:grpFill/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1A2C10C3-E625-41E2-8047-2AE4A87F33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2113855"/>
                <a:ext cx="1598614" cy="172939"/>
              </a:xfrm>
              <a:custGeom>
                <a:avLst/>
                <a:gdLst>
                  <a:gd name="connsiteX0" fmla="*/ 1248648 w 1598614"/>
                  <a:gd name="connsiteY0" fmla="*/ 172939 h 172939"/>
                  <a:gd name="connsiteX1" fmla="*/ 1123031 w 1598614"/>
                  <a:gd name="connsiteY1" fmla="*/ 92708 h 172939"/>
                  <a:gd name="connsiteX2" fmla="*/ 1024085 w 1598614"/>
                  <a:gd name="connsiteY2" fmla="*/ 29469 h 172939"/>
                  <a:gd name="connsiteX3" fmla="*/ 925140 w 1598614"/>
                  <a:gd name="connsiteY3" fmla="*/ 92708 h 172939"/>
                  <a:gd name="connsiteX4" fmla="*/ 799522 w 1598614"/>
                  <a:gd name="connsiteY4" fmla="*/ 172939 h 172939"/>
                  <a:gd name="connsiteX5" fmla="*/ 799522 w 1598614"/>
                  <a:gd name="connsiteY5" fmla="*/ 172939 h 172939"/>
                  <a:gd name="connsiteX6" fmla="*/ 673905 w 1598614"/>
                  <a:gd name="connsiteY6" fmla="*/ 92708 h 172939"/>
                  <a:gd name="connsiteX7" fmla="*/ 574959 w 1598614"/>
                  <a:gd name="connsiteY7" fmla="*/ 29469 h 172939"/>
                  <a:gd name="connsiteX8" fmla="*/ 476014 w 1598614"/>
                  <a:gd name="connsiteY8" fmla="*/ 92708 h 172939"/>
                  <a:gd name="connsiteX9" fmla="*/ 350396 w 1598614"/>
                  <a:gd name="connsiteY9" fmla="*/ 172939 h 172939"/>
                  <a:gd name="connsiteX10" fmla="*/ 224778 w 1598614"/>
                  <a:gd name="connsiteY10" fmla="*/ 92708 h 172939"/>
                  <a:gd name="connsiteX11" fmla="*/ 125833 w 1598614"/>
                  <a:gd name="connsiteY11" fmla="*/ 29469 h 172939"/>
                  <a:gd name="connsiteX12" fmla="*/ 26887 w 1598614"/>
                  <a:gd name="connsiteY12" fmla="*/ 92708 h 172939"/>
                  <a:gd name="connsiteX13" fmla="*/ 0 w 1598614"/>
                  <a:gd name="connsiteY13" fmla="*/ 80232 h 172939"/>
                  <a:gd name="connsiteX14" fmla="*/ 125618 w 1598614"/>
                  <a:gd name="connsiteY14" fmla="*/ 0 h 172939"/>
                  <a:gd name="connsiteX15" fmla="*/ 251235 w 1598614"/>
                  <a:gd name="connsiteY15" fmla="*/ 80232 h 172939"/>
                  <a:gd name="connsiteX16" fmla="*/ 350181 w 1598614"/>
                  <a:gd name="connsiteY16" fmla="*/ 143471 h 172939"/>
                  <a:gd name="connsiteX17" fmla="*/ 449126 w 1598614"/>
                  <a:gd name="connsiteY17" fmla="*/ 80232 h 172939"/>
                  <a:gd name="connsiteX18" fmla="*/ 574744 w 1598614"/>
                  <a:gd name="connsiteY18" fmla="*/ 0 h 172939"/>
                  <a:gd name="connsiteX19" fmla="*/ 700362 w 1598614"/>
                  <a:gd name="connsiteY19" fmla="*/ 80232 h 172939"/>
                  <a:gd name="connsiteX20" fmla="*/ 799307 w 1598614"/>
                  <a:gd name="connsiteY20" fmla="*/ 143471 h 172939"/>
                  <a:gd name="connsiteX21" fmla="*/ 799307 w 1598614"/>
                  <a:gd name="connsiteY21" fmla="*/ 143471 h 172939"/>
                  <a:gd name="connsiteX22" fmla="*/ 898253 w 1598614"/>
                  <a:gd name="connsiteY22" fmla="*/ 80232 h 172939"/>
                  <a:gd name="connsiteX23" fmla="*/ 1023870 w 1598614"/>
                  <a:gd name="connsiteY23" fmla="*/ 0 h 172939"/>
                  <a:gd name="connsiteX24" fmla="*/ 1149488 w 1598614"/>
                  <a:gd name="connsiteY24" fmla="*/ 80232 h 172939"/>
                  <a:gd name="connsiteX25" fmla="*/ 1248433 w 1598614"/>
                  <a:gd name="connsiteY25" fmla="*/ 143471 h 172939"/>
                  <a:gd name="connsiteX26" fmla="*/ 1347379 w 1598614"/>
                  <a:gd name="connsiteY26" fmla="*/ 80232 h 172939"/>
                  <a:gd name="connsiteX27" fmla="*/ 1472997 w 1598614"/>
                  <a:gd name="connsiteY27" fmla="*/ 0 h 172939"/>
                  <a:gd name="connsiteX28" fmla="*/ 1598614 w 1598614"/>
                  <a:gd name="connsiteY28" fmla="*/ 80232 h 172939"/>
                  <a:gd name="connsiteX29" fmla="*/ 1571942 w 1598614"/>
                  <a:gd name="connsiteY29" fmla="*/ 92708 h 172939"/>
                  <a:gd name="connsiteX30" fmla="*/ 1472997 w 1598614"/>
                  <a:gd name="connsiteY30" fmla="*/ 29469 h 172939"/>
                  <a:gd name="connsiteX31" fmla="*/ 1374051 w 1598614"/>
                  <a:gd name="connsiteY31" fmla="*/ 92708 h 172939"/>
                  <a:gd name="connsiteX32" fmla="*/ 1248648 w 1598614"/>
                  <a:gd name="connsiteY32" fmla="*/ 172939 h 172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614" h="172939">
                    <a:moveTo>
                      <a:pt x="1248648" y="172939"/>
                    </a:moveTo>
                    <a:cubicBezTo>
                      <a:pt x="1194229" y="172939"/>
                      <a:pt x="1146046" y="142180"/>
                      <a:pt x="1123031" y="92708"/>
                    </a:cubicBezTo>
                    <a:cubicBezTo>
                      <a:pt x="1104962" y="53775"/>
                      <a:pt x="1067105" y="29469"/>
                      <a:pt x="1024085" y="29469"/>
                    </a:cubicBezTo>
                    <a:cubicBezTo>
                      <a:pt x="981066" y="29469"/>
                      <a:pt x="943208" y="53775"/>
                      <a:pt x="925140" y="92708"/>
                    </a:cubicBezTo>
                    <a:cubicBezTo>
                      <a:pt x="902124" y="142180"/>
                      <a:pt x="853942" y="172939"/>
                      <a:pt x="799522" y="172939"/>
                    </a:cubicBezTo>
                    <a:cubicBezTo>
                      <a:pt x="799522" y="172939"/>
                      <a:pt x="799522" y="172939"/>
                      <a:pt x="799522" y="172939"/>
                    </a:cubicBezTo>
                    <a:cubicBezTo>
                      <a:pt x="744887" y="172939"/>
                      <a:pt x="696920" y="142180"/>
                      <a:pt x="673905" y="92708"/>
                    </a:cubicBezTo>
                    <a:cubicBezTo>
                      <a:pt x="655836" y="53775"/>
                      <a:pt x="617979" y="29469"/>
                      <a:pt x="574959" y="29469"/>
                    </a:cubicBezTo>
                    <a:cubicBezTo>
                      <a:pt x="531939" y="29469"/>
                      <a:pt x="494082" y="53775"/>
                      <a:pt x="476014" y="92708"/>
                    </a:cubicBezTo>
                    <a:cubicBezTo>
                      <a:pt x="452998" y="142180"/>
                      <a:pt x="405031" y="172939"/>
                      <a:pt x="350396" y="172939"/>
                    </a:cubicBezTo>
                    <a:cubicBezTo>
                      <a:pt x="295976" y="172939"/>
                      <a:pt x="247794" y="142180"/>
                      <a:pt x="224778" y="92708"/>
                    </a:cubicBezTo>
                    <a:cubicBezTo>
                      <a:pt x="206710" y="53775"/>
                      <a:pt x="168853" y="29469"/>
                      <a:pt x="125833" y="29469"/>
                    </a:cubicBezTo>
                    <a:cubicBezTo>
                      <a:pt x="82813" y="29469"/>
                      <a:pt x="44956" y="53775"/>
                      <a:pt x="26887" y="92708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268" y="30759"/>
                      <a:pt x="969235" y="0"/>
                      <a:pt x="1023870" y="0"/>
                    </a:cubicBezTo>
                    <a:cubicBezTo>
                      <a:pt x="1078505" y="0"/>
                      <a:pt x="1126472" y="30759"/>
                      <a:pt x="1149488" y="80232"/>
                    </a:cubicBezTo>
                    <a:cubicBezTo>
                      <a:pt x="1167556" y="119165"/>
                      <a:pt x="1205414" y="143471"/>
                      <a:pt x="1248433" y="143471"/>
                    </a:cubicBezTo>
                    <a:cubicBezTo>
                      <a:pt x="1291453" y="143471"/>
                      <a:pt x="1329311" y="119165"/>
                      <a:pt x="1347379" y="80232"/>
                    </a:cubicBezTo>
                    <a:cubicBezTo>
                      <a:pt x="1370394" y="30759"/>
                      <a:pt x="1418361" y="0"/>
                      <a:pt x="1472997" y="0"/>
                    </a:cubicBezTo>
                    <a:cubicBezTo>
                      <a:pt x="1527632" y="0"/>
                      <a:pt x="1575814" y="30759"/>
                      <a:pt x="1598614" y="80232"/>
                    </a:cubicBezTo>
                    <a:lnTo>
                      <a:pt x="1571942" y="92708"/>
                    </a:lnTo>
                    <a:cubicBezTo>
                      <a:pt x="1553874" y="53775"/>
                      <a:pt x="1515801" y="29469"/>
                      <a:pt x="1472997" y="29469"/>
                    </a:cubicBezTo>
                    <a:cubicBezTo>
                      <a:pt x="1429977" y="29469"/>
                      <a:pt x="1392119" y="53775"/>
                      <a:pt x="1374051" y="92708"/>
                    </a:cubicBezTo>
                    <a:cubicBezTo>
                      <a:pt x="1351251" y="142180"/>
                      <a:pt x="1303069" y="172939"/>
                      <a:pt x="1248648" y="172939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0F0340A9-BD8A-4ABB-9AC1-7A14DF22EE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1755501"/>
                <a:ext cx="1598829" cy="172724"/>
              </a:xfrm>
              <a:custGeom>
                <a:avLst/>
                <a:gdLst>
                  <a:gd name="connsiteX0" fmla="*/ 1248648 w 1598829"/>
                  <a:gd name="connsiteY0" fmla="*/ 172724 h 172724"/>
                  <a:gd name="connsiteX1" fmla="*/ 1123031 w 1598829"/>
                  <a:gd name="connsiteY1" fmla="*/ 92492 h 172724"/>
                  <a:gd name="connsiteX2" fmla="*/ 1024085 w 1598829"/>
                  <a:gd name="connsiteY2" fmla="*/ 29253 h 172724"/>
                  <a:gd name="connsiteX3" fmla="*/ 925140 w 1598829"/>
                  <a:gd name="connsiteY3" fmla="*/ 92492 h 172724"/>
                  <a:gd name="connsiteX4" fmla="*/ 799522 w 1598829"/>
                  <a:gd name="connsiteY4" fmla="*/ 172724 h 172724"/>
                  <a:gd name="connsiteX5" fmla="*/ 799522 w 1598829"/>
                  <a:gd name="connsiteY5" fmla="*/ 172724 h 172724"/>
                  <a:gd name="connsiteX6" fmla="*/ 673905 w 1598829"/>
                  <a:gd name="connsiteY6" fmla="*/ 92492 h 172724"/>
                  <a:gd name="connsiteX7" fmla="*/ 574959 w 1598829"/>
                  <a:gd name="connsiteY7" fmla="*/ 29253 h 172724"/>
                  <a:gd name="connsiteX8" fmla="*/ 476014 w 1598829"/>
                  <a:gd name="connsiteY8" fmla="*/ 92492 h 172724"/>
                  <a:gd name="connsiteX9" fmla="*/ 350396 w 1598829"/>
                  <a:gd name="connsiteY9" fmla="*/ 172724 h 172724"/>
                  <a:gd name="connsiteX10" fmla="*/ 224778 w 1598829"/>
                  <a:gd name="connsiteY10" fmla="*/ 92492 h 172724"/>
                  <a:gd name="connsiteX11" fmla="*/ 125833 w 1598829"/>
                  <a:gd name="connsiteY11" fmla="*/ 29253 h 172724"/>
                  <a:gd name="connsiteX12" fmla="*/ 26887 w 1598829"/>
                  <a:gd name="connsiteY12" fmla="*/ 92492 h 172724"/>
                  <a:gd name="connsiteX13" fmla="*/ 0 w 1598829"/>
                  <a:gd name="connsiteY13" fmla="*/ 80232 h 172724"/>
                  <a:gd name="connsiteX14" fmla="*/ 125618 w 1598829"/>
                  <a:gd name="connsiteY14" fmla="*/ 0 h 172724"/>
                  <a:gd name="connsiteX15" fmla="*/ 251235 w 1598829"/>
                  <a:gd name="connsiteY15" fmla="*/ 80232 h 172724"/>
                  <a:gd name="connsiteX16" fmla="*/ 350181 w 1598829"/>
                  <a:gd name="connsiteY16" fmla="*/ 143471 h 172724"/>
                  <a:gd name="connsiteX17" fmla="*/ 449126 w 1598829"/>
                  <a:gd name="connsiteY17" fmla="*/ 80232 h 172724"/>
                  <a:gd name="connsiteX18" fmla="*/ 574744 w 1598829"/>
                  <a:gd name="connsiteY18" fmla="*/ 0 h 172724"/>
                  <a:gd name="connsiteX19" fmla="*/ 700362 w 1598829"/>
                  <a:gd name="connsiteY19" fmla="*/ 80232 h 172724"/>
                  <a:gd name="connsiteX20" fmla="*/ 799307 w 1598829"/>
                  <a:gd name="connsiteY20" fmla="*/ 143471 h 172724"/>
                  <a:gd name="connsiteX21" fmla="*/ 799307 w 1598829"/>
                  <a:gd name="connsiteY21" fmla="*/ 143471 h 172724"/>
                  <a:gd name="connsiteX22" fmla="*/ 898253 w 1598829"/>
                  <a:gd name="connsiteY22" fmla="*/ 80232 h 172724"/>
                  <a:gd name="connsiteX23" fmla="*/ 1024085 w 1598829"/>
                  <a:gd name="connsiteY23" fmla="*/ 0 h 172724"/>
                  <a:gd name="connsiteX24" fmla="*/ 1149703 w 1598829"/>
                  <a:gd name="connsiteY24" fmla="*/ 80232 h 172724"/>
                  <a:gd name="connsiteX25" fmla="*/ 1248648 w 1598829"/>
                  <a:gd name="connsiteY25" fmla="*/ 143471 h 172724"/>
                  <a:gd name="connsiteX26" fmla="*/ 1347594 w 1598829"/>
                  <a:gd name="connsiteY26" fmla="*/ 80232 h 172724"/>
                  <a:gd name="connsiteX27" fmla="*/ 1473212 w 1598829"/>
                  <a:gd name="connsiteY27" fmla="*/ 0 h 172724"/>
                  <a:gd name="connsiteX28" fmla="*/ 1598829 w 1598829"/>
                  <a:gd name="connsiteY28" fmla="*/ 80232 h 172724"/>
                  <a:gd name="connsiteX29" fmla="*/ 1572157 w 1598829"/>
                  <a:gd name="connsiteY29" fmla="*/ 92492 h 172724"/>
                  <a:gd name="connsiteX30" fmla="*/ 1473212 w 1598829"/>
                  <a:gd name="connsiteY30" fmla="*/ 29253 h 172724"/>
                  <a:gd name="connsiteX31" fmla="*/ 1374266 w 1598829"/>
                  <a:gd name="connsiteY31" fmla="*/ 92492 h 172724"/>
                  <a:gd name="connsiteX32" fmla="*/ 1248648 w 1598829"/>
                  <a:gd name="connsiteY32" fmla="*/ 172724 h 172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829" h="172724">
                    <a:moveTo>
                      <a:pt x="1248648" y="172724"/>
                    </a:moveTo>
                    <a:cubicBezTo>
                      <a:pt x="1194229" y="172724"/>
                      <a:pt x="1146046" y="141965"/>
                      <a:pt x="1123031" y="92492"/>
                    </a:cubicBezTo>
                    <a:cubicBezTo>
                      <a:pt x="1104962" y="53560"/>
                      <a:pt x="1067105" y="29253"/>
                      <a:pt x="1024085" y="29253"/>
                    </a:cubicBezTo>
                    <a:cubicBezTo>
                      <a:pt x="981066" y="29253"/>
                      <a:pt x="943208" y="53560"/>
                      <a:pt x="925140" y="92492"/>
                    </a:cubicBezTo>
                    <a:cubicBezTo>
                      <a:pt x="902124" y="141965"/>
                      <a:pt x="853942" y="172724"/>
                      <a:pt x="799522" y="172724"/>
                    </a:cubicBezTo>
                    <a:cubicBezTo>
                      <a:pt x="799522" y="172724"/>
                      <a:pt x="799522" y="172724"/>
                      <a:pt x="799522" y="172724"/>
                    </a:cubicBezTo>
                    <a:cubicBezTo>
                      <a:pt x="744887" y="172724"/>
                      <a:pt x="696920" y="141965"/>
                      <a:pt x="673905" y="92492"/>
                    </a:cubicBezTo>
                    <a:cubicBezTo>
                      <a:pt x="655836" y="53560"/>
                      <a:pt x="617979" y="29253"/>
                      <a:pt x="574959" y="29253"/>
                    </a:cubicBezTo>
                    <a:cubicBezTo>
                      <a:pt x="531939" y="29253"/>
                      <a:pt x="494082" y="53560"/>
                      <a:pt x="476014" y="92492"/>
                    </a:cubicBezTo>
                    <a:cubicBezTo>
                      <a:pt x="452998" y="141965"/>
                      <a:pt x="405031" y="172724"/>
                      <a:pt x="350396" y="172724"/>
                    </a:cubicBezTo>
                    <a:cubicBezTo>
                      <a:pt x="295976" y="172724"/>
                      <a:pt x="247794" y="141965"/>
                      <a:pt x="224778" y="92492"/>
                    </a:cubicBezTo>
                    <a:cubicBezTo>
                      <a:pt x="206710" y="53560"/>
                      <a:pt x="168853" y="29253"/>
                      <a:pt x="125833" y="29253"/>
                    </a:cubicBezTo>
                    <a:cubicBezTo>
                      <a:pt x="82813" y="29253"/>
                      <a:pt x="44956" y="53560"/>
                      <a:pt x="26887" y="92492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483" y="30759"/>
                      <a:pt x="969450" y="0"/>
                      <a:pt x="1024085" y="0"/>
                    </a:cubicBezTo>
                    <a:cubicBezTo>
                      <a:pt x="1078720" y="0"/>
                      <a:pt x="1126688" y="30759"/>
                      <a:pt x="1149703" y="80232"/>
                    </a:cubicBezTo>
                    <a:cubicBezTo>
                      <a:pt x="1167771" y="119165"/>
                      <a:pt x="1205629" y="143471"/>
                      <a:pt x="1248648" y="143471"/>
                    </a:cubicBezTo>
                    <a:cubicBezTo>
                      <a:pt x="1291668" y="143471"/>
                      <a:pt x="1329526" y="119165"/>
                      <a:pt x="1347594" y="80232"/>
                    </a:cubicBezTo>
                    <a:cubicBezTo>
                      <a:pt x="1370610" y="30759"/>
                      <a:pt x="1418792" y="0"/>
                      <a:pt x="1473212" y="0"/>
                    </a:cubicBezTo>
                    <a:cubicBezTo>
                      <a:pt x="1527847" y="0"/>
                      <a:pt x="1576029" y="30759"/>
                      <a:pt x="1598829" y="80232"/>
                    </a:cubicBezTo>
                    <a:lnTo>
                      <a:pt x="1572157" y="92492"/>
                    </a:lnTo>
                    <a:cubicBezTo>
                      <a:pt x="1554089" y="53560"/>
                      <a:pt x="1516016" y="29253"/>
                      <a:pt x="1473212" y="29253"/>
                    </a:cubicBezTo>
                    <a:cubicBezTo>
                      <a:pt x="1430192" y="29253"/>
                      <a:pt x="1392335" y="53560"/>
                      <a:pt x="1374266" y="92492"/>
                    </a:cubicBezTo>
                    <a:cubicBezTo>
                      <a:pt x="1351251" y="141965"/>
                      <a:pt x="1303069" y="172724"/>
                      <a:pt x="1248648" y="172724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</p:grpSp>
      </p:grpSp>
      <p:pic>
        <p:nvPicPr>
          <p:cNvPr id="5" name="Grafik 4" descr="Hierarchie mit einfarbiger Füllung">
            <a:extLst>
              <a:ext uri="{FF2B5EF4-FFF2-40B4-BE49-F238E27FC236}">
                <a16:creationId xmlns:a16="http://schemas.microsoft.com/office/drawing/2014/main" id="{25CA7834-DED9-FA7A-164D-76C16DE66A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60513" y="2128310"/>
            <a:ext cx="3217333" cy="3217333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3AF83E4-4DE2-499C-9F36-0279E7E4FB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154385" y="4452524"/>
            <a:ext cx="1443404" cy="1443428"/>
            <a:chOff x="10154385" y="4452524"/>
            <a:chExt cx="1443404" cy="1443428"/>
          </a:xfrm>
          <a:solidFill>
            <a:schemeClr val="bg1"/>
          </a:solidFill>
        </p:grpSpPr>
        <p:grpSp>
          <p:nvGrpSpPr>
            <p:cNvPr id="34" name="Graphic 4">
              <a:extLst>
                <a:ext uri="{FF2B5EF4-FFF2-40B4-BE49-F238E27FC236}">
                  <a16:creationId xmlns:a16="http://schemas.microsoft.com/office/drawing/2014/main" id="{0B09EB4D-4323-43F4-9970-42885A83A8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0154385" y="4452524"/>
              <a:ext cx="1443404" cy="1443428"/>
              <a:chOff x="5734037" y="3067039"/>
              <a:chExt cx="724483" cy="724489"/>
            </a:xfrm>
            <a:grpFill/>
          </p:grpSpPr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A9C6284-1137-47FE-9471-23CA824947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067039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A00A6D3C-23F9-41D9-B891-14D8E2E98D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8F8D96F5-1ED7-4891-8D8B-A24E72DA7C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0E9A3A72-EC37-423D-B309-A6487A86C7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EBE630AB-13C0-44A2-80CA-C07483E934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B7768337-3D65-4FE5-8E1A-D79219E0AF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968E4331-550E-4929-ACE8-D2ED2D6EA3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768D8817-CAEE-45BB-820E-A67C68D480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26284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350A8C31-0139-4ABD-967A-139738E88F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2628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9855AEE1-1C1C-4832-8B4C-042F59E029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A41C5A32-BD0A-4457-9CF7-97467FA2B7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93C14A20-2E3C-49F8-AF55-C384FEB955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B167719-0D82-4ABF-9BC8-B073A84741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12628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8 w 14097"/>
                  <a:gd name="connsiteY1" fmla="*/ 14097 h 14097"/>
                  <a:gd name="connsiteX2" fmla="*/ 0 w 14097"/>
                  <a:gd name="connsiteY2" fmla="*/ 7049 h 14097"/>
                  <a:gd name="connsiteX3" fmla="*/ 7048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660582DE-E250-4561-9298-E4FADEB90F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820B635A-6E81-4D8A-98A3-141E57A6FF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8543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3909A0ED-D070-4792-A2EE-CCEB6BA63C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4619A19C-3B55-4085-8668-4589996280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87D16772-2B59-486E-BE47-65D591C088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1D6A06B8-1E4A-497F-B977-F78E5D7D00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55BC53AD-5249-4FB1-AB74-3F71AAEB5A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36F8561A-874A-48BB-BCC2-07F002ED4F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BA6B1B8F-9695-447F-BF2F-9010D40A07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24467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454192F9-26C5-4212-BA60-CADA662AFE0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244677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FBDA013-4858-422E-AE7A-614BF71FBA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42BA261C-0C75-431D-9FD5-2C3AA241BE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F8709D9-2655-4A39-9228-BCFCBF4122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9653F80B-5CF7-45EF-889B-FD0AAF4835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24467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2A1DA86A-7442-4897-88A4-EDD18A01C5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39623279-A4CE-49AC-B5FA-CD224324BE6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0382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EB9D8B4D-1BE5-4CD9-A592-D0D3D76911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769A47A3-F5B7-4BF0-B920-21A62F96F7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6E5DCDE9-48A4-41BA-987D-CC72C62B36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0F51F840-3DBF-444E-BC79-718416C51D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2DFD2B64-98D0-4E59-AE1F-693872F36D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CF09CB65-8B7E-426C-A3FE-DD20196FCB3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43149294-A5BC-4E62-A167-3CD55E05B3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63074"/>
                <a:ext cx="14192" cy="14097"/>
              </a:xfrm>
              <a:custGeom>
                <a:avLst/>
                <a:gdLst>
                  <a:gd name="connsiteX0" fmla="*/ 14192 w 14192"/>
                  <a:gd name="connsiteY0" fmla="*/ 7048 h 14097"/>
                  <a:gd name="connsiteX1" fmla="*/ 7144 w 14192"/>
                  <a:gd name="connsiteY1" fmla="*/ 14097 h 14097"/>
                  <a:gd name="connsiteX2" fmla="*/ 0 w 14192"/>
                  <a:gd name="connsiteY2" fmla="*/ 7048 h 14097"/>
                  <a:gd name="connsiteX3" fmla="*/ 7049 w 14192"/>
                  <a:gd name="connsiteY3" fmla="*/ 0 h 14097"/>
                  <a:gd name="connsiteX4" fmla="*/ 14192 w 14192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DB99FCDF-C9A0-40F7-ABDE-7247B2238D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0CE59751-EC07-43C1-A5F5-AF5D30EBBE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4573CCF2-67F2-4BD1-A01C-1D064B908F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1C60C662-612D-485A-A50D-E938C6E499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0048F63C-A2BB-4D89-9649-91EC2045C0A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63074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8 w 14097"/>
                  <a:gd name="connsiteY1" fmla="*/ 14097 h 14097"/>
                  <a:gd name="connsiteX2" fmla="*/ 0 w 14097"/>
                  <a:gd name="connsiteY2" fmla="*/ 7048 h 14097"/>
                  <a:gd name="connsiteX3" fmla="*/ 7048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1C29F96C-43D4-4F0F-A76D-4CED9C610C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B660107F-776B-455F-AC78-225F21B81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2222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EB1DB332-7265-477D-9A04-EDB3799DEAD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EBBEFE2D-1654-40D8-A838-45728A1683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190211E2-64DF-4171-811B-B8A0CD87B9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5F7CDCE8-8B48-4859-BDFE-FCB7BC6F58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B770A8C4-614E-4295-A937-718CC61B25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A699ADB6-675C-44B0-B96E-EDD7AC1F96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64875E98-2AA1-4001-90EA-2F3D9E017E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6953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5BEC7219-356F-4141-B57B-8BCD85BF77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564D4AAB-BB2C-4A77-BB45-94EEC66CD7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9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CE9CF29A-81CA-4A03-8B04-55F5668826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52FEFF22-7798-4730-9C0B-EC7EAFCD01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00149276-D167-4D2B-93F1-FD2958302B7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E7DC22D5-A39C-4789-A952-D89148877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26281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7BA51EF1-15F0-4193-AB83-F8C8A64D62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3FB75ADB-F020-4C56-91C6-9AB4629855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DBCE5CDF-BBF6-4E67-8CCE-9482D7EB4F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2138BABC-E51C-4F80-972E-CF44385C16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96B0C850-272E-4B08-8779-B872DCAA37C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2628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EEE54AF-B9C2-494D-9E02-2F67FEF7A2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85433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D21349A4-F7C9-492C-A658-EA9F7538B6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D88D1ED8-AC07-4621-9933-E10CE61220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6FD21FCD-1DA9-45C2-9AB5-548EE0E6E6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C8BDD8CA-1442-470F-A5D3-FC8A87A103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3B8DF094-690E-4C13-8284-7A7C97441A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85432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E0B926C-A114-444D-BA51-FECE28B03C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244676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00BDE6CC-5F54-4752-ACC4-E3BCF2BEEA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6E28F857-CCD8-4222-84C0-A0B415E7BD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D2687E0-0214-44E6-8BB1-34F6B7BA89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7F1236AA-FC17-487E-83B1-D71BCB2A87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623384AA-72EF-4BCF-9137-1944405836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24467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1BD81D1B-2270-4FBE-B437-F0DBB8DDFF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6411E268-F8CA-4C78-82ED-DDCF28B0BE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D48F8732-5205-4843-A2EB-3E0EB18F9F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DC5966DA-8E1A-43FF-A1A4-C6879B4564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E3BEFD3E-662F-4B38-859E-093A14241D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06C52F63-F17B-4356-A3AE-9707D93D29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5706A28-0822-4064-AD3E-2A1F4E1C9E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348A813F-1672-44DB-A207-F3494E7C28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6FC8AEBA-4BD5-4BB0-B004-A8B06B6A4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71ED8D8F-0325-426C-9257-1A5048211F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0FF054DF-85C2-466A-9D64-EB6D95AA82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2D01FA60-E77D-41EE-8228-CFB979E3D5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63074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AC8D6F02-E0C8-4EF5-9D41-E75C16C16E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BD111AAF-4EE4-4A89-84D2-4201F035D7A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E8F4C133-3F54-4715-A7D6-4261B9A998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0BAA2E6B-E393-45EA-8AE6-A775AA69CC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7DB4F953-9FE8-4B8D-A62B-CB20A7037A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9D918AF2-85FB-436F-99DB-622B076646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4222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1F078C58-0893-4D64-B685-BCB70CAC626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81374"/>
                <a:ext cx="14192" cy="14096"/>
              </a:xfrm>
              <a:custGeom>
                <a:avLst/>
                <a:gdLst>
                  <a:gd name="connsiteX0" fmla="*/ 14192 w 14192"/>
                  <a:gd name="connsiteY0" fmla="*/ 7049 h 14096"/>
                  <a:gd name="connsiteX1" fmla="*/ 7144 w 14192"/>
                  <a:gd name="connsiteY1" fmla="*/ 14097 h 14096"/>
                  <a:gd name="connsiteX2" fmla="*/ 0 w 14192"/>
                  <a:gd name="connsiteY2" fmla="*/ 7049 h 14096"/>
                  <a:gd name="connsiteX3" fmla="*/ 7049 w 14192"/>
                  <a:gd name="connsiteY3" fmla="*/ 0 h 14096"/>
                  <a:gd name="connsiteX4" fmla="*/ 14192 w 14192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1049"/>
                      <a:pt x="0" y="7049"/>
                    </a:cubicBezTo>
                    <a:cubicBezTo>
                      <a:pt x="0" y="3048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AEDA3784-7618-477C-A8B0-36FA393D64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AC49727-CA00-439E-82D4-B446B78965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6B67B441-65C8-4A53-968B-C56CB4086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94CEDDB5-CC85-4A9E-A73C-85D7B714FA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80BF7883-770D-4CA2-BE01-C5F4B102B96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7DF07BC6-9560-430C-86FA-AFA6F7DF09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9B085920-7744-44C8-AF91-D2F16C997D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4062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22308C0A-08FC-4AAA-87B2-1E57033E4A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AB727BDA-993C-4BB5-8CED-8D50C55F7A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1BB192D1-56DC-4342-911C-7D80A9084D5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337ADC5A-E225-4E91-B940-2DD15330E74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0D170CF5-349D-4588-8AD3-373D47A4EC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297A6982-5B80-4376-A9D2-C11E9B0843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0B14F779-546D-4011-8459-2E8E34C505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9977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35AE6943-22C6-405D-A071-F8EC29DAB0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2464DBFD-1DA1-456F-8427-CF66CD4C8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C9CA1114-00C4-448B-BF9A-9D70C709B0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2101A885-A4A8-4AFE-9905-E510D58C84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661E165D-4826-43AD-AD75-1C965A71A0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C1F2231A-5945-44AF-95E4-6D14529C86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1998F14A-698C-4220-92B8-2EC10C3561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7" y="365901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496E0BBF-D595-4DAE-91C6-4EB179C693F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2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E31F1BC0-CB0A-4386-BE5E-7972AFB050F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2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B1575BDE-4CFA-4FAD-9F64-692A6DBFF5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9D32D2E3-5D5B-4751-A477-A26860AC17F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92009233-25F1-4029-B170-318CBBA005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CCBFA5E5-8384-4D58-BD73-BA36E23E80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3ACBBAC3-185E-4C28-81AB-C9BE2A88DE7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9" y="371816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225AF996-F3FB-4AF2-B954-BDF79069E7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E10B0127-17D3-4B62-8708-9558A79455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4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A36A9D1B-B750-446F-99FF-E3280E32AD6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C078DB92-DE53-4BEC-BBD4-B5966EAA16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7334AD7D-F850-4E92-89F9-49EE6E3AA7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14D983A3-96A9-4BB8-90D5-93B0E625F8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5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43A1FFE3-BB5F-4455-B23F-DA56AE791E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40" y="377741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C34E69E0-4115-4CAA-86FB-1D5A8830D9B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5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E5707C7C-BEB2-4920-9D44-8AF218FFBF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6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D95D2E5E-6D1E-43FC-A231-E28A082964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83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DB511D52-FE0D-4F8D-AC2F-6806904C67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35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E4D31CC7-D38B-4566-A6F9-5CB84EEAAD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82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48116577-FA2A-434D-83D4-213A1497D2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31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02288414-AA9B-4065-A506-AE5ED2ABC5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481374"/>
                <a:ext cx="14097" cy="14096"/>
              </a:xfrm>
              <a:custGeom>
                <a:avLst/>
                <a:gdLst>
                  <a:gd name="connsiteX0" fmla="*/ 14097 w 14097"/>
                  <a:gd name="connsiteY0" fmla="*/ 7049 h 14096"/>
                  <a:gd name="connsiteX1" fmla="*/ 7049 w 14097"/>
                  <a:gd name="connsiteY1" fmla="*/ 14097 h 14096"/>
                  <a:gd name="connsiteX2" fmla="*/ 0 w 14097"/>
                  <a:gd name="connsiteY2" fmla="*/ 7049 h 14096"/>
                  <a:gd name="connsiteX3" fmla="*/ 7049 w 14097"/>
                  <a:gd name="connsiteY3" fmla="*/ 0 h 14096"/>
                  <a:gd name="connsiteX4" fmla="*/ 14097 w 14097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92EAF5E5-70A0-4FE6-B906-6BCF9C49F7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3DA12971-2CD2-4DE8-8B05-8B11B5614B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9 w 14096"/>
                  <a:gd name="connsiteY1" fmla="*/ 14097 h 14096"/>
                  <a:gd name="connsiteX2" fmla="*/ 0 w 14096"/>
                  <a:gd name="connsiteY2" fmla="*/ 7049 h 14096"/>
                  <a:gd name="connsiteX3" fmla="*/ 7049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B9486073-CABC-45A3-B442-5959E5CE6D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3EEB7953-85A2-4391-931C-CE88AC0532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1BF2EBC9-4A08-4A35-8C75-15E51BA0AB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48137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1686BEF1-7F1A-40F6-BC3F-24221ACECC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40622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5D2D2281-DA3F-41A6-B56E-2EE507826A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4062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B1EBA419-056B-478C-A25C-B349F4DDD9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406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3DE38383-61B3-4E4E-B781-1C7DA04D657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4062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F62AD048-154B-4830-A46F-263BA35AA7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4063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636A730F-15EE-440C-84B5-0541AE9546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40631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31AF286F-6D0E-447F-B4D1-24729E0D62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99781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36F64061-98E4-477D-BABF-CC6BA8D67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1C601616-D38B-4ED2-BD55-F5AEA36AB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E0593B16-48EE-41A8-B4AF-E03A74CBB8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26B2406B-8A3A-4381-8D69-1178F16C4D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9978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DF1F792D-BA16-4D8F-99C3-E5E6959A51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9978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AA77D5AF-6FFE-4577-BC40-BA19023071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659026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08F16A01-2EE8-4E4F-83CD-2000577D14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18ACB7FF-8D64-44A2-8571-7DB441D97E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E15E0D81-20B6-4D4C-9B7C-4D5A01B6AA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8F687395-0ADA-4504-B6D0-D55493AB66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94D99C3F-4701-403D-A69E-EE345B0E41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0C6D9CF1-A535-4742-B2CF-B61ADC55ED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718177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E9EB265F-CF4E-4485-88F1-AE3CE1BE37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9B354D37-6517-4AF4-8195-9A7B43D20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2A3087FA-3C5B-4898-9FE2-633DAA0B74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C8D7AB32-147E-4110-ABBE-7F1FB68942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71817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542ED17E-A6FC-4BC6-B7FE-EF9BC5B151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71817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4610CFBC-B173-4CBE-BBD7-7E859FCAB0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2" y="3777419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7578019C-8AAF-4A81-84C4-155EB43FAF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2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46936191-0661-4BD8-9A61-D00FAC97DF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8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F7BC1D8F-F88B-4A19-B640-8DCC739927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4" y="3777383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47D77817-943A-4D8A-82EE-C309FC9FF06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87" y="377742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BF86E220-D031-40B7-B3A2-0C723E3A91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24" y="37774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</p:grpSp>
        <p:grpSp>
          <p:nvGrpSpPr>
            <p:cNvPr id="35" name="Graphic 4">
              <a:extLst>
                <a:ext uri="{FF2B5EF4-FFF2-40B4-BE49-F238E27FC236}">
                  <a16:creationId xmlns:a16="http://schemas.microsoft.com/office/drawing/2014/main" id="{226E1D80-1BFB-4A13-8F3C-94D54398C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0154385" y="4452524"/>
              <a:ext cx="1443404" cy="1443428"/>
              <a:chOff x="5734037" y="3067039"/>
              <a:chExt cx="724483" cy="724489"/>
            </a:xfrm>
            <a:grpFill/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DCC1C21-CB11-4506-90E4-37DCD97AFC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067039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68177170-8FD3-4752-B1DB-0186ADF9B1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8CAA5FB4-9073-4612-99F5-95E1C6D067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DE021324-18DD-4114-8992-9652707C16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6ECBC33B-D8EB-4804-9EA3-57C07B57C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D03927C7-0E45-4B61-844A-4A626FDF6A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AC6AF6E8-E748-47F7-B35C-567D5FBA6C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EC671E5-B299-470C-9C7A-A50106E51B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26284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7410EBDF-623D-41EF-82A4-9FB938A7B6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2628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F866F8-B429-471B-9C2B-051BDCBAFE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883B4FBD-06C8-4D5D-B0D9-755E4CD1AA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DE3FD149-0B2F-4DA0-9721-59B9FEE8E0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4D26DB48-036E-4616-BA8B-C606A7B58B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12628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8 w 14097"/>
                  <a:gd name="connsiteY1" fmla="*/ 14097 h 14097"/>
                  <a:gd name="connsiteX2" fmla="*/ 0 w 14097"/>
                  <a:gd name="connsiteY2" fmla="*/ 7049 h 14097"/>
                  <a:gd name="connsiteX3" fmla="*/ 7048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8D6F6275-06AB-4316-B8C4-927E53487C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8E8CABF3-9C76-46A0-8DE9-F055C94A93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8543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01A12ED9-6299-4ABD-9827-DD52FE22B2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C0ADA37A-E396-4F92-AB19-D6994E0DD5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A96001A-BD0F-4CF9-A22B-545ED4F863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BD9ACB13-4C6C-4347-9F65-1309B33A1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1F17BE4A-72F8-4529-8558-E62103AEA7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06708C3-D03F-4605-8C6F-AE8EDA0838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D520ADFA-68AE-4CE4-913A-F070A2817DF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24467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3C6C63AD-C87A-403E-ADB5-4EDD034438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244677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370EAC6-89F0-4826-90D1-E55C334479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1FB61DD4-AB7B-417A-AE96-B1D9CBAC10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B4AD18D2-11BA-4192-9845-206C033F3E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85892E2D-483A-4C0A-87C7-6FFA2EB5E2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24467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A4037ACD-005D-4907-942F-D565AF6C83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AA8FD84E-39BE-456B-84C5-E03698AAC93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0382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B2FC47C2-6EF5-4D17-8703-527F28609C0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DD29BC8A-00E1-481E-8BA4-1AA7F4AA12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AF6ABE5-726A-495B-A832-3851CB9115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8E250A7-0600-440B-BEBC-61B2D4D7B11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CC36BEB1-881D-4496-AD7F-1CC4B46FA5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71DFE25-AF37-409C-B032-5F47D7150F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39AF97A7-FC44-49BF-ABD1-59DB48B898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63074"/>
                <a:ext cx="14192" cy="14097"/>
              </a:xfrm>
              <a:custGeom>
                <a:avLst/>
                <a:gdLst>
                  <a:gd name="connsiteX0" fmla="*/ 14192 w 14192"/>
                  <a:gd name="connsiteY0" fmla="*/ 7048 h 14097"/>
                  <a:gd name="connsiteX1" fmla="*/ 7144 w 14192"/>
                  <a:gd name="connsiteY1" fmla="*/ 14097 h 14097"/>
                  <a:gd name="connsiteX2" fmla="*/ 0 w 14192"/>
                  <a:gd name="connsiteY2" fmla="*/ 7048 h 14097"/>
                  <a:gd name="connsiteX3" fmla="*/ 7049 w 14192"/>
                  <a:gd name="connsiteY3" fmla="*/ 0 h 14097"/>
                  <a:gd name="connsiteX4" fmla="*/ 14192 w 14192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3939D792-9C64-48CF-8607-C7873A563A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2F69E48F-45D8-4A8A-A101-5DF775A539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EE47C3F3-8AC5-414F-8E20-25DA306C55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F09CB222-24C1-414A-B56E-EA3617D05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7FC26844-A93E-4C55-8619-F58615B4A2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63074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8 w 14097"/>
                  <a:gd name="connsiteY1" fmla="*/ 14097 h 14097"/>
                  <a:gd name="connsiteX2" fmla="*/ 0 w 14097"/>
                  <a:gd name="connsiteY2" fmla="*/ 7048 h 14097"/>
                  <a:gd name="connsiteX3" fmla="*/ 7048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3EA8BA8A-4848-4084-A841-501CECF285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4BC148C-3116-4C75-89DF-2BF348429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2222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1F3F7CB-7B69-49A3-A09E-D206488312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58072F8C-2347-472F-9D9A-F5511BA401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22C76E0-8D4F-4788-9856-B1AB15B209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63A9EC23-E263-4098-AC45-E628E1A297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B72211D0-3733-443C-999F-6CE736381C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CEC069AD-6364-4585-A8F1-931648A1BF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39361719-49F1-40E3-9ABA-2FE9D78364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6953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37F2D47-03EF-4AE6-ABB9-36506DF5A4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2554F257-3BD2-493C-A5F1-FCC2C64C35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9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4D297D55-4523-4CE1-9A0F-3EA6B27F79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605D1D96-783B-407F-BF8C-B0773589EB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95D03B3C-A55A-4738-A6FF-8F2DA5B99E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D41CE56E-C4C8-427A-9E82-C1EEF78E84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26281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72359086-D108-47DE-B6EA-0BEE1835D7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6FA49818-F2EA-427C-B93C-15E320DA1B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E435C1E1-0D80-4B30-8CAC-C6EDE1DE7B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30FCB137-01B0-4770-AFC3-003DF7897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7D03298B-8D34-487C-9DF0-DB9AC83071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2628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4698B28F-FFEF-44BA-B657-E59F80990F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85433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900A4B40-BCFB-46E4-AE4F-FCC5C650911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914CE6AE-7FAB-4A5D-8EA2-861CAF598A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FF0F3D4A-D39F-48EE-934D-C73834DC56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9B630BB-5848-4C72-9F5A-FC8EBE7A6B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F662A334-5814-480B-861F-17661B60F7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85432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DC0FC730-550F-42A2-AE79-EEA30B11C7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244676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03054F4A-43DC-46A1-89D0-87DA8F31578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5F66EF36-2C9F-49B2-B972-1BA82C8F36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47955EF8-6501-4579-B85F-DE5C0815FF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E0BA4174-EBEB-40DA-8B1D-6A7851E38C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50512C7C-98D6-45AD-8CA4-1BEB01262D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24467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416CB557-0CE9-4015-A920-C6766A066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5EA7B3B4-3BF2-4B69-B300-5D86CCB0A07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D887DF00-5D34-4A8B-9A84-C40D336238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EADE921C-83B0-4521-916F-E7EC5CFDAD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5CEDA6FA-EB55-47AE-A005-BF546085C1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9DAC0C40-EF50-4632-B781-ACDAE95AF3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2AAB43-E3D9-4272-8809-5F70B30206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8C7D300-E0BD-4C12-92B1-0801266F022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CCA3ED35-2344-4402-B61B-3932E69457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949146BF-06FF-41BB-BDD3-B80BABB3AAE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393A6A5F-F75B-4BBC-AADC-A84DA758EE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77B21059-EA9B-4329-968B-81F7966D27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63074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BFF9C99F-41B4-4789-934B-8BF03EA94E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C180277F-7E18-4896-AE91-960B379D2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C95FE437-DA37-44C9-B975-96C6DD9DE0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A2A5369E-5DB7-4854-BBEC-D043F3A5F2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B6B0D6D9-913A-4804-83B5-5A9858F570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29B4FACF-EF13-4EFA-86D3-D5B2B6703A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4222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7BD767A9-D2A3-4942-B654-34DDDFD60B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81374"/>
                <a:ext cx="14192" cy="14096"/>
              </a:xfrm>
              <a:custGeom>
                <a:avLst/>
                <a:gdLst>
                  <a:gd name="connsiteX0" fmla="*/ 14192 w 14192"/>
                  <a:gd name="connsiteY0" fmla="*/ 7049 h 14096"/>
                  <a:gd name="connsiteX1" fmla="*/ 7144 w 14192"/>
                  <a:gd name="connsiteY1" fmla="*/ 14097 h 14096"/>
                  <a:gd name="connsiteX2" fmla="*/ 0 w 14192"/>
                  <a:gd name="connsiteY2" fmla="*/ 7049 h 14096"/>
                  <a:gd name="connsiteX3" fmla="*/ 7049 w 14192"/>
                  <a:gd name="connsiteY3" fmla="*/ 0 h 14096"/>
                  <a:gd name="connsiteX4" fmla="*/ 14192 w 14192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1049"/>
                      <a:pt x="0" y="7049"/>
                    </a:cubicBezTo>
                    <a:cubicBezTo>
                      <a:pt x="0" y="3048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0C97F02F-13B9-4D7E-B916-BC8713CC0D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99C0654B-0803-40FA-BF28-D8EA65F58C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D44F31B6-3657-4241-A94E-EEDBFF0C98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3557624B-3CCB-43DA-998B-B1EC599C75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75B0CCD4-215D-456D-808C-F96ABB74D3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FE4E038E-23E6-43BE-9A3B-523A28DF73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A686F1FD-4135-414B-8575-ED97CC8DBF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4062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36FBC8D5-B3FE-4E26-8B4F-5D5668A8A7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33A60C97-778A-4251-A66B-49769F0C20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0CC04E3B-2AC3-4A7B-A425-DDABEA8AF3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CEF7D0E1-459C-4A15-9F05-545F6430B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D5797445-BFB3-4EB2-8B44-4BF2C9E915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E27FB1FC-477D-45B3-82B0-0F49364698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D94CF442-4FF2-41B3-8870-097DBAF46C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9977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A24927C8-A42E-4B8D-84A4-50A58968BC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5379CB96-0D3A-4582-8650-A909955BA3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531F84F2-CE93-4841-9AA6-BC9E3557962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1BED9D2-07EF-452E-AFA1-9A1E80AE24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2C75A1A5-0A11-42EA-AF4E-FF52721258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4275A1C7-FA96-4BBB-A7EF-A7ED02814E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8CA8B3B4-73BE-41D5-900B-42FBF6AA722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7" y="365901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B0264B0D-E150-4641-BBB1-58080670EE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2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BCC2D199-EF36-4077-A50C-D9FC99331B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2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6DCCA13-7F75-46F9-97B3-A9DA4C2173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56C76EEB-75A4-418F-9FE0-CC513BC3C2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1E952CEF-EC1B-4714-8900-D2DFAEF30F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2B899198-ADCC-4613-957B-7A40B17B15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5581AF7F-95DB-4163-B608-C04A61FB92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9" y="371816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616F834-835A-42B4-B51B-5AD285E283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EF598AFA-5F8F-4191-8881-1DE91BB2B0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4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6623A080-F2C6-4664-B99C-99A9C287B4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330E7091-D82F-490A-8F32-DE8745212E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2B340B39-E421-434F-AF1A-DAD7E7802D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2ED568-9809-4A18-A06A-87018A987E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5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A6C26F4B-6369-4557-B6D4-A1B448B127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40" y="377741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42CEA830-FB77-4EA5-9BAB-64B6F500F32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5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E5A9B88C-3ADF-40D8-9E9B-42439F852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6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CC9DEE2F-0410-4B1A-BED8-D1371CE8B4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83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8A66E75A-959E-436D-B1F1-DBD1E460E1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35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B35526DB-3749-43FA-84BA-E73EE1D1DB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82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6503C90B-19EF-4925-A08A-AE40956A2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31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B98692DC-F401-45BC-ABC7-421F3391C3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481374"/>
                <a:ext cx="14097" cy="14096"/>
              </a:xfrm>
              <a:custGeom>
                <a:avLst/>
                <a:gdLst>
                  <a:gd name="connsiteX0" fmla="*/ 14097 w 14097"/>
                  <a:gd name="connsiteY0" fmla="*/ 7049 h 14096"/>
                  <a:gd name="connsiteX1" fmla="*/ 7049 w 14097"/>
                  <a:gd name="connsiteY1" fmla="*/ 14097 h 14096"/>
                  <a:gd name="connsiteX2" fmla="*/ 0 w 14097"/>
                  <a:gd name="connsiteY2" fmla="*/ 7049 h 14096"/>
                  <a:gd name="connsiteX3" fmla="*/ 7049 w 14097"/>
                  <a:gd name="connsiteY3" fmla="*/ 0 h 14096"/>
                  <a:gd name="connsiteX4" fmla="*/ 14097 w 14097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8629B1A4-7BFC-4F45-9FAD-BB035C4E47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A2F92592-AB8B-4732-BEE7-3E2B830EA3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9 w 14096"/>
                  <a:gd name="connsiteY1" fmla="*/ 14097 h 14096"/>
                  <a:gd name="connsiteX2" fmla="*/ 0 w 14096"/>
                  <a:gd name="connsiteY2" fmla="*/ 7049 h 14096"/>
                  <a:gd name="connsiteX3" fmla="*/ 7049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9C3644DC-02D1-43FF-8ED1-0ECBBA4B30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4DC12AE3-E70C-4CD8-9A74-7567F99C46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0E0DDE12-8B48-4D21-8863-06298ED8B8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48137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C611F1DE-AF40-48FC-8A1E-0A175D439E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40622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34C2CAED-22FC-4450-8BBC-7811F7DF9B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4062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F89E6B45-A41C-4735-A7F5-E4EFD5DCFD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406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44BFE35C-5487-42E8-AC30-01FC1E4F51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4062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3575E1A5-C3CB-4081-A394-36172B7DB1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4063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C9C6DF24-803A-44A1-B29A-B90297D393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40631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22A7B096-566C-4312-AF19-D9A3B6BC0E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99781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8B429767-12DD-4020-BC3E-9944CF36F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FF510776-417B-4B74-9082-ED3915450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FEF51D3D-E951-49CE-BCE4-D444BEF6B2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B27BA73E-E784-4961-884D-F507DDE38A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9978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849019E-0178-4A1C-A5D8-DC3DFC572B8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9978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0B49676D-9D41-4B2D-8FF9-69AC31CFDC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659026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6BDFE3E8-9647-4400-B019-8EDD4E688B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EDD57B95-ED61-4561-9ADF-38126BADCE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3744F230-BFBA-41B0-9FE2-481D1EAFFF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C32022D3-12E0-4BC1-8085-D6CBF3CDD7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D1AED37F-874A-4B21-A522-FEBCB38F4C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5BB466E2-3497-4A3B-8777-FAA0AAEE2B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718177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A924D178-36E4-4E29-86E8-7716F3B4A71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D0DF84E5-BB3D-4120-8FD3-98ECDA31BB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5B29635-10AC-481E-A2DE-80E9DE6128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AAB430CA-3259-463F-85F9-B6E180323A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71817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8EF18909-FC9F-4845-B1DC-027E82B219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71817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EFCE2389-D574-49C1-89EB-D8C7308883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2" y="3777419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D44B35A5-5216-45FC-8F0F-D80E383B42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2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9470F10A-F708-41AA-A910-5C288B3556E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8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CD73E13B-910B-40D2-B53F-6614C098BA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4" y="3777383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8267FC95-0200-40B3-B043-D33BEA60D0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87" y="377742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9F14022C-37CD-4CDD-ACD1-86161EF001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24" y="37774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noProof="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70991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5" name="Grafik 4" descr="Kompass mit einfarbiger Füllung">
            <a:extLst>
              <a:ext uri="{FF2B5EF4-FFF2-40B4-BE49-F238E27FC236}">
                <a16:creationId xmlns:a16="http://schemas.microsoft.com/office/drawing/2014/main" id="{A13B5C04-7FEF-3475-BA7C-EB00FF6DBB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3299" y="2938322"/>
            <a:ext cx="3217333" cy="3217333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34CC3FF-7AA4-46F4-8B24-2F9383D86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75E42E8-8B96-4FF0-9DCC-7E2084C0FD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8FEA8A4-ED0E-429C-884B-1599153B8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AEBFCD5-5356-4326-8D39-8235A46CD7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E5BCCD-8967-31A7-2B33-15CD8A083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584" y="859808"/>
            <a:ext cx="3543197" cy="2878986"/>
          </a:xfrm>
        </p:spPr>
        <p:txBody>
          <a:bodyPr>
            <a:normAutofit/>
          </a:bodyPr>
          <a:lstStyle/>
          <a:p>
            <a:pPr algn="ctr"/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Making the Decision</a:t>
            </a:r>
          </a:p>
        </p:txBody>
      </p:sp>
      <p:grpSp>
        <p:nvGrpSpPr>
          <p:cNvPr id="27" name="Graphic 4">
            <a:extLst>
              <a:ext uri="{FF2B5EF4-FFF2-40B4-BE49-F238E27FC236}">
                <a16:creationId xmlns:a16="http://schemas.microsoft.com/office/drawing/2014/main" id="{5F2AA49C-5AC0-41C7-BFAF-74B8D8293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8A750A0-64B5-41B2-B525-A914EB40B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8216C77-85C1-4BDC-87A8-7E7593320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71AED48-754E-41AC-9ECC-DB25976447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8005417-D297-404F-82A5-8C4393E85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7F942D6-2D0C-4894-81F0-6F81714BA4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FAD802E-9670-4B80-876B-3FF64D29A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38AF437-0BFB-40E4-ADA0-5749919AA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8BC9C3D-CBBE-4D29-9DAC-98B3CAF39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7016629-22ED-494E-9205-594895DA9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FF3CC1E-0ED4-4599-9B4E-F057769B96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65A4B3A-F9A7-4FA6-A7F3-EA08E0BA1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783B6A14-A56D-4B95-8395-89CF53A09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9F0868B-B193-43B6-BB1E-1FF72993E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grpSp>
        <p:nvGrpSpPr>
          <p:cNvPr id="42" name="Graphic 4">
            <a:extLst>
              <a:ext uri="{FF2B5EF4-FFF2-40B4-BE49-F238E27FC236}">
                <a16:creationId xmlns:a16="http://schemas.microsoft.com/office/drawing/2014/main" id="{BB32367D-C4F2-49D5-A586-298C7CA82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1FF7EE7-ACA2-4BFF-BA75-7FAE93FBB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647462E-B5E8-4F02-A1E4-BD0380A22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12CE109-6153-414A-B2D6-C4F9C6FA2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AF530F5-D68D-4BC8-8984-F1A8B5DEB6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EB69747-F9DD-4B80-B488-D5565D0BC6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73AFB787-B8A4-4269-9DA9-FF4A6603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E682D93-25A6-4D91-9A81-3F247BBEE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D5F48B5-53B4-4DA8-B929-6AFF506589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8CA195A3-2A74-4D13-A1B8-24765E26B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98F1918-C39D-4713-AB21-685A94435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33592273-DEE6-42E1-B824-11D5443323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2D6F82B-B619-4D8B-85AE-0E57103BA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246C574-90D4-412B-9444-203F7C83CD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144F2F-E55A-05A1-A0E0-ED63ECC1E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270" y="685805"/>
            <a:ext cx="4974771" cy="5534019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Real requirements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Usage frequency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Failure impact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Maintenance effort</a:t>
            </a:r>
          </a:p>
        </p:txBody>
      </p:sp>
    </p:spTree>
    <p:extLst>
      <p:ext uri="{BB962C8B-B14F-4D97-AF65-F5344CB8AC3E}">
        <p14:creationId xmlns:p14="http://schemas.microsoft.com/office/powerpoint/2010/main" val="4294049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816C0-14D0-6AE1-1050-A26E0163C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907" y="282800"/>
            <a:ext cx="6405322" cy="800101"/>
          </a:xfrm>
        </p:spPr>
        <p:txBody>
          <a:bodyPr anchor="b">
            <a:normAutofit/>
          </a:bodyPr>
          <a:lstStyle/>
          <a:p>
            <a:r>
              <a:rPr lang="en-US" sz="4100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Where have I used this?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8B006-F2BC-62F6-E783-FDE6B6DE4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06" y="1715151"/>
            <a:ext cx="5217173" cy="4351338"/>
          </a:xfrm>
        </p:spPr>
        <p:txBody>
          <a:bodyPr>
            <a:normAutofit/>
          </a:bodyPr>
          <a:lstStyle/>
          <a:p>
            <a:endParaRPr lang="en-US" noProof="0" dirty="0">
              <a:solidFill>
                <a:schemeClr val="bg1"/>
              </a:solidFill>
            </a:endParaRPr>
          </a:p>
        </p:txBody>
      </p:sp>
      <p:grpSp>
        <p:nvGrpSpPr>
          <p:cNvPr id="40" name="Graphic 4">
            <a:extLst>
              <a:ext uri="{FF2B5EF4-FFF2-40B4-BE49-F238E27FC236}">
                <a16:creationId xmlns:a16="http://schemas.microsoft.com/office/drawing/2014/main" id="{D92F9A1A-77F4-4E16-958B-64BB489FF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22349" y="739986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19A42ED-6B91-49E6-9BDB-6339893E9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B732C3B-202D-4B4E-9C2B-283338B2A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38433EC-2142-4B86-B9BA-25AFE26299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F3A02D8-E8AA-47DC-B215-ED01D604EC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1A156CC-0ACD-4554-947F-A9FD30B6AB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BBACA1F0-7581-48CC-BB3D-29D84E66B1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8C34CDB-6796-4AA3-9001-DA5B717D7C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79D783F9-0F69-4135-9961-9BAB1C1A68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FFBBC22-B7E4-49E9-9BD1-36B5F62991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1E179D1A-1F7F-41FF-A993-7DB78E9EB3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8565B3A8-B9D8-4EA9-B3DA-DDB2A574BB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8891E65D-798E-4741-A582-606A91528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8BAB8E0-D711-471F-8EB7-6F8C42092B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  <p:pic>
        <p:nvPicPr>
          <p:cNvPr id="5" name="Grafik 4" descr="Ein Bild, das Text, Screenshot, Software, Multimedia-Software enthält.&#10;&#10;KI-generierte Inhalte können fehlerhaft sein.">
            <a:extLst>
              <a:ext uri="{FF2B5EF4-FFF2-40B4-BE49-F238E27FC236}">
                <a16:creationId xmlns:a16="http://schemas.microsoft.com/office/drawing/2014/main" id="{27A4E7A2-1AEF-BF51-CB53-408F12132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558" y="1660186"/>
            <a:ext cx="4745235" cy="4246986"/>
          </a:xfrm>
          <a:prstGeom prst="rect">
            <a:avLst/>
          </a:prstGeom>
        </p:spPr>
      </p:pic>
      <p:sp>
        <p:nvSpPr>
          <p:cNvPr id="55" name="Oval 54">
            <a:extLst>
              <a:ext uri="{FF2B5EF4-FFF2-40B4-BE49-F238E27FC236}">
                <a16:creationId xmlns:a16="http://schemas.microsoft.com/office/drawing/2014/main" id="{C4C270DE-0BEB-4372-B440-7EADA6FAFA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3877" y="4618784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757ACA0C-8702-4043-8D4D-582EAEDF1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3877" y="4618784"/>
            <a:ext cx="365021" cy="36502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pic>
        <p:nvPicPr>
          <p:cNvPr id="4" name="Inhaltsplatzhalter 7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EEFA768A-3B72-F9CD-A49E-6132C9D14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877" y="1660186"/>
            <a:ext cx="4322633" cy="424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506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638C7D-9088-41A9-88A0-7357157BC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31180" y="1109243"/>
            <a:ext cx="4842710" cy="4842710"/>
            <a:chOff x="1881974" y="1174396"/>
            <a:chExt cx="5290997" cy="5290997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9714B173-1D32-4BBC-A685-1F5D257ABD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1974" y="1174396"/>
              <a:ext cx="5290997" cy="5290997"/>
            </a:xfrm>
            <a:prstGeom prst="ellipse">
              <a:avLst/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EF82DD1-2343-4F41-B6A7-A6489A713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1974" y="1174396"/>
              <a:ext cx="5290997" cy="5290997"/>
            </a:xfrm>
            <a:prstGeom prst="ellipse">
              <a:avLst/>
            </a:prstGeom>
            <a:solidFill>
              <a:schemeClr val="accent2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0270" y="1095407"/>
            <a:ext cx="4754948" cy="4754948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BA8533D-5F1E-6836-5C46-EBB64127F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4751" y="568517"/>
            <a:ext cx="6161004" cy="886379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Final Thoughts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F219210-B16A-47B6-9AA8-207DAFF37E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bg1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noProof="0" dirty="0"/>
            </a:p>
          </p:txBody>
        </p:sp>
      </p:grpSp>
      <p:pic>
        <p:nvPicPr>
          <p:cNvPr id="5" name="Grafik 4" descr="Volltreffer mit einfarbiger Füllung">
            <a:extLst>
              <a:ext uri="{FF2B5EF4-FFF2-40B4-BE49-F238E27FC236}">
                <a16:creationId xmlns:a16="http://schemas.microsoft.com/office/drawing/2014/main" id="{9515A4F1-826A-7428-0EB9-EE5F8F8CFD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9077" y="1864214"/>
            <a:ext cx="3217333" cy="3217333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0E0B44-12D1-1964-EFA4-640E7EFB5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820369"/>
            <a:ext cx="5217173" cy="4351338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Complexity ≠ quality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Simplicity ≠ weakness</a:t>
            </a:r>
          </a:p>
          <a:p>
            <a:r>
              <a:rPr lang="en-US" noProof="0" dirty="0">
                <a:solidFill>
                  <a:schemeClr val="bg1"/>
                </a:solidFill>
                <a:latin typeface="Bahnschrift" panose="020B0502040204020203" pitchFamily="34" charset="0"/>
              </a:rPr>
              <a:t>Fit over features</a:t>
            </a:r>
          </a:p>
        </p:txBody>
      </p:sp>
      <p:grpSp>
        <p:nvGrpSpPr>
          <p:cNvPr id="31" name="Graphic 185">
            <a:extLst>
              <a:ext uri="{FF2B5EF4-FFF2-40B4-BE49-F238E27FC236}">
                <a16:creationId xmlns:a16="http://schemas.microsoft.com/office/drawing/2014/main" id="{582A903B-6B78-4F0A-B7C9-3D8049902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510EA93-8F64-42C8-A630-D449506E9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6CB53FC-E4DA-4001-928B-9998A85EA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210B969-4FDF-4AAC-9397-63D5434958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70B3EF0-84EA-4F47-86A3-1EA1F644A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59369A8-EF57-42A1-8EC8-F6A9F92A3A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468145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582</Words>
  <Application>Microsoft Office PowerPoint</Application>
  <PresentationFormat>Breitbild</PresentationFormat>
  <Paragraphs>58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Bahnschrift</vt:lpstr>
      <vt:lpstr>Office</vt:lpstr>
      <vt:lpstr>Why Simple Solutions Often Work Better Than Complex Ones</vt:lpstr>
      <vt:lpstr>Understanding Complexity</vt:lpstr>
      <vt:lpstr>The Appeal of Complex Solutions</vt:lpstr>
      <vt:lpstr>Hidden Costs</vt:lpstr>
      <vt:lpstr>Strengths of Simple Solutions</vt:lpstr>
      <vt:lpstr>When Simple Is Not Enough</vt:lpstr>
      <vt:lpstr>Making the Decision</vt:lpstr>
      <vt:lpstr>Where have I used this?</vt:lpstr>
      <vt:lpstr>Final 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Bosshard</dc:creator>
  <cp:lastModifiedBy>Matteo Bosshard</cp:lastModifiedBy>
  <cp:revision>13</cp:revision>
  <dcterms:created xsi:type="dcterms:W3CDTF">2026-01-04T07:02:43Z</dcterms:created>
  <dcterms:modified xsi:type="dcterms:W3CDTF">2026-01-08T21:21:34Z</dcterms:modified>
</cp:coreProperties>
</file>