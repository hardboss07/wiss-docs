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344" autoAdjust="0"/>
  </p:normalViewPr>
  <p:slideViewPr>
    <p:cSldViewPr snapToGrid="0">
      <p:cViewPr varScale="1">
        <p:scale>
          <a:sx n="47" d="100"/>
          <a:sy n="47" d="100"/>
        </p:scale>
        <p:origin x="1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90C43-11F8-408A-A78B-A8E53C959172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E2AF8-8288-4650-8D30-16C04325C37B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203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Complexity is often seen as something positive.</a:t>
            </a:r>
            <a:br>
              <a:rPr lang="en-US" dirty="0"/>
            </a:br>
            <a:r>
              <a:rPr lang="en-US" dirty="0"/>
              <a:t>Many people assume that more features or more steps automatically mean higher quality.</a:t>
            </a:r>
            <a:br>
              <a:rPr lang="en-US" dirty="0"/>
            </a:br>
            <a:r>
              <a:rPr lang="en-US" dirty="0"/>
              <a:t>This presentation looks at why that assumption isn’t always true, and why simple solutions are often more effective in everyday situations.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841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complex solution usually involves many parts working together.</a:t>
            </a:r>
            <a:br>
              <a:rPr lang="en-US" dirty="0"/>
            </a:br>
            <a:r>
              <a:rPr lang="en-US" dirty="0"/>
              <a:t>It often has more features, more steps, and more things that can go wrong.</a:t>
            </a:r>
            <a:br>
              <a:rPr lang="en-US" dirty="0"/>
            </a:br>
            <a:r>
              <a:rPr lang="en-US" dirty="0"/>
              <a:t>While complexity can be useful, it also increases the effort needed to understand and use a solution properly.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98147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solutions are attractive for several reasons.</a:t>
            </a:r>
            <a:br>
              <a:rPr lang="en-US" dirty="0"/>
            </a:br>
            <a:r>
              <a:rPr lang="en-US" dirty="0"/>
              <a:t>They often look more professional and promise more possibilities.</a:t>
            </a:r>
            <a:br>
              <a:rPr lang="en-US" dirty="0"/>
            </a:br>
            <a:r>
              <a:rPr lang="en-US" dirty="0"/>
              <a:t>There is also a fear of missing features that might be needed later.</a:t>
            </a:r>
            <a:br>
              <a:rPr lang="en-US" dirty="0"/>
            </a:br>
            <a:r>
              <a:rPr lang="en-US" dirty="0"/>
              <a:t>Because of this, complexity can feel like a safer choice, even if it is not strictly necessary.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13105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that complexity comes with hidden costs.</a:t>
            </a:r>
            <a:br>
              <a:rPr lang="en-US" dirty="0"/>
            </a:br>
            <a:r>
              <a:rPr lang="en-US" dirty="0"/>
              <a:t>It takes longer to learn, errors are more likely, and fixing problems becomes harder.</a:t>
            </a:r>
            <a:br>
              <a:rPr lang="en-US" dirty="0"/>
            </a:br>
            <a:r>
              <a:rPr lang="en-US" dirty="0"/>
              <a:t>Over time, this can lead to wasted time and frustration, especially when the added features are rarely used.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2920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solutions focus on what is actually needed.</a:t>
            </a:r>
            <a:br>
              <a:rPr lang="en-US" dirty="0"/>
            </a:br>
            <a:r>
              <a:rPr lang="en-US" dirty="0"/>
              <a:t>They are easier to learn, faster to use, and usually more reliable.</a:t>
            </a:r>
            <a:br>
              <a:rPr lang="en-US" dirty="0"/>
            </a:br>
            <a:r>
              <a:rPr lang="en-US" dirty="0"/>
              <a:t>For tasks that are repeated often or need to work consistently, simplicity can be a major advantage..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6208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does not mean that simplicity is always the best option.</a:t>
            </a:r>
            <a:br>
              <a:rPr lang="en-US" dirty="0"/>
            </a:br>
            <a:r>
              <a:rPr lang="en-US" dirty="0"/>
              <a:t>In large systems with many users or special requirements, complexity may be unavoidable.</a:t>
            </a:r>
            <a:br>
              <a:rPr lang="en-US" dirty="0"/>
            </a:br>
            <a:r>
              <a:rPr lang="en-US" dirty="0"/>
              <a:t>In these cases, added structure and features can help manage scale and long-term growth.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5405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between a simple or complex solution depends on the situation.</a:t>
            </a:r>
            <a:br>
              <a:rPr lang="en-US" dirty="0"/>
            </a:br>
            <a:r>
              <a:rPr lang="en-US" dirty="0"/>
              <a:t>Important factors include actual requirements, how often the solution is used, and how costly failures would be.</a:t>
            </a:r>
            <a:br>
              <a:rPr lang="en-US" dirty="0"/>
            </a:br>
            <a:r>
              <a:rPr lang="en-US" dirty="0"/>
              <a:t>Thinking about maintenance and long-term effort also helps avoid unnecessary complexity.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34779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end, complexity does not automatically mean quality, and simplicity is not a weakness.</a:t>
            </a:r>
            <a:br>
              <a:rPr lang="en-US" dirty="0"/>
            </a:br>
            <a:r>
              <a:rPr lang="en-US" dirty="0"/>
              <a:t>The best solution is the one that fits the problem, not the one with the most features.</a:t>
            </a:r>
            <a:br>
              <a:rPr lang="en-US" dirty="0"/>
            </a:br>
            <a:r>
              <a:rPr lang="en-US" dirty="0"/>
              <a:t>Understanding this can lead to better decisions in many areas, not just technical ones.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E2AF8-8288-4650-8D30-16C04325C37B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1035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AED8C-1F9A-1F21-ECF1-0E1E78663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A85C9A-D302-EEEC-57D4-4B31FF54B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612075-4F8C-0EDB-4805-CDACA13F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54A21A-3292-3E8B-D3C1-34DA6478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F88C6-A941-5724-A591-464580C5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112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29698-8311-259E-E57E-E8AAF4844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68BF1-F91A-91E3-702B-96AA04519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455FF4-5034-014E-C811-BAD609DB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6AAD6A-60E5-6682-F78F-FB8D39DF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1B2274-41A9-A7E3-39A0-542560EF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447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251B8-CB3B-8630-ED8D-933667C9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D5AEA9-79B2-B552-4271-6ABCBAAB9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C2C46-0B06-CE51-3935-07287DA0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9D2C89-4A86-96AC-D44F-15148B25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07E3D-C59B-6763-8ED4-8C66C85B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773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79186D-A320-5A77-79EC-C4D10E1E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67DE8C-E92B-08EF-9551-D241FC271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794081-7F78-6C53-653F-AAF0A0B09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CCED09-4C9C-37DA-3AD0-7AAE50E7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69F121-EAE2-2E8A-1ECF-D0AD872A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2F1800-4213-E084-6BC4-D53E925E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4784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C38FA0-614B-5AD8-08DC-A11DBD47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71CB05-AB44-7E19-59BC-7E57F1D7E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5E603D-524A-1037-C8FA-9EF249FCD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82D28E-C140-D95D-50D2-8ECE81545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F9A04A-4754-176E-77B4-EDFE3CBDF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A0C81D-A4DB-2723-D844-440BCAF2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26A7F9-4CDE-E44A-2419-DBD4301F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6041B2-926E-060C-6DE4-00050F4B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974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CE59D-7BF9-5460-B771-A30A3BF7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D6DD493-E928-8CE4-226F-2FBB3646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CB1EBA-271A-E1BC-6BAD-B4683B49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858BD2-4669-07DB-2B60-5574A879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1008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A254BC7-22E9-9F00-BBEE-99129A1C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DC98A4-2428-FB4C-6F18-FAD825C9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70F258-2A9E-006C-A753-915DB569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499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F113A-2F55-B3F9-9FDA-E69B45558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864164-6E36-259A-650D-92363CCD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C292AF-DFAE-8385-54FD-8BB6EC51C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D0E740-5389-2800-D869-C840364C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4A3B37-E5CB-6C5B-1AC1-0AD3A4C1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CDFD05-062E-C60E-063A-44B3FBF7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042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87156A-690F-1FA3-D939-3BE6640A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6A9C7CE-45AD-C0AD-2F81-A69D6C56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220CFE-4635-E8D8-00B9-1D4B51B8A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350FE6-A87E-6F54-C862-5F31DE9C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EB2C42-A482-C459-D620-FBDA6B48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8898B9-CA54-4E70-7BE2-E0933346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3302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B7B17-3EF4-5B15-BC4F-F77606B9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4D5CE6-5583-9ED2-FBD6-9363C628E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CEC1A6-7457-D938-64FC-BA7B08722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F8D8E-6DA6-F3BD-E051-52D2BBB78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7631EA-E644-3AFC-B1DD-34E94D9D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806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707AF0E-1CB3-F82E-CE24-7CADD31D5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A8EBA3-7F1B-49BF-18B6-BDEC1C91B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4DAEF5-B74F-DE38-DEE9-3C7E54E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8A4036-FCD8-B869-4F3C-9698AB8A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5FD205-AE56-475F-3206-97C7DAFA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574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8CD34B-A6B3-527E-43F8-E05F7E28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94A570-2B70-07ED-5531-DFA9DC080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53FF6F-B754-7484-F90C-1F61297DB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6902A-69A9-4416-B7AD-A55EEE13B60C}" type="datetimeFigureOut">
              <a:rPr lang="de-CH" smtClean="0"/>
              <a:t>04.01.2026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1C3250-CED1-F1B0-4ADB-8BE05BCC0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BDB7B4-348C-7CB5-6FD3-8BED4C606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6A405-0E83-4146-89EB-974CF39EB0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752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C8D7CA-BACB-52C3-DDB9-82DBF09C5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000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Why Simple Solutions Often Work Better Than Complex Ones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17482B6-5D2C-1C05-AF4A-E67E93167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endParaRPr lang="en-US" sz="1700" noProof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1700" noProof="0">
                <a:solidFill>
                  <a:schemeClr val="bg1"/>
                </a:solidFill>
                <a:latin typeface="Bahnschrift" panose="020B0502040204020203" pitchFamily="34" charset="0"/>
              </a:rPr>
              <a:t>Matteo Bosshard</a:t>
            </a:r>
          </a:p>
          <a:p>
            <a:r>
              <a:rPr lang="en-US" sz="1700" noProof="0">
                <a:solidFill>
                  <a:schemeClr val="bg1"/>
                </a:solidFill>
                <a:latin typeface="Bahnschrift" panose="020B0502040204020203" pitchFamily="34" charset="0"/>
              </a:rPr>
              <a:t>09.01.2026</a:t>
            </a:r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8833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37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fik 4" descr="Puzzleteile mit einfarbiger Füllung">
            <a:extLst>
              <a:ext uri="{FF2B5EF4-FFF2-40B4-BE49-F238E27FC236}">
                <a16:creationId xmlns:a16="http://schemas.microsoft.com/office/drawing/2014/main" id="{25402BF3-45CA-231B-5B92-E5162CC23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4992" y="3067823"/>
            <a:ext cx="3217333" cy="3217333"/>
          </a:xfrm>
          <a:prstGeom prst="rect">
            <a:avLst/>
          </a:prstGeom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4EC67B-166E-0CFD-48EB-2F86E743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 sz="3700" noProof="0">
                <a:solidFill>
                  <a:schemeClr val="bg1"/>
                </a:solidFill>
                <a:latin typeface="Bahnschrift" panose="020B0502040204020203" pitchFamily="34" charset="0"/>
              </a:rPr>
              <a:t>Understanding Complexity</a:t>
            </a:r>
          </a:p>
        </p:txBody>
      </p:sp>
      <p:grpSp>
        <p:nvGrpSpPr>
          <p:cNvPr id="386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1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A04693-EBA6-233E-F069-75184005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Simple vs complex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Common assumptions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Everyday decisions</a:t>
            </a:r>
          </a:p>
        </p:txBody>
      </p:sp>
    </p:spTree>
    <p:extLst>
      <p:ext uri="{BB962C8B-B14F-4D97-AF65-F5344CB8AC3E}">
        <p14:creationId xmlns:p14="http://schemas.microsoft.com/office/powerpoint/2010/main" val="41872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4A331-F802-10B8-1317-F35DE85C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sz="3700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The Appeal of Complex Solutions</a:t>
            </a:r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Sterne mit einfarbiger Füllung">
            <a:extLst>
              <a:ext uri="{FF2B5EF4-FFF2-40B4-BE49-F238E27FC236}">
                <a16:creationId xmlns:a16="http://schemas.microsoft.com/office/drawing/2014/main" id="{4DDD6870-09D7-C6EC-5D6F-5EF08E909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148" y="1820334"/>
            <a:ext cx="3217333" cy="3217333"/>
          </a:xfrm>
          <a:prstGeom prst="rect">
            <a:avLst/>
          </a:prstGeom>
        </p:spPr>
      </p:pic>
      <p:grpSp>
        <p:nvGrpSpPr>
          <p:cNvPr id="29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3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E356-84EB-F838-43AE-958457CF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783" y="1747592"/>
            <a:ext cx="5217173" cy="435133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Professional appearance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More options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Fear of missing features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Marketing influence</a:t>
            </a:r>
          </a:p>
        </p:txBody>
      </p:sp>
    </p:spTree>
    <p:extLst>
      <p:ext uri="{BB962C8B-B14F-4D97-AF65-F5344CB8AC3E}">
        <p14:creationId xmlns:p14="http://schemas.microsoft.com/office/powerpoint/2010/main" val="129370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1BCBCF-3963-E2C4-38C0-762E9FE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361" y="484348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Hidden Costs</a:t>
            </a:r>
          </a:p>
        </p:txBody>
      </p:sp>
      <p:grpSp>
        <p:nvGrpSpPr>
          <p:cNvPr id="21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Warnung mit einfarbiger Füllung">
            <a:extLst>
              <a:ext uri="{FF2B5EF4-FFF2-40B4-BE49-F238E27FC236}">
                <a16:creationId xmlns:a16="http://schemas.microsoft.com/office/drawing/2014/main" id="{9EDE878E-6686-9A5A-2F7A-1229777A3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0037" y="1534875"/>
            <a:ext cx="3217333" cy="3217333"/>
          </a:xfrm>
          <a:prstGeom prst="rect">
            <a:avLst/>
          </a:prstGeom>
        </p:spPr>
      </p:pic>
      <p:grpSp>
        <p:nvGrpSpPr>
          <p:cNvPr id="29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3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55918-F190-B889-D878-231F5528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360" y="1835823"/>
            <a:ext cx="5217173" cy="4351338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Steep learning curve</a:t>
            </a:r>
          </a:p>
          <a:p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Higher error risk</a:t>
            </a:r>
          </a:p>
          <a:p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Difficult maintenance</a:t>
            </a:r>
          </a:p>
          <a:p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Time consumption </a:t>
            </a:r>
          </a:p>
        </p:txBody>
      </p:sp>
    </p:spTree>
    <p:extLst>
      <p:ext uri="{BB962C8B-B14F-4D97-AF65-F5344CB8AC3E}">
        <p14:creationId xmlns:p14="http://schemas.microsoft.com/office/powerpoint/2010/main" val="183413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fik 4" descr="Abzeichen Tick1 mit einfarbiger Füllung">
            <a:extLst>
              <a:ext uri="{FF2B5EF4-FFF2-40B4-BE49-F238E27FC236}">
                <a16:creationId xmlns:a16="http://schemas.microsoft.com/office/drawing/2014/main" id="{E248140D-811B-9817-2558-437204891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0383" y="3104705"/>
            <a:ext cx="3217333" cy="3217333"/>
          </a:xfrm>
          <a:prstGeom prst="rect">
            <a:avLst/>
          </a:prstGeom>
        </p:spPr>
      </p:pic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5092E2-145F-5019-F8C0-28E45448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Strengths of Simple Solutions</a:t>
            </a:r>
          </a:p>
        </p:txBody>
      </p:sp>
      <p:grpSp>
        <p:nvGrpSpPr>
          <p:cNvPr id="215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0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5CF6D8-6900-9896-CA5B-BB5AD953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Clear goals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Frequent use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Fast learning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High reliability</a:t>
            </a:r>
          </a:p>
        </p:txBody>
      </p:sp>
    </p:spTree>
    <p:extLst>
      <p:ext uri="{BB962C8B-B14F-4D97-AF65-F5344CB8AC3E}">
        <p14:creationId xmlns:p14="http://schemas.microsoft.com/office/powerpoint/2010/main" val="372285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009106-621E-DCCB-04AB-0E31EB62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sz="3700" noProof="0" dirty="0">
                <a:solidFill>
                  <a:schemeClr val="bg1"/>
                </a:solidFill>
                <a:latin typeface="Bahnschrift" panose="020B0502040204020203" pitchFamily="34" charset="0"/>
              </a:rPr>
              <a:t>When Simple Is Not Enough</a:t>
            </a: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747482-D92F-07CE-34B9-F388C56B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Large Systems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Special requirements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Many users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Long-term scaling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26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7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5" name="Grafik 4" descr="Hierarchie mit einfarbiger Füllung">
            <a:extLst>
              <a:ext uri="{FF2B5EF4-FFF2-40B4-BE49-F238E27FC236}">
                <a16:creationId xmlns:a16="http://schemas.microsoft.com/office/drawing/2014/main" id="{25CA7834-DED9-FA7A-164D-76C16DE66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0513" y="2128310"/>
            <a:ext cx="3217333" cy="3217333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34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5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0991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fik 4" descr="Kompass mit einfarbiger Füllung">
            <a:extLst>
              <a:ext uri="{FF2B5EF4-FFF2-40B4-BE49-F238E27FC236}">
                <a16:creationId xmlns:a16="http://schemas.microsoft.com/office/drawing/2014/main" id="{A13B5C04-7FEF-3475-BA7C-EB00FF6DB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3299" y="2938322"/>
            <a:ext cx="3217333" cy="321733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E5BCCD-8967-31A7-2B33-15CD8A083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Making the Decision</a:t>
            </a:r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144F2F-E55A-05A1-A0E0-ED63ECC1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Real requirements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Usage frequency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Failure impact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Maintenance effort</a:t>
            </a:r>
          </a:p>
        </p:txBody>
      </p:sp>
    </p:spTree>
    <p:extLst>
      <p:ext uri="{BB962C8B-B14F-4D97-AF65-F5344CB8AC3E}">
        <p14:creationId xmlns:p14="http://schemas.microsoft.com/office/powerpoint/2010/main" val="429404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A8533D-5F1E-6836-5C46-EBB64127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Final Thoughts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Grafik 4" descr="Volltreffer mit einfarbiger Füllung">
            <a:extLst>
              <a:ext uri="{FF2B5EF4-FFF2-40B4-BE49-F238E27FC236}">
                <a16:creationId xmlns:a16="http://schemas.microsoft.com/office/drawing/2014/main" id="{9515A4F1-826A-7428-0EB9-EE5F8F8CF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9077" y="1864214"/>
            <a:ext cx="3217333" cy="321733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0E0B44-12D1-1964-EFA4-640E7EFB5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Complexity ≠ quality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Simplicity ≠ weakness</a:t>
            </a:r>
          </a:p>
          <a:p>
            <a:r>
              <a:rPr lang="en-US" noProof="0">
                <a:solidFill>
                  <a:schemeClr val="bg1"/>
                </a:solidFill>
                <a:latin typeface="Bahnschrift" panose="020B0502040204020203" pitchFamily="34" charset="0"/>
              </a:rPr>
              <a:t>Fit over features</a:t>
            </a: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814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Breitbild</PresentationFormat>
  <Paragraphs>53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Bahnschrift</vt:lpstr>
      <vt:lpstr>Office</vt:lpstr>
      <vt:lpstr>Why Simple Solutions Often Work Better Than Complex Ones</vt:lpstr>
      <vt:lpstr>Understanding Complexity</vt:lpstr>
      <vt:lpstr>The Appeal of Complex Solutions</vt:lpstr>
      <vt:lpstr>Hidden Costs</vt:lpstr>
      <vt:lpstr>Strengths of Simple Solutions</vt:lpstr>
      <vt:lpstr>When Simple Is Not Enough</vt:lpstr>
      <vt:lpstr>Making the Decision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Bosshard</dc:creator>
  <cp:lastModifiedBy>Matteo Bosshard</cp:lastModifiedBy>
  <cp:revision>10</cp:revision>
  <dcterms:created xsi:type="dcterms:W3CDTF">2026-01-04T07:02:43Z</dcterms:created>
  <dcterms:modified xsi:type="dcterms:W3CDTF">2026-01-04T07:59:55Z</dcterms:modified>
</cp:coreProperties>
</file>