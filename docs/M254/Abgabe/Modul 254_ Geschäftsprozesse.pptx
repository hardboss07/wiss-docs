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Inter" panose="02000503000000020004"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560" autoAdjust="0"/>
  </p:normalViewPr>
  <p:slideViewPr>
    <p:cSldViewPr snapToGrid="0">
      <p:cViewPr>
        <p:scale>
          <a:sx n="51" d="100"/>
          <a:sy n="51" d="100"/>
        </p:scale>
        <p:origin x="1232" y="6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"Guten Tag zusammen und herzlich willkommen zu meiner Abschlusspräsentation für das Modul 254. Ich werde euch in den nächsten acht Minuten eine Zusammenfassung meiner Gesamtdokumentation präsentieren. Darin zeige ich auf, wie ich die theoretischen Konzepte der Prozess- und Betriebsorganisation praktisch angewendet habe – und zwar anhand von zwei verschiedenen Projekten, die mich durch dieses Modul begleitet haben."</a:t>
            </a:r>
          </a:p>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"Hier ist ein kurzer Überblick über meine Agenda. Ich starte mit der Ausgangslage und zeige euch dann die Aufbauorganisation meines Begleitprojekts. Danach wechseln wir zur Prozessanalyse und Optimierung bei der </a:t>
            </a:r>
            <a:r>
              <a:rPr lang="de-CH" sz="1100" b="0" i="0" u="none" strike="noStrike" cap="none" dirty="0" err="1">
                <a:solidFill>
                  <a:srgbClr val="000000"/>
                </a:solidFill>
                <a:effectLst/>
                <a:latin typeface="Arial"/>
                <a:ea typeface="Arial"/>
                <a:cs typeface="Arial"/>
                <a:sym typeface="Arial"/>
              </a:rPr>
              <a:t>Topomedics</a:t>
            </a:r>
            <a:r>
              <a:rPr lang="de-CH" sz="1100" b="0" i="0" u="none" strike="noStrike" cap="none" dirty="0">
                <a:solidFill>
                  <a:srgbClr val="000000"/>
                </a:solidFill>
                <a:effectLst/>
                <a:latin typeface="Arial"/>
                <a:ea typeface="Arial"/>
                <a:cs typeface="Arial"/>
                <a:sym typeface="Arial"/>
              </a:rPr>
              <a:t> AG. Anschliessend zeige ich euch verschiedene Modellierungsmethoden wie EPK, UML und </a:t>
            </a:r>
            <a:r>
              <a:rPr lang="de-CH" sz="1100" b="0" i="0" u="none" strike="noStrike" cap="none" dirty="0" err="1">
                <a:solidFill>
                  <a:srgbClr val="000000"/>
                </a:solidFill>
                <a:effectLst/>
                <a:latin typeface="Arial"/>
                <a:ea typeface="Arial"/>
                <a:cs typeface="Arial"/>
                <a:sym typeface="Arial"/>
              </a:rPr>
              <a:t>Swimlanes</a:t>
            </a:r>
            <a:r>
              <a:rPr lang="de-CH" sz="1100" b="0" i="0" u="none" strike="noStrike" cap="none" dirty="0">
                <a:solidFill>
                  <a:srgbClr val="000000"/>
                </a:solidFill>
                <a:effectLst/>
                <a:latin typeface="Arial"/>
                <a:ea typeface="Arial"/>
                <a:cs typeface="Arial"/>
                <a:sym typeface="Arial"/>
              </a:rPr>
              <a:t>, die ich in der Dokumentation erarbeitet habe, bevor ich mit einem kurzen Fazit abschliesse."</a:t>
            </a:r>
          </a:p>
          <a:p>
            <a:pPr marL="0" lvl="0" indent="0" algn="l" rtl="0">
              <a:spcBef>
                <a:spcPts val="0"/>
              </a:spcBef>
              <a:spcAft>
                <a:spcPts val="0"/>
              </a:spcAft>
              <a:buNone/>
            </a:pPr>
            <a:endParaRPr dirty="0"/>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"Um die Lernziele des Moduls optimal abzudecken, habe ich meine Dokumentation in zwei Welten aufgeteilt. Auf der einen Seite habe ich mein eigenes Softwareprojekt '</a:t>
            </a:r>
            <a:r>
              <a:rPr lang="de-CH" sz="1100" b="0" i="0" u="none" strike="noStrike" cap="none" dirty="0" err="1">
                <a:solidFill>
                  <a:srgbClr val="000000"/>
                </a:solidFill>
                <a:effectLst/>
                <a:latin typeface="Arial"/>
                <a:ea typeface="Arial"/>
                <a:cs typeface="Arial"/>
                <a:sym typeface="Arial"/>
              </a:rPr>
              <a:t>TimeTrack</a:t>
            </a:r>
            <a:r>
              <a:rPr lang="de-CH" sz="1100" b="0" i="0" u="none" strike="noStrike" cap="none" dirty="0">
                <a:solidFill>
                  <a:srgbClr val="000000"/>
                </a:solidFill>
                <a:effectLst/>
                <a:latin typeface="Arial"/>
                <a:ea typeface="Arial"/>
                <a:cs typeface="Arial"/>
                <a:sym typeface="Arial"/>
              </a:rPr>
              <a:t> Pro' – eine Zeiterfassungs-App. Hier lag mein Fokus vor allem auf der Aufbauorganisation und den Systemprozessen. Auf der anderen Seite haben wir die Fallstudie der '</a:t>
            </a:r>
            <a:r>
              <a:rPr lang="de-CH" sz="1100" b="0" i="0" u="none" strike="noStrike" cap="none" dirty="0" err="1">
                <a:solidFill>
                  <a:srgbClr val="000000"/>
                </a:solidFill>
                <a:effectLst/>
                <a:latin typeface="Arial"/>
                <a:ea typeface="Arial"/>
                <a:cs typeface="Arial"/>
                <a:sym typeface="Arial"/>
              </a:rPr>
              <a:t>Topomedics</a:t>
            </a:r>
            <a:r>
              <a:rPr lang="de-CH" sz="1100" b="0" i="0" u="none" strike="noStrike" cap="none" dirty="0">
                <a:solidFill>
                  <a:srgbClr val="000000"/>
                </a:solidFill>
                <a:effectLst/>
                <a:latin typeface="Arial"/>
                <a:ea typeface="Arial"/>
                <a:cs typeface="Arial"/>
                <a:sym typeface="Arial"/>
              </a:rPr>
              <a:t> AG', ein globaler Medizintechnik-Hersteller. Anhand dieses Unternehmens habe ich primär die Ablauforganisation, die Prozessoptimierung und die Schnittstellen modelliert."</a:t>
            </a:r>
          </a:p>
          <a:p>
            <a:pPr marL="0" lvl="0" indent="0" algn="l" rtl="0">
              <a:spcBef>
                <a:spcPts val="0"/>
              </a:spcBef>
              <a:spcAft>
                <a:spcPts val="0"/>
              </a:spcAft>
              <a:buNone/>
            </a:pPr>
            <a:endParaRPr dirty="0"/>
          </a:p>
        </p:txBody>
      </p:sp>
      <p:sp>
        <p:nvSpPr>
          <p:cNvPr id="120" name="Google Shape;12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"Beginnen wir mit der Aufbauorganisation für </a:t>
            </a:r>
            <a:r>
              <a:rPr lang="de-CH" sz="1100" b="0" i="0" u="none" strike="noStrike" cap="none" dirty="0" err="1">
                <a:solidFill>
                  <a:srgbClr val="000000"/>
                </a:solidFill>
                <a:effectLst/>
                <a:latin typeface="Arial"/>
                <a:ea typeface="Arial"/>
                <a:cs typeface="Arial"/>
                <a:sym typeface="Arial"/>
              </a:rPr>
              <a:t>TimeTrack</a:t>
            </a:r>
            <a:r>
              <a:rPr lang="de-CH" sz="1100" b="0" i="0" u="none" strike="noStrike" cap="none" dirty="0">
                <a:solidFill>
                  <a:srgbClr val="000000"/>
                </a:solidFill>
                <a:effectLst/>
                <a:latin typeface="Arial"/>
                <a:ea typeface="Arial"/>
                <a:cs typeface="Arial"/>
                <a:sym typeface="Arial"/>
              </a:rPr>
              <a:t> Pro. Ich habe mich hier für eine Stab-Linien-Organisation entschieden. Warum? Weil das Projekt klare Dienstwege von der Projektleitung zu den Frontend- und Backend-Entwicklern erfordert, aber gleichzeitig hohe Ansprüche an Code-Qualität und Datenschutz stellt. Dafür wurde das Qualitätsmanagement als Stabsstelle integriert. So haben wir Zugriff auf Expertenwissen und Beratung, ohne die direkten Entscheidungswege der Linie zu verlangsamen."</a:t>
            </a:r>
          </a:p>
          <a:p>
            <a:pPr marL="0" lvl="0" indent="0" algn="l" rtl="0">
              <a:spcBef>
                <a:spcPts val="0"/>
              </a:spcBef>
              <a:spcAft>
                <a:spcPts val="0"/>
              </a:spcAft>
              <a:buNone/>
            </a:pPr>
            <a:endParaRPr dirty="0"/>
          </a:p>
        </p:txBody>
      </p:sp>
      <p:sp>
        <p:nvSpPr>
          <p:cNvPr id="138" name="Google Shape;13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Um dieses Sparpotenzial zu nutzen, habe ich einen optimierten Prozess entworfen: Die Einführung eines Self-Service Webshops mit direkter ERP-Kopplung. Der Kunde erfasst seine Daten selbst, die Lagerprüfung erfolgt automatisiert und Schnittstellen-Fehler werden eliminiert."</a:t>
            </a:r>
          </a:p>
          <a:p>
            <a:pPr marL="0" lvl="0" indent="0" algn="l" rtl="0">
              <a:spcBef>
                <a:spcPts val="0"/>
              </a:spcBef>
              <a:spcAft>
                <a:spcPts val="0"/>
              </a:spcAft>
              <a:buNone/>
            </a:pPr>
            <a:endParaRPr dirty="0"/>
          </a:p>
        </p:txBody>
      </p:sp>
      <p:sp>
        <p:nvSpPr>
          <p:cNvPr id="152" name="Google Shape;15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"Um Geschäftsprozesse nicht nur zu beschreiben, sondern auch technisch umsetzbar zu machen, habe ich in der Dokumentation verschiedene Modellierungssprachen angewendet. Für Systemlogiken, wie den Monatsabschluss in </a:t>
            </a:r>
            <a:r>
              <a:rPr lang="de-CH" sz="1100" b="0" i="0" u="none" strike="noStrike" cap="none" dirty="0" err="1">
                <a:solidFill>
                  <a:srgbClr val="000000"/>
                </a:solidFill>
                <a:effectLst/>
                <a:latin typeface="Arial"/>
                <a:ea typeface="Arial"/>
                <a:cs typeface="Arial"/>
                <a:sym typeface="Arial"/>
              </a:rPr>
              <a:t>TimeTrack</a:t>
            </a:r>
            <a:r>
              <a:rPr lang="de-CH" sz="1100" b="0" i="0" u="none" strike="noStrike" cap="none" dirty="0">
                <a:solidFill>
                  <a:srgbClr val="000000"/>
                </a:solidFill>
                <a:effectLst/>
                <a:latin typeface="Arial"/>
                <a:ea typeface="Arial"/>
                <a:cs typeface="Arial"/>
                <a:sym typeface="Arial"/>
              </a:rPr>
              <a:t> Pro, habe ich detaillierte Flussdiagramme erstellt.</a:t>
            </a:r>
          </a:p>
          <a:p>
            <a:pPr marL="0" lvl="0" indent="0" algn="l" rtl="0">
              <a:spcBef>
                <a:spcPts val="0"/>
              </a:spcBef>
              <a:spcAft>
                <a:spcPts val="0"/>
              </a:spcAft>
              <a:buNone/>
            </a:pPr>
            <a:endParaRPr dirty="0"/>
          </a:p>
        </p:txBody>
      </p:sp>
      <p:sp>
        <p:nvSpPr>
          <p:cNvPr id="164" name="Google Shape;16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Den wichtigsten Kernprozess – den Webshop-Verkauf – habe ich dann mit einem UML Use-Case-Diagramm detailliert. Dieses Diagramm, das ihr hier seht, ist ideal für das </a:t>
            </a:r>
            <a:r>
              <a:rPr lang="de-CH" sz="1100" b="0" i="0" u="none" strike="noStrike" cap="none" dirty="0" err="1">
                <a:solidFill>
                  <a:srgbClr val="000000"/>
                </a:solidFill>
                <a:effectLst/>
                <a:latin typeface="Arial"/>
                <a:ea typeface="Arial"/>
                <a:cs typeface="Arial"/>
                <a:sym typeface="Arial"/>
              </a:rPr>
              <a:t>Requirements</a:t>
            </a:r>
            <a:r>
              <a:rPr lang="de-CH" sz="1100" b="0" i="0" u="none" strike="noStrike" cap="none" dirty="0">
                <a:solidFill>
                  <a:srgbClr val="000000"/>
                </a:solidFill>
                <a:effectLst/>
                <a:latin typeface="Arial"/>
                <a:ea typeface="Arial"/>
                <a:cs typeface="Arial"/>
                <a:sym typeface="Arial"/>
              </a:rPr>
              <a:t> Engineering. Es zeigt nicht, </a:t>
            </a:r>
            <a:r>
              <a:rPr lang="de-CH" sz="1100" b="0" i="1" u="none" strike="noStrike" cap="none" dirty="0">
                <a:solidFill>
                  <a:srgbClr val="000000"/>
                </a:solidFill>
                <a:effectLst/>
                <a:latin typeface="Arial"/>
                <a:ea typeface="Arial"/>
                <a:cs typeface="Arial"/>
                <a:sym typeface="Arial"/>
              </a:rPr>
              <a:t>_wie_</a:t>
            </a:r>
            <a:r>
              <a:rPr lang="de-CH" sz="1100" b="0" i="0" u="none" strike="noStrike" cap="none" dirty="0">
                <a:solidFill>
                  <a:srgbClr val="000000"/>
                </a:solidFill>
                <a:effectLst/>
                <a:latin typeface="Arial"/>
                <a:ea typeface="Arial"/>
                <a:cs typeface="Arial"/>
                <a:sym typeface="Arial"/>
              </a:rPr>
              <a:t> der Code funktioniert, sondern </a:t>
            </a:r>
            <a:r>
              <a:rPr lang="de-CH" sz="1100" b="0" i="1" u="none" strike="noStrike" cap="none" dirty="0">
                <a:solidFill>
                  <a:srgbClr val="000000"/>
                </a:solidFill>
                <a:effectLst/>
                <a:latin typeface="Arial"/>
                <a:ea typeface="Arial"/>
                <a:cs typeface="Arial"/>
                <a:sym typeface="Arial"/>
              </a:rPr>
              <a:t>_was_</a:t>
            </a:r>
            <a:r>
              <a:rPr lang="de-CH" sz="1100" b="0" i="0" u="none" strike="noStrike" cap="none" dirty="0">
                <a:solidFill>
                  <a:srgbClr val="000000"/>
                </a:solidFill>
                <a:effectLst/>
                <a:latin typeface="Arial"/>
                <a:ea typeface="Arial"/>
                <a:cs typeface="Arial"/>
                <a:sym typeface="Arial"/>
              </a:rPr>
              <a:t> das System tun muss. Wir sehen die Akteure – also den Kunden und die Buchhaltung – und ihre Interaktionen mit der Systemgrenze, inklusive der `</a:t>
            </a:r>
            <a:r>
              <a:rPr lang="de-CH" sz="1100" b="0" i="0" u="none" strike="noStrike" cap="none" dirty="0" err="1">
                <a:solidFill>
                  <a:srgbClr val="000000"/>
                </a:solidFill>
                <a:effectLst/>
                <a:latin typeface="Arial"/>
                <a:ea typeface="Arial"/>
                <a:cs typeface="Arial"/>
                <a:sym typeface="Arial"/>
              </a:rPr>
              <a:t>include</a:t>
            </a:r>
            <a:r>
              <a:rPr lang="de-CH" sz="1100" b="0" i="0" u="none" strike="noStrike" cap="none" dirty="0">
                <a:solidFill>
                  <a:srgbClr val="000000"/>
                </a:solidFill>
                <a:effectLst/>
                <a:latin typeface="Arial"/>
                <a:ea typeface="Arial"/>
                <a:cs typeface="Arial"/>
                <a:sym typeface="Arial"/>
              </a:rPr>
              <a:t>`-Abhängigkeiten wie der Verfügbarkeitsprüfung."</a:t>
            </a:r>
          </a:p>
          <a:p>
            <a:pPr marL="0" lvl="0" indent="0" algn="l" rtl="0">
              <a:spcBef>
                <a:spcPts val="0"/>
              </a:spcBef>
              <a:spcAft>
                <a:spcPts val="0"/>
              </a:spcAft>
              <a:buNone/>
            </a:pPr>
            <a:endParaRPr dirty="0"/>
          </a:p>
        </p:txBody>
      </p:sp>
      <p:sp>
        <p:nvSpPr>
          <p:cNvPr id="178" name="Google Shape;17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de-CH" sz="1100" b="0" i="0" u="none" strike="noStrike" cap="none" dirty="0">
                <a:solidFill>
                  <a:srgbClr val="000000"/>
                </a:solidFill>
                <a:effectLst/>
                <a:latin typeface="Arial"/>
                <a:ea typeface="Arial"/>
                <a:cs typeface="Arial"/>
                <a:sym typeface="Arial"/>
              </a:rPr>
              <a:t>"Die Königsdisziplin der Prozessdokumentation war für mich das </a:t>
            </a:r>
            <a:r>
              <a:rPr lang="de-CH" sz="1100" b="0" i="0" u="none" strike="noStrike" cap="none" dirty="0" err="1">
                <a:solidFill>
                  <a:srgbClr val="000000"/>
                </a:solidFill>
                <a:effectLst/>
                <a:latin typeface="Arial"/>
                <a:ea typeface="Arial"/>
                <a:cs typeface="Arial"/>
                <a:sym typeface="Arial"/>
              </a:rPr>
              <a:t>Swimlane</a:t>
            </a:r>
            <a:r>
              <a:rPr lang="de-CH" sz="1100" b="0" i="0" u="none" strike="noStrike" cap="none" dirty="0">
                <a:solidFill>
                  <a:srgbClr val="000000"/>
                </a:solidFill>
                <a:effectLst/>
                <a:latin typeface="Arial"/>
                <a:ea typeface="Arial"/>
                <a:cs typeface="Arial"/>
                <a:sym typeface="Arial"/>
              </a:rPr>
              <a:t>-Aktivitätendiagramm für den 'Order-</a:t>
            </a:r>
            <a:r>
              <a:rPr lang="de-CH" sz="1100" b="0" i="0" u="none" strike="noStrike" cap="none" dirty="0" err="1">
                <a:solidFill>
                  <a:srgbClr val="000000"/>
                </a:solidFill>
                <a:effectLst/>
                <a:latin typeface="Arial"/>
                <a:ea typeface="Arial"/>
                <a:cs typeface="Arial"/>
                <a:sym typeface="Arial"/>
              </a:rPr>
              <a:t>to</a:t>
            </a:r>
            <a:r>
              <a:rPr lang="de-CH" sz="1100" b="0" i="0" u="none" strike="noStrike" cap="none" dirty="0">
                <a:solidFill>
                  <a:srgbClr val="000000"/>
                </a:solidFill>
                <a:effectLst/>
                <a:latin typeface="Arial"/>
                <a:ea typeface="Arial"/>
                <a:cs typeface="Arial"/>
                <a:sym typeface="Arial"/>
              </a:rPr>
              <a:t>-</a:t>
            </a:r>
            <a:r>
              <a:rPr lang="de-CH" sz="1100" b="0" i="0" u="none" strike="noStrike" cap="none" dirty="0" err="1">
                <a:solidFill>
                  <a:srgbClr val="000000"/>
                </a:solidFill>
                <a:effectLst/>
                <a:latin typeface="Arial"/>
                <a:ea typeface="Arial"/>
                <a:cs typeface="Arial"/>
                <a:sym typeface="Arial"/>
              </a:rPr>
              <a:t>Production</a:t>
            </a:r>
            <a:r>
              <a:rPr lang="de-CH" sz="1100" b="0" i="0" u="none" strike="noStrike" cap="none" dirty="0">
                <a:solidFill>
                  <a:srgbClr val="000000"/>
                </a:solidFill>
                <a:effectLst/>
                <a:latin typeface="Arial"/>
                <a:ea typeface="Arial"/>
                <a:cs typeface="Arial"/>
                <a:sym typeface="Arial"/>
              </a:rPr>
              <a:t>'-Prozess. Die Darstellung in Bahnen, also </a:t>
            </a:r>
            <a:r>
              <a:rPr lang="de-CH" sz="1100" b="0" i="0" u="none" strike="noStrike" cap="none" dirty="0" err="1">
                <a:solidFill>
                  <a:srgbClr val="000000"/>
                </a:solidFill>
                <a:effectLst/>
                <a:latin typeface="Arial"/>
                <a:ea typeface="Arial"/>
                <a:cs typeface="Arial"/>
                <a:sym typeface="Arial"/>
              </a:rPr>
              <a:t>Swimlanes</a:t>
            </a:r>
            <a:r>
              <a:rPr lang="de-CH" sz="1100" b="0" i="0" u="none" strike="noStrike" cap="none" dirty="0">
                <a:solidFill>
                  <a:srgbClr val="000000"/>
                </a:solidFill>
                <a:effectLst/>
                <a:latin typeface="Arial"/>
                <a:ea typeface="Arial"/>
                <a:cs typeface="Arial"/>
                <a:sym typeface="Arial"/>
              </a:rPr>
              <a:t>, macht auf einen Blick sichtbar, wer wo zuständig ist. Besonders wichtig war hier die Definition der Schnittstellen, da diese oft Fehlerquellen sind. Wir sehen hier links die organisatorische Mensch-Maschine-Schnittstelle, wenn der Kunde das GUI bedient. In der Mitte und rechts finden die technischen Maschine-Maschine-Schnittstellen statt, zum Beispiel wenn der Webshop das Order-JSON über eine REST-API an die ERP-Datenbank übergibt."</a:t>
            </a:r>
          </a:p>
          <a:p>
            <a:pPr marL="0" lvl="0" indent="0" algn="l" rtl="0">
              <a:spcBef>
                <a:spcPts val="0"/>
              </a:spcBef>
              <a:spcAft>
                <a:spcPts val="0"/>
              </a:spcAft>
              <a:buNone/>
            </a:pPr>
            <a:endParaRPr dirty="0"/>
          </a:p>
        </p:txBody>
      </p:sp>
      <p:sp>
        <p:nvSpPr>
          <p:cNvPr id="191" name="Google Shape;19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"Damit komme ich zum Fazit meiner Dokumentation. Die wichtigste Erkenntnis für mich war: Prozesse sind das absolute Rückgrat der Digitalisierung. Es bringt nichts, einen schlechten Prozess einfach in eine Software zu giessen – man muss ihn vorher analysieren und bereinigen. Saubere Dokumentationswerkzeuge wie UML, Flussdiagramme oder EPKs sind dabei unverzichtbar, um Schnittstellen sicher zu planen und Medienbrüche zu vermeiden.</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de-CH" sz="1100" b="0" i="0" u="none" strike="noStrike" cap="none" dirty="0">
                <a:solidFill>
                  <a:srgbClr val="000000"/>
                </a:solidFill>
                <a:effectLst/>
                <a:latin typeface="Arial"/>
                <a:ea typeface="Arial"/>
                <a:cs typeface="Arial"/>
                <a:sym typeface="Arial"/>
              </a:rPr>
              <a:t>Ich bedanke mich für eure Aufmerksamkeit. Gibt es noch Fragen zu meiner Dokumentation oder den Modellen?"</a:t>
            </a:r>
          </a:p>
          <a:p>
            <a:pPr marL="0" lvl="0" indent="0" algn="l" rtl="0">
              <a:spcBef>
                <a:spcPts val="0"/>
              </a:spcBef>
              <a:spcAft>
                <a:spcPts val="0"/>
              </a:spcAft>
              <a:buNone/>
            </a:pPr>
            <a:endParaRPr dirty="0"/>
          </a:p>
        </p:txBody>
      </p:sp>
      <p:sp>
        <p:nvSpPr>
          <p:cNvPr id="204" name="Google Shape;20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1371600" y="2019300"/>
            <a:ext cx="10601325" cy="1858201"/>
          </a:xfrm>
          <a:prstGeom prst="rect">
            <a:avLst/>
          </a:prstGeom>
          <a:noFill/>
          <a:ln>
            <a:noFill/>
          </a:ln>
        </p:spPr>
        <p:txBody>
          <a:bodyPr spcFirstLastPara="1" wrap="square" lIns="0" tIns="0" rIns="0" bIns="0" anchor="t" anchorCtr="0">
            <a:spAutoFit/>
          </a:bodyPr>
          <a:lstStyle/>
          <a:p>
            <a:pPr marL="0" marR="0" lvl="0" indent="0" algn="l" rtl="0">
              <a:lnSpc>
                <a:spcPct val="114990"/>
              </a:lnSpc>
              <a:spcBef>
                <a:spcPts val="0"/>
              </a:spcBef>
              <a:spcAft>
                <a:spcPts val="0"/>
              </a:spcAft>
              <a:buNone/>
            </a:pPr>
            <a:r>
              <a:rPr lang="de-CH" sz="525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Modul 254: Geschäftsprozesse</a:t>
            </a:r>
            <a:br>
              <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rPr>
            </a:br>
            <a:r>
              <a:rPr lang="de-CH" sz="525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 beschreiben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86" name="Google Shape;86;p13"/>
          <p:cNvSpPr txBox="1"/>
          <p:nvPr/>
        </p:nvSpPr>
        <p:spPr>
          <a:xfrm>
            <a:off x="1371600" y="3790950"/>
            <a:ext cx="10096500"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250" b="0" i="0" u="none" strike="noStrike" cap="none" noProof="0" dirty="0">
                <a:solidFill>
                  <a:srgbClr val="475569"/>
                </a:solidFill>
                <a:latin typeface="Inter" panose="02000503000000020004" pitchFamily="2" charset="0"/>
                <a:ea typeface="Inter" panose="02000503000000020004" pitchFamily="2" charset="0"/>
                <a:cs typeface="Inter" panose="02000503000000020004" pitchFamily="2" charset="0"/>
                <a:sym typeface="Inter Medium"/>
              </a:rPr>
              <a:t>Zusammenfassung der Projektdokumentation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87" name="Google Shape;87;p13"/>
          <p:cNvSpPr txBox="1"/>
          <p:nvPr/>
        </p:nvSpPr>
        <p:spPr>
          <a:xfrm>
            <a:off x="1371600" y="4419600"/>
            <a:ext cx="10096500"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1800" b="0"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Inter SemiBold"/>
              </a:rPr>
              <a:t>Matteo Bosshard</a:t>
            </a:r>
            <a:endParaRPr lang="de-CH" noProof="0" dirty="0">
              <a:latin typeface="Inter" panose="02000503000000020004" pitchFamily="2" charset="0"/>
              <a:ea typeface="Inter" panose="02000503000000020004" pitchFamily="2" charset="0"/>
              <a:cs typeface="Inter" panose="02000503000000020004"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3" name="Google Shape;93;p14"/>
          <p:cNvSpPr/>
          <p:nvPr/>
        </p:nvSpPr>
        <p:spPr>
          <a:xfrm>
            <a:off x="571500" y="2695575"/>
            <a:ext cx="5334000" cy="685800"/>
          </a:xfrm>
          <a:prstGeom prst="roundRect">
            <a:avLst>
              <a:gd name="adj" fmla="val 1944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94" name="Google Shape;94;p14"/>
          <p:cNvSpPr txBox="1"/>
          <p:nvPr/>
        </p:nvSpPr>
        <p:spPr>
          <a:xfrm>
            <a:off x="857250" y="2935713"/>
            <a:ext cx="3714750" cy="25391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de-CH" sz="1650" b="0" i="0" u="none" strike="noStrike" cap="none" noProof="0" dirty="0">
                <a:solidFill>
                  <a:srgbClr val="1E293B"/>
                </a:solidFill>
                <a:latin typeface="Inter" panose="02000503000000020004" pitchFamily="2" charset="0"/>
                <a:ea typeface="Inter" panose="02000503000000020004" pitchFamily="2" charset="0"/>
                <a:cs typeface="Inter" panose="02000503000000020004" pitchFamily="2" charset="0"/>
                <a:sym typeface="Inter SemiBold"/>
              </a:rPr>
              <a:t>1. Die zwei Projektwelten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95" name="Google Shape;95;p14"/>
          <p:cNvSpPr/>
          <p:nvPr/>
        </p:nvSpPr>
        <p:spPr>
          <a:xfrm>
            <a:off x="6286500" y="2695575"/>
            <a:ext cx="5334000" cy="685800"/>
          </a:xfrm>
          <a:prstGeom prst="roundRect">
            <a:avLst>
              <a:gd name="adj" fmla="val 1944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96" name="Google Shape;96;p14"/>
          <p:cNvSpPr txBox="1"/>
          <p:nvPr/>
        </p:nvSpPr>
        <p:spPr>
          <a:xfrm>
            <a:off x="6619103" y="2935713"/>
            <a:ext cx="3714750" cy="25391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de-CH" sz="1650" b="0" i="0" u="none" strike="noStrike" cap="none" noProof="0" dirty="0">
                <a:solidFill>
                  <a:srgbClr val="1E293B"/>
                </a:solidFill>
                <a:latin typeface="Inter" panose="02000503000000020004" pitchFamily="2" charset="0"/>
                <a:ea typeface="Inter" panose="02000503000000020004" pitchFamily="2" charset="0"/>
                <a:cs typeface="Inter" panose="02000503000000020004" pitchFamily="2" charset="0"/>
                <a:sym typeface="Inter SemiBold"/>
              </a:rPr>
              <a:t>2. Aufbauorganisation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97" name="Google Shape;97;p14"/>
          <p:cNvSpPr/>
          <p:nvPr/>
        </p:nvSpPr>
        <p:spPr>
          <a:xfrm>
            <a:off x="571500" y="3619500"/>
            <a:ext cx="5334000" cy="685800"/>
          </a:xfrm>
          <a:prstGeom prst="roundRect">
            <a:avLst>
              <a:gd name="adj" fmla="val 1944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98" name="Google Shape;98;p14"/>
          <p:cNvSpPr txBox="1"/>
          <p:nvPr/>
        </p:nvSpPr>
        <p:spPr>
          <a:xfrm>
            <a:off x="857250" y="3859638"/>
            <a:ext cx="3714750" cy="25391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de-CH" sz="1650" b="0" i="0" u="none" strike="noStrike" cap="none" noProof="0" dirty="0">
                <a:solidFill>
                  <a:srgbClr val="1E293B"/>
                </a:solidFill>
                <a:latin typeface="Inter" panose="02000503000000020004" pitchFamily="2" charset="0"/>
                <a:ea typeface="Inter" panose="02000503000000020004" pitchFamily="2" charset="0"/>
                <a:cs typeface="Inter" panose="02000503000000020004" pitchFamily="2" charset="0"/>
                <a:sym typeface="Inter SemiBold"/>
              </a:rPr>
              <a:t>3. Prozessanalyse &amp; Optimierung</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99" name="Google Shape;99;p14"/>
          <p:cNvSpPr/>
          <p:nvPr/>
        </p:nvSpPr>
        <p:spPr>
          <a:xfrm>
            <a:off x="6286500" y="3619500"/>
            <a:ext cx="5334000" cy="685800"/>
          </a:xfrm>
          <a:prstGeom prst="roundRect">
            <a:avLst>
              <a:gd name="adj" fmla="val 1944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00" name="Google Shape;100;p14"/>
          <p:cNvSpPr txBox="1"/>
          <p:nvPr/>
        </p:nvSpPr>
        <p:spPr>
          <a:xfrm>
            <a:off x="6619103" y="3859638"/>
            <a:ext cx="3714750" cy="25391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de-CH" sz="1650" b="0" i="0" u="none" strike="noStrike" cap="none" noProof="0" dirty="0">
                <a:solidFill>
                  <a:srgbClr val="1E293B"/>
                </a:solidFill>
                <a:latin typeface="Inter" panose="02000503000000020004" pitchFamily="2" charset="0"/>
                <a:ea typeface="Inter" panose="02000503000000020004" pitchFamily="2" charset="0"/>
                <a:cs typeface="Inter" panose="02000503000000020004" pitchFamily="2" charset="0"/>
                <a:sym typeface="Inter SemiBold"/>
              </a:rPr>
              <a:t>4. EPK &amp; Flussdiagramme</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01" name="Google Shape;101;p14"/>
          <p:cNvSpPr/>
          <p:nvPr/>
        </p:nvSpPr>
        <p:spPr>
          <a:xfrm>
            <a:off x="571500" y="4543425"/>
            <a:ext cx="5334000" cy="685800"/>
          </a:xfrm>
          <a:prstGeom prst="roundRect">
            <a:avLst>
              <a:gd name="adj" fmla="val 1944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02" name="Google Shape;102;p14"/>
          <p:cNvSpPr txBox="1"/>
          <p:nvPr/>
        </p:nvSpPr>
        <p:spPr>
          <a:xfrm>
            <a:off x="857250" y="4783563"/>
            <a:ext cx="3714750" cy="25391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de-CH" sz="1650" b="0" i="0" u="none" strike="noStrike" cap="none" noProof="0" dirty="0">
                <a:solidFill>
                  <a:srgbClr val="1E293B"/>
                </a:solidFill>
                <a:latin typeface="Inter" panose="02000503000000020004" pitchFamily="2" charset="0"/>
                <a:ea typeface="Inter" panose="02000503000000020004" pitchFamily="2" charset="0"/>
                <a:cs typeface="Inter" panose="02000503000000020004" pitchFamily="2" charset="0"/>
                <a:sym typeface="Inter SemiBold"/>
              </a:rPr>
              <a:t>5. UML &amp; </a:t>
            </a:r>
            <a:r>
              <a:rPr lang="de-CH" sz="1650" b="0" i="0" u="none" strike="noStrike" cap="none" noProof="0" dirty="0" err="1">
                <a:solidFill>
                  <a:srgbClr val="1E293B"/>
                </a:solidFill>
                <a:latin typeface="Inter" panose="02000503000000020004" pitchFamily="2" charset="0"/>
                <a:ea typeface="Inter" panose="02000503000000020004" pitchFamily="2" charset="0"/>
                <a:cs typeface="Inter" panose="02000503000000020004" pitchFamily="2" charset="0"/>
                <a:sym typeface="Inter SemiBold"/>
              </a:rPr>
              <a:t>Swimlanes</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03" name="Google Shape;103;p14"/>
          <p:cNvSpPr/>
          <p:nvPr/>
        </p:nvSpPr>
        <p:spPr>
          <a:xfrm>
            <a:off x="6286500" y="4543425"/>
            <a:ext cx="5334000" cy="685800"/>
          </a:xfrm>
          <a:prstGeom prst="roundRect">
            <a:avLst>
              <a:gd name="adj" fmla="val 19444"/>
            </a:avLst>
          </a:prstGeom>
          <a:solidFill>
            <a:srgbClr val="FFFFFF"/>
          </a:solidFill>
          <a:ln w="952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04" name="Google Shape;104;p14"/>
          <p:cNvSpPr txBox="1"/>
          <p:nvPr/>
        </p:nvSpPr>
        <p:spPr>
          <a:xfrm>
            <a:off x="6619103" y="4783563"/>
            <a:ext cx="3714750" cy="253916"/>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de-CH" sz="1650" b="0" i="0" u="none" strike="noStrike" cap="none" noProof="0" dirty="0">
                <a:solidFill>
                  <a:srgbClr val="1E293B"/>
                </a:solidFill>
                <a:latin typeface="Inter" panose="02000503000000020004" pitchFamily="2" charset="0"/>
                <a:ea typeface="Inter" panose="02000503000000020004" pitchFamily="2" charset="0"/>
                <a:cs typeface="Inter" panose="02000503000000020004" pitchFamily="2" charset="0"/>
                <a:sym typeface="Inter SemiBold"/>
              </a:rPr>
              <a:t>6. Fazit &amp; Erkenntnisse</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05" name="Google Shape;105;p14"/>
          <p:cNvSpPr/>
          <p:nvPr/>
        </p:nvSpPr>
        <p:spPr>
          <a:xfrm>
            <a:off x="571500" y="3371850"/>
            <a:ext cx="5334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06" name="Google Shape;106;p14"/>
          <p:cNvSpPr/>
          <p:nvPr/>
        </p:nvSpPr>
        <p:spPr>
          <a:xfrm>
            <a:off x="6286500" y="3371850"/>
            <a:ext cx="5334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07" name="Google Shape;107;p14"/>
          <p:cNvSpPr/>
          <p:nvPr/>
        </p:nvSpPr>
        <p:spPr>
          <a:xfrm>
            <a:off x="571500" y="4295775"/>
            <a:ext cx="5334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08" name="Google Shape;108;p14"/>
          <p:cNvSpPr/>
          <p:nvPr/>
        </p:nvSpPr>
        <p:spPr>
          <a:xfrm>
            <a:off x="6286500" y="4295775"/>
            <a:ext cx="5334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09" name="Google Shape;109;p14"/>
          <p:cNvSpPr/>
          <p:nvPr/>
        </p:nvSpPr>
        <p:spPr>
          <a:xfrm>
            <a:off x="571500" y="5219700"/>
            <a:ext cx="5334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10" name="Google Shape;110;p14"/>
          <p:cNvSpPr/>
          <p:nvPr/>
        </p:nvSpPr>
        <p:spPr>
          <a:xfrm>
            <a:off x="6286500" y="5219700"/>
            <a:ext cx="533400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de-CH" sz="1800" b="0" i="0" u="none" strike="noStrike" cap="none" noProof="0" dirty="0">
              <a:solidFill>
                <a:schemeClr val="dk1"/>
              </a:solidFill>
              <a:latin typeface="Inter" panose="02000503000000020004" pitchFamily="2" charset="0"/>
              <a:ea typeface="Inter" panose="02000503000000020004" pitchFamily="2" charset="0"/>
              <a:cs typeface="Inter" panose="02000503000000020004" pitchFamily="2" charset="0"/>
              <a:sym typeface="Calibri"/>
            </a:endParaRPr>
          </a:p>
        </p:txBody>
      </p:sp>
      <p:sp>
        <p:nvSpPr>
          <p:cNvPr id="117" name="Google Shape;117;p14"/>
          <p:cNvSpPr txBox="1"/>
          <p:nvPr/>
        </p:nvSpPr>
        <p:spPr>
          <a:xfrm>
            <a:off x="571500" y="57150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Inhalt</a:t>
            </a:r>
            <a:endParaRPr lang="de-CH" noProof="0" dirty="0">
              <a:latin typeface="Inter" panose="02000503000000020004" pitchFamily="2" charset="0"/>
              <a:ea typeface="Inter" panose="02000503000000020004" pitchFamily="2" charset="0"/>
              <a:cs typeface="Inter" panose="02000503000000020004"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3" name="Google Shape;123;p15" descr="image.png"/>
          <p:cNvPicPr preferRelativeResize="0"/>
          <p:nvPr/>
        </p:nvPicPr>
        <p:blipFill rotWithShape="1">
          <a:blip r:embed="rId4">
            <a:alphaModFix/>
          </a:blip>
          <a:srcRect/>
          <a:stretch/>
        </p:blipFill>
        <p:spPr>
          <a:xfrm>
            <a:off x="571500" y="2233612"/>
            <a:ext cx="5286375" cy="3457575"/>
          </a:xfrm>
          <a:prstGeom prst="rect">
            <a:avLst/>
          </a:prstGeom>
          <a:noFill/>
          <a:ln>
            <a:noFill/>
          </a:ln>
        </p:spPr>
      </p:pic>
      <p:pic>
        <p:nvPicPr>
          <p:cNvPr id="124" name="Google Shape;124;p15" descr="image.png"/>
          <p:cNvPicPr preferRelativeResize="0"/>
          <p:nvPr/>
        </p:nvPicPr>
        <p:blipFill rotWithShape="1">
          <a:blip r:embed="rId5">
            <a:alphaModFix/>
          </a:blip>
          <a:srcRect/>
          <a:stretch/>
        </p:blipFill>
        <p:spPr>
          <a:xfrm>
            <a:off x="6334125" y="2233612"/>
            <a:ext cx="5286375" cy="3457575"/>
          </a:xfrm>
          <a:prstGeom prst="rect">
            <a:avLst/>
          </a:prstGeom>
          <a:noFill/>
          <a:ln>
            <a:noFill/>
          </a:ln>
        </p:spPr>
      </p:pic>
      <p:sp>
        <p:nvSpPr>
          <p:cNvPr id="125" name="Google Shape;125;p15"/>
          <p:cNvSpPr txBox="1"/>
          <p:nvPr/>
        </p:nvSpPr>
        <p:spPr>
          <a:xfrm>
            <a:off x="1009650" y="2671762"/>
            <a:ext cx="4630578"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100" b="1" i="0" u="none" strike="noStrike" cap="none" noProof="0" dirty="0" err="1">
                <a:solidFill>
                  <a:srgbClr val="2563EB"/>
                </a:solidFill>
                <a:latin typeface="Inter" panose="02000503000000020004" pitchFamily="2" charset="0"/>
                <a:ea typeface="Inter" panose="02000503000000020004" pitchFamily="2" charset="0"/>
                <a:cs typeface="Inter" panose="02000503000000020004" pitchFamily="2" charset="0"/>
                <a:sym typeface="Poppins"/>
              </a:rPr>
              <a:t>TimeTrack</a:t>
            </a:r>
            <a:r>
              <a:rPr lang="de-CH" sz="2100" b="1"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Poppins"/>
              </a:rPr>
              <a:t> Pro (Begleitprojekt)</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26" name="Google Shape;126;p15"/>
          <p:cNvSpPr txBox="1"/>
          <p:nvPr/>
        </p:nvSpPr>
        <p:spPr>
          <a:xfrm>
            <a:off x="6772275" y="2671762"/>
            <a:ext cx="4630578"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100" b="1" i="0" u="none" strike="noStrike" cap="none" noProof="0" dirty="0" err="1">
                <a:solidFill>
                  <a:srgbClr val="2563EB"/>
                </a:solidFill>
                <a:latin typeface="Inter" panose="02000503000000020004" pitchFamily="2" charset="0"/>
                <a:ea typeface="Inter" panose="02000503000000020004" pitchFamily="2" charset="0"/>
                <a:cs typeface="Inter" panose="02000503000000020004" pitchFamily="2" charset="0"/>
                <a:sym typeface="Poppins"/>
              </a:rPr>
              <a:t>Topomedics</a:t>
            </a:r>
            <a:r>
              <a:rPr lang="de-CH" sz="2100" b="1"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Poppins"/>
              </a:rPr>
              <a:t> AG (Fallstudie)</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27" name="Google Shape;127;p15"/>
          <p:cNvSpPr txBox="1"/>
          <p:nvPr/>
        </p:nvSpPr>
        <p:spPr>
          <a:xfrm>
            <a:off x="1009650" y="3309937"/>
            <a:ext cx="4410075" cy="738664"/>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Applikation:</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System zur Zeiterfassung für Lernende (Java/React).</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28" name="Google Shape;128;p15"/>
          <p:cNvSpPr txBox="1"/>
          <p:nvPr/>
        </p:nvSpPr>
        <p:spPr>
          <a:xfrm>
            <a:off x="1009650" y="4129087"/>
            <a:ext cx="4410075" cy="738664"/>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Fokus:</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Modellierung der Aufbauorganisation und der Systemprozesse.</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29" name="Google Shape;129;p15"/>
          <p:cNvSpPr txBox="1"/>
          <p:nvPr/>
        </p:nvSpPr>
        <p:spPr>
          <a:xfrm>
            <a:off x="6772275" y="3309937"/>
            <a:ext cx="4410075" cy="738664"/>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Unternehmen:</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Globaler Medizintechnik-Hersteller (3500 Artikel).</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30" name="Google Shape;130;p15"/>
          <p:cNvSpPr txBox="1"/>
          <p:nvPr/>
        </p:nvSpPr>
        <p:spPr>
          <a:xfrm>
            <a:off x="6772275" y="4129087"/>
            <a:ext cx="4410075" cy="738664"/>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Fokus:</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Analyse der Ablauforganisation und Prozessoptimierung.</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35" name="Google Shape;135;p15"/>
          <p:cNvSpPr txBox="1"/>
          <p:nvPr/>
        </p:nvSpPr>
        <p:spPr>
          <a:xfrm>
            <a:off x="571500" y="57150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Ausgangslage &amp; Projektrahmen</a:t>
            </a:r>
            <a:endParaRPr lang="de-CH" noProof="0" dirty="0">
              <a:latin typeface="Inter" panose="02000503000000020004" pitchFamily="2" charset="0"/>
              <a:ea typeface="Inter" panose="02000503000000020004" pitchFamily="2" charset="0"/>
              <a:cs typeface="Inter" panose="02000503000000020004"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1" name="Google Shape;141;p16" descr="image.png"/>
          <p:cNvPicPr preferRelativeResize="0"/>
          <p:nvPr/>
        </p:nvPicPr>
        <p:blipFill rotWithShape="1">
          <a:blip r:embed="rId4">
            <a:alphaModFix/>
          </a:blip>
          <a:srcRect/>
          <a:stretch/>
        </p:blipFill>
        <p:spPr>
          <a:xfrm>
            <a:off x="6334125" y="1676400"/>
            <a:ext cx="5286375" cy="4572000"/>
          </a:xfrm>
          <a:prstGeom prst="rect">
            <a:avLst/>
          </a:prstGeom>
          <a:noFill/>
          <a:ln>
            <a:noFill/>
          </a:ln>
        </p:spPr>
      </p:pic>
      <p:sp>
        <p:nvSpPr>
          <p:cNvPr id="142" name="Google Shape;142;p16"/>
          <p:cNvSpPr txBox="1"/>
          <p:nvPr/>
        </p:nvSpPr>
        <p:spPr>
          <a:xfrm>
            <a:off x="571500" y="2428875"/>
            <a:ext cx="5286375" cy="738664"/>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Organisationsform:</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Implementierung einer klassischen Stab-Linien-Organisation.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43" name="Google Shape;143;p16"/>
          <p:cNvSpPr txBox="1"/>
          <p:nvPr/>
        </p:nvSpPr>
        <p:spPr>
          <a:xfrm>
            <a:off x="571500" y="3248025"/>
            <a:ext cx="5286375" cy="1107996"/>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Klare Dienstwege (Linie):</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Direkte Führung von der Projektleitung an die Frontend- und Backend-Entwickler.</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44" name="Google Shape;144;p16"/>
          <p:cNvSpPr txBox="1"/>
          <p:nvPr/>
        </p:nvSpPr>
        <p:spPr>
          <a:xfrm>
            <a:off x="571500" y="4371975"/>
            <a:ext cx="5286375" cy="1107996"/>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Spezialistenwissen (Stab):</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Qualitätsmanagement (QM) berät die Projektleitung ohne die agilen Entscheidungswege zu verlangsamen.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48" name="Google Shape;148;p16"/>
          <p:cNvSpPr txBox="1"/>
          <p:nvPr/>
        </p:nvSpPr>
        <p:spPr>
          <a:xfrm>
            <a:off x="571500" y="57150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Aufbauorganisation: Stab-Linien</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149" name="Google Shape;149;p16" title="254-1D-StabLinienDiagramm.drawio.png"/>
          <p:cNvPicPr preferRelativeResize="0"/>
          <p:nvPr/>
        </p:nvPicPr>
        <p:blipFill>
          <a:blip r:embed="rId5">
            <a:alphaModFix/>
          </a:blip>
          <a:stretch>
            <a:fillRect/>
          </a:stretch>
        </p:blipFill>
        <p:spPr>
          <a:xfrm>
            <a:off x="6548437" y="2078663"/>
            <a:ext cx="4857750" cy="376748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3"/>
        <p:cNvGrpSpPr/>
        <p:nvPr/>
      </p:nvGrpSpPr>
      <p:grpSpPr>
        <a:xfrm>
          <a:off x="0" y="0"/>
          <a:ext cx="0" cy="0"/>
          <a:chOff x="0" y="0"/>
          <a:chExt cx="0" cy="0"/>
        </a:xfrm>
      </p:grpSpPr>
      <p:pic>
        <p:nvPicPr>
          <p:cNvPr id="154" name="Google Shape;15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5" name="Google Shape;155;p17"/>
          <p:cNvSpPr txBox="1"/>
          <p:nvPr/>
        </p:nvSpPr>
        <p:spPr>
          <a:xfrm>
            <a:off x="571500" y="571500"/>
            <a:ext cx="5150643"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Prozessanalyse: Das Bestellwesen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56" name="Google Shape;156;p17"/>
          <p:cNvSpPr txBox="1"/>
          <p:nvPr/>
        </p:nvSpPr>
        <p:spPr>
          <a:xfrm>
            <a:off x="571500" y="2495550"/>
            <a:ext cx="5150643"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100" b="1"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Poppins"/>
              </a:rPr>
              <a:t>IST-Zustand</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57" name="Google Shape;157;p17"/>
          <p:cNvSpPr txBox="1"/>
          <p:nvPr/>
        </p:nvSpPr>
        <p:spPr>
          <a:xfrm>
            <a:off x="571500" y="3038475"/>
            <a:ext cx="4905375"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Telefonische Bestellungen führen zu langer Bearbeitungsdauer (15-20 Min), hoher Fehleranfälligkeit und ständigen teuren Medienbrüchen.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58" name="Google Shape;158;p17"/>
          <p:cNvSpPr txBox="1"/>
          <p:nvPr/>
        </p:nvSpPr>
        <p:spPr>
          <a:xfrm>
            <a:off x="571500" y="4543425"/>
            <a:ext cx="5150643"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100" b="1"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Poppins"/>
              </a:rPr>
              <a:t>SOLL-Konzept (Optimierung)</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59" name="Google Shape;159;p17"/>
          <p:cNvSpPr txBox="1"/>
          <p:nvPr/>
        </p:nvSpPr>
        <p:spPr>
          <a:xfrm>
            <a:off x="571500" y="5086350"/>
            <a:ext cx="4905375"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Einführung eines Self-Service Portals (Webshop), automatisierte Lagerprüfung in Echtzeit sowie eine vollständig digitale Zahlungsabwicklung.</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160" name="Google Shape;160;p17" title="254-5B-Flussdiagramm.drawio.png"/>
          <p:cNvPicPr preferRelativeResize="0"/>
          <p:nvPr/>
        </p:nvPicPr>
        <p:blipFill rotWithShape="1">
          <a:blip r:embed="rId4">
            <a:alphaModFix/>
          </a:blip>
          <a:srcRect b="41891"/>
          <a:stretch/>
        </p:blipFill>
        <p:spPr>
          <a:xfrm>
            <a:off x="5810850" y="664465"/>
            <a:ext cx="2899825" cy="5622035"/>
          </a:xfrm>
          <a:prstGeom prst="rect">
            <a:avLst/>
          </a:prstGeom>
          <a:noFill/>
          <a:ln>
            <a:noFill/>
          </a:ln>
        </p:spPr>
      </p:pic>
      <p:pic>
        <p:nvPicPr>
          <p:cNvPr id="161" name="Google Shape;161;p17" title="254-5B-Flussdiagramm.drawio.png"/>
          <p:cNvPicPr preferRelativeResize="0"/>
          <p:nvPr/>
        </p:nvPicPr>
        <p:blipFill rotWithShape="1">
          <a:blip r:embed="rId4">
            <a:alphaModFix/>
          </a:blip>
          <a:srcRect t="56357"/>
          <a:stretch/>
        </p:blipFill>
        <p:spPr>
          <a:xfrm>
            <a:off x="8934487" y="1568414"/>
            <a:ext cx="3033700" cy="44174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Google Shape;16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7" name="Google Shape;167;p18"/>
          <p:cNvSpPr txBox="1"/>
          <p:nvPr/>
        </p:nvSpPr>
        <p:spPr>
          <a:xfrm>
            <a:off x="571500" y="2008746"/>
            <a:ext cx="5286375" cy="738664"/>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Werkzeuge:</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Essentiell zur Visualisierung komplexer fachlicher und technischer Geschäftsabläufe.</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68" name="Google Shape;168;p18"/>
          <p:cNvSpPr txBox="1"/>
          <p:nvPr/>
        </p:nvSpPr>
        <p:spPr>
          <a:xfrm>
            <a:off x="571500" y="2827896"/>
            <a:ext cx="5286375" cy="1107996"/>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Flussdiagramme:</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Eignen sich optimal zur Darstellung von Verzweigungslogiken (z.B. der Monatsabschluss in </a:t>
            </a:r>
            <a:r>
              <a:rPr lang="de-CH" sz="1500" b="0" i="0" u="none" strike="noStrike" cap="none" noProof="0" dirty="0" err="1">
                <a:solidFill>
                  <a:srgbClr val="334155"/>
                </a:solidFill>
                <a:latin typeface="Inter" panose="02000503000000020004" pitchFamily="2" charset="0"/>
                <a:ea typeface="Inter" panose="02000503000000020004" pitchFamily="2" charset="0"/>
                <a:cs typeface="Inter" panose="02000503000000020004" pitchFamily="2" charset="0"/>
                <a:sym typeface="Inter"/>
              </a:rPr>
              <a:t>TimeTrack</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Pro).</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69" name="Google Shape;169;p18"/>
          <p:cNvSpPr txBox="1"/>
          <p:nvPr/>
        </p:nvSpPr>
        <p:spPr>
          <a:xfrm>
            <a:off x="571500" y="3951846"/>
            <a:ext cx="5286375" cy="1107996"/>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EPK:</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Die Ereignisgesteuerte Prozesskette erzwingt Präzision durch den strikten Wechsel zwischen </a:t>
            </a:r>
            <a:r>
              <a:rPr lang="de-CH" sz="1500" b="0" i="1"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Ereignis</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und </a:t>
            </a:r>
            <a:r>
              <a:rPr lang="de-CH" sz="1500" b="0" i="1"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Funktion</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73" name="Google Shape;173;p18"/>
          <p:cNvSpPr txBox="1"/>
          <p:nvPr/>
        </p:nvSpPr>
        <p:spPr>
          <a:xfrm>
            <a:off x="571500" y="571500"/>
            <a:ext cx="116016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EPK &amp; Flussdiagramme</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174" name="Google Shape;174;p18" title="254-6B-EPK.drawio-Teil1.png"/>
          <p:cNvPicPr preferRelativeResize="0"/>
          <p:nvPr/>
        </p:nvPicPr>
        <p:blipFill rotWithShape="1">
          <a:blip r:embed="rId4">
            <a:alphaModFix/>
          </a:blip>
          <a:srcRect t="1160" b="-1160"/>
          <a:stretch/>
        </p:blipFill>
        <p:spPr>
          <a:xfrm>
            <a:off x="6314300" y="79263"/>
            <a:ext cx="3050601" cy="6858000"/>
          </a:xfrm>
          <a:prstGeom prst="rect">
            <a:avLst/>
          </a:prstGeom>
          <a:noFill/>
          <a:ln>
            <a:noFill/>
          </a:ln>
        </p:spPr>
      </p:pic>
      <p:pic>
        <p:nvPicPr>
          <p:cNvPr id="175" name="Google Shape;175;p18" title="254-6B-EPK.drawio-Teil2.png"/>
          <p:cNvPicPr preferRelativeResize="0"/>
          <p:nvPr/>
        </p:nvPicPr>
        <p:blipFill>
          <a:blip r:embed="rId5">
            <a:alphaModFix/>
          </a:blip>
          <a:stretch>
            <a:fillRect/>
          </a:stretch>
        </p:blipFill>
        <p:spPr>
          <a:xfrm>
            <a:off x="9821336" y="0"/>
            <a:ext cx="1864728" cy="68580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pic>
        <p:nvPicPr>
          <p:cNvPr id="180" name="Google Shape;180;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81" name="Google Shape;181;p19"/>
          <p:cNvSpPr txBox="1"/>
          <p:nvPr/>
        </p:nvSpPr>
        <p:spPr>
          <a:xfrm>
            <a:off x="571500" y="2428875"/>
            <a:ext cx="5286375" cy="738664"/>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Prozesslandkarte:</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Dient der strategischen Einteilung in Führungs-, Kern- und Supportprozesse.</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82" name="Google Shape;182;p19"/>
          <p:cNvSpPr txBox="1"/>
          <p:nvPr/>
        </p:nvSpPr>
        <p:spPr>
          <a:xfrm>
            <a:off x="571500" y="3248025"/>
            <a:ext cx="5286375" cy="1107996"/>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UML Use-Case:</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Der Fokus im </a:t>
            </a:r>
            <a:r>
              <a:rPr lang="de-CH" sz="1500" b="0" i="0" u="none" strike="noStrike" cap="none" noProof="0" dirty="0" err="1">
                <a:solidFill>
                  <a:srgbClr val="334155"/>
                </a:solidFill>
                <a:latin typeface="Inter" panose="02000503000000020004" pitchFamily="2" charset="0"/>
                <a:ea typeface="Inter" panose="02000503000000020004" pitchFamily="2" charset="0"/>
                <a:cs typeface="Inter" panose="02000503000000020004" pitchFamily="2" charset="0"/>
                <a:sym typeface="Inter"/>
              </a:rPr>
              <a:t>Requirements</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Engineering liegt auf der Interaktion zwischen Akteuren (Kunde) und dem System.</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83" name="Google Shape;183;p19"/>
          <p:cNvSpPr txBox="1"/>
          <p:nvPr/>
        </p:nvSpPr>
        <p:spPr>
          <a:xfrm>
            <a:off x="571500" y="4371975"/>
            <a:ext cx="5286375" cy="1107996"/>
          </a:xfrm>
          <a:prstGeom prst="rect">
            <a:avLst/>
          </a:prstGeom>
          <a:noFill/>
          <a:ln>
            <a:noFill/>
          </a:ln>
        </p:spPr>
        <p:txBody>
          <a:bodyPr spcFirstLastPara="1" wrap="square" lIns="0" tIns="0" rIns="0" bIns="0" anchor="t" anchorCtr="0">
            <a:spAutoFit/>
          </a:bodyPr>
          <a:lstStyle/>
          <a:p>
            <a:pPr marL="285750" marR="0" lvl="0" indent="-285750" algn="l" rtl="0">
              <a:lnSpc>
                <a:spcPct val="160000"/>
              </a:lnSpc>
              <a:spcBef>
                <a:spcPts val="0"/>
              </a:spcBef>
              <a:spcAft>
                <a:spcPts val="0"/>
              </a:spcAft>
              <a:buFont typeface="Arial" panose="020B0604020202020204" pitchFamily="34" charset="0"/>
              <a:buChar char="•"/>
            </a:pPr>
            <a:r>
              <a:rPr lang="de-CH" sz="1500" b="0"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Inter SemiBold"/>
              </a:rPr>
              <a:t>Systemgrenzen:</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Schafft eine klare Definition der Funktionalitäten des E-Commerce Systems der </a:t>
            </a:r>
            <a:r>
              <a:rPr lang="de-CH" sz="1500" b="0" i="0" u="none" strike="noStrike" cap="none" noProof="0" dirty="0" err="1">
                <a:solidFill>
                  <a:srgbClr val="334155"/>
                </a:solidFill>
                <a:latin typeface="Inter" panose="02000503000000020004" pitchFamily="2" charset="0"/>
                <a:ea typeface="Inter" panose="02000503000000020004" pitchFamily="2" charset="0"/>
                <a:cs typeface="Inter" panose="02000503000000020004" pitchFamily="2" charset="0"/>
                <a:sym typeface="Inter"/>
              </a:rPr>
              <a:t>Topomedics</a:t>
            </a: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 AG.</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87" name="Google Shape;187;p19"/>
          <p:cNvSpPr txBox="1"/>
          <p:nvPr/>
        </p:nvSpPr>
        <p:spPr>
          <a:xfrm>
            <a:off x="571500" y="57150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Von der Landkarte zum Use-Case</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188" name="Google Shape;188;p19" title="254-7C-Aufgabe-UML-Use-Case.drawio.png"/>
          <p:cNvPicPr preferRelativeResize="0"/>
          <p:nvPr/>
        </p:nvPicPr>
        <p:blipFill>
          <a:blip r:embed="rId4">
            <a:alphaModFix/>
          </a:blip>
          <a:stretch>
            <a:fillRect/>
          </a:stretch>
        </p:blipFill>
        <p:spPr>
          <a:xfrm>
            <a:off x="7241060" y="3352800"/>
            <a:ext cx="3854536" cy="3400425"/>
          </a:xfrm>
          <a:prstGeom prst="rect">
            <a:avLst/>
          </a:prstGeom>
          <a:noFill/>
          <a:ln>
            <a:noFill/>
          </a:ln>
        </p:spPr>
      </p:pic>
      <p:pic>
        <p:nvPicPr>
          <p:cNvPr id="3" name="Grafik 2">
            <a:extLst>
              <a:ext uri="{FF2B5EF4-FFF2-40B4-BE49-F238E27FC236}">
                <a16:creationId xmlns:a16="http://schemas.microsoft.com/office/drawing/2014/main" id="{5D350315-3A95-40A4-00E2-9162B92E9DA7}"/>
              </a:ext>
            </a:extLst>
          </p:cNvPr>
          <p:cNvPicPr>
            <a:picLocks noChangeAspect="1"/>
          </p:cNvPicPr>
          <p:nvPr/>
        </p:nvPicPr>
        <p:blipFill>
          <a:blip r:embed="rId5"/>
          <a:stretch>
            <a:fillRect/>
          </a:stretch>
        </p:blipFill>
        <p:spPr>
          <a:xfrm>
            <a:off x="7241060" y="382165"/>
            <a:ext cx="4176649" cy="28658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pic>
        <p:nvPicPr>
          <p:cNvPr id="193" name="Google Shape;19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4" name="Google Shape;194;p20"/>
          <p:cNvSpPr txBox="1"/>
          <p:nvPr/>
        </p:nvSpPr>
        <p:spPr>
          <a:xfrm>
            <a:off x="571500" y="571500"/>
            <a:ext cx="5150643" cy="92333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err="1">
                <a:solidFill>
                  <a:srgbClr val="0F172A"/>
                </a:solidFill>
                <a:latin typeface="Inter" panose="02000503000000020004" pitchFamily="2" charset="0"/>
                <a:ea typeface="Inter" panose="02000503000000020004" pitchFamily="2" charset="0"/>
                <a:cs typeface="Inter" panose="02000503000000020004" pitchFamily="2" charset="0"/>
                <a:sym typeface="Poppins"/>
              </a:rPr>
              <a:t>Swimlane</a:t>
            </a: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 Order-</a:t>
            </a:r>
            <a:r>
              <a:rPr lang="de-CH" sz="3000" b="1" i="0" u="none" strike="noStrike" cap="none" noProof="0" dirty="0" err="1">
                <a:solidFill>
                  <a:srgbClr val="0F172A"/>
                </a:solidFill>
                <a:latin typeface="Inter" panose="02000503000000020004" pitchFamily="2" charset="0"/>
                <a:ea typeface="Inter" panose="02000503000000020004" pitchFamily="2" charset="0"/>
                <a:cs typeface="Inter" panose="02000503000000020004" pitchFamily="2" charset="0"/>
                <a:sym typeface="Poppins"/>
              </a:rPr>
              <a:t>to</a:t>
            </a: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a:t>
            </a:r>
            <a:r>
              <a:rPr lang="de-CH" sz="3000" b="1" i="0" u="none" strike="noStrike" cap="none" noProof="0" dirty="0" err="1">
                <a:solidFill>
                  <a:srgbClr val="0F172A"/>
                </a:solidFill>
                <a:latin typeface="Inter" panose="02000503000000020004" pitchFamily="2" charset="0"/>
                <a:ea typeface="Inter" panose="02000503000000020004" pitchFamily="2" charset="0"/>
                <a:cs typeface="Inter" panose="02000503000000020004" pitchFamily="2" charset="0"/>
                <a:sym typeface="Poppins"/>
              </a:rPr>
              <a:t>Production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95" name="Google Shape;195;p20"/>
          <p:cNvSpPr txBox="1"/>
          <p:nvPr/>
        </p:nvSpPr>
        <p:spPr>
          <a:xfrm>
            <a:off x="571500" y="2209800"/>
            <a:ext cx="5150643"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100" b="1"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Poppins"/>
              </a:rPr>
              <a:t>Abteilungsübergreifend</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96" name="Google Shape;196;p20"/>
          <p:cNvSpPr txBox="1"/>
          <p:nvPr/>
        </p:nvSpPr>
        <p:spPr>
          <a:xfrm>
            <a:off x="571500" y="2523783"/>
            <a:ext cx="4905375"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Detaillierte und transparente Darstellung der Verantwortlichkeiten über verschiedene Organisationseinheiten hinweg.</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97" name="Google Shape;197;p20"/>
          <p:cNvSpPr txBox="1"/>
          <p:nvPr/>
        </p:nvSpPr>
        <p:spPr>
          <a:xfrm>
            <a:off x="571499" y="3691847"/>
            <a:ext cx="5150643"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100" b="1"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Poppins"/>
              </a:rPr>
              <a:t>Mensch-Maschine</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98" name="Google Shape;198;p20"/>
          <p:cNvSpPr txBox="1"/>
          <p:nvPr/>
        </p:nvSpPr>
        <p:spPr>
          <a:xfrm>
            <a:off x="571499" y="4015012"/>
            <a:ext cx="4905375"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Die Schnittstelle an der der Kunde direkt mit dem Web-Frontend (GUI) interagiert.</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199" name="Google Shape;199;p20"/>
          <p:cNvSpPr txBox="1"/>
          <p:nvPr/>
        </p:nvSpPr>
        <p:spPr>
          <a:xfrm>
            <a:off x="571499" y="4790661"/>
            <a:ext cx="5150643"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2100" b="1" i="0" u="none" strike="noStrike" cap="none" noProof="0" dirty="0">
                <a:solidFill>
                  <a:srgbClr val="2563EB"/>
                </a:solidFill>
                <a:latin typeface="Inter" panose="02000503000000020004" pitchFamily="2" charset="0"/>
                <a:ea typeface="Inter" panose="02000503000000020004" pitchFamily="2" charset="0"/>
                <a:cs typeface="Inter" panose="02000503000000020004" pitchFamily="2" charset="0"/>
                <a:sym typeface="Poppins"/>
              </a:rPr>
              <a:t>Systemintegration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200" name="Google Shape;200;p20"/>
          <p:cNvSpPr txBox="1"/>
          <p:nvPr/>
        </p:nvSpPr>
        <p:spPr>
          <a:xfrm>
            <a:off x="571499" y="5214499"/>
            <a:ext cx="4905375"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de-CH" sz="1500"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Maschine-Maschine-Schnittstelle: Der Webshop kommuniziert vollautomatisiert mit dem ERP via REST-API.</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201" name="Google Shape;201;p20" title="254-7C-Aufgabe-Flussdiagramm.drawio.png"/>
          <p:cNvPicPr preferRelativeResize="0"/>
          <p:nvPr/>
        </p:nvPicPr>
        <p:blipFill>
          <a:blip r:embed="rId4">
            <a:alphaModFix/>
          </a:blip>
          <a:stretch>
            <a:fillRect/>
          </a:stretch>
        </p:blipFill>
        <p:spPr>
          <a:xfrm>
            <a:off x="6322043" y="103339"/>
            <a:ext cx="5270055" cy="665132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7" name="Google Shape;207;p21" descr="image.png"/>
          <p:cNvPicPr preferRelativeResize="0"/>
          <p:nvPr/>
        </p:nvPicPr>
        <p:blipFill rotWithShape="1">
          <a:blip r:embed="rId4">
            <a:alphaModFix/>
          </a:blip>
          <a:srcRect/>
          <a:stretch/>
        </p:blipFill>
        <p:spPr>
          <a:xfrm>
            <a:off x="571500" y="1857523"/>
            <a:ext cx="3429000" cy="4209603"/>
          </a:xfrm>
          <a:prstGeom prst="rect">
            <a:avLst/>
          </a:prstGeom>
          <a:noFill/>
          <a:ln>
            <a:noFill/>
          </a:ln>
        </p:spPr>
      </p:pic>
      <p:pic>
        <p:nvPicPr>
          <p:cNvPr id="208" name="Google Shape;208;p21" descr="image.png"/>
          <p:cNvPicPr preferRelativeResize="0"/>
          <p:nvPr/>
        </p:nvPicPr>
        <p:blipFill rotWithShape="1">
          <a:blip r:embed="rId5">
            <a:alphaModFix/>
          </a:blip>
          <a:srcRect/>
          <a:stretch/>
        </p:blipFill>
        <p:spPr>
          <a:xfrm>
            <a:off x="4381500" y="1857523"/>
            <a:ext cx="3429000" cy="4209603"/>
          </a:xfrm>
          <a:prstGeom prst="rect">
            <a:avLst/>
          </a:prstGeom>
          <a:noFill/>
          <a:ln>
            <a:noFill/>
          </a:ln>
        </p:spPr>
      </p:pic>
      <p:pic>
        <p:nvPicPr>
          <p:cNvPr id="209" name="Google Shape;209;p21" descr="image.png"/>
          <p:cNvPicPr preferRelativeResize="0"/>
          <p:nvPr/>
        </p:nvPicPr>
        <p:blipFill rotWithShape="1">
          <a:blip r:embed="rId6">
            <a:alphaModFix/>
          </a:blip>
          <a:srcRect/>
          <a:stretch/>
        </p:blipFill>
        <p:spPr>
          <a:xfrm>
            <a:off x="8191500" y="1857523"/>
            <a:ext cx="3429000" cy="4209603"/>
          </a:xfrm>
          <a:prstGeom prst="rect">
            <a:avLst/>
          </a:prstGeom>
          <a:noFill/>
          <a:ln>
            <a:noFill/>
          </a:ln>
        </p:spPr>
      </p:pic>
      <p:pic>
        <p:nvPicPr>
          <p:cNvPr id="210" name="Google Shape;210;p21" descr="image.png"/>
          <p:cNvPicPr preferRelativeResize="0"/>
          <p:nvPr/>
        </p:nvPicPr>
        <p:blipFill rotWithShape="1">
          <a:blip r:embed="rId7">
            <a:alphaModFix/>
          </a:blip>
          <a:srcRect/>
          <a:stretch/>
        </p:blipFill>
        <p:spPr>
          <a:xfrm>
            <a:off x="914400" y="2248048"/>
            <a:ext cx="714375" cy="714375"/>
          </a:xfrm>
          <a:prstGeom prst="rect">
            <a:avLst/>
          </a:prstGeom>
          <a:noFill/>
          <a:ln>
            <a:noFill/>
          </a:ln>
        </p:spPr>
      </p:pic>
      <p:sp>
        <p:nvSpPr>
          <p:cNvPr id="211" name="Google Shape;211;p21"/>
          <p:cNvSpPr txBox="1"/>
          <p:nvPr/>
        </p:nvSpPr>
        <p:spPr>
          <a:xfrm>
            <a:off x="914400" y="3200548"/>
            <a:ext cx="2880360"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195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Rückgrat der IT</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212" name="Google Shape;212;p21"/>
          <p:cNvSpPr txBox="1"/>
          <p:nvPr/>
        </p:nvSpPr>
        <p:spPr>
          <a:xfrm>
            <a:off x="914400" y="3714898"/>
            <a:ext cx="2743200" cy="140346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de-CH" sz="1425"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Geschäftsprozesse sind das absolute und unverzichtbare Rückgrat jeder erfolgreichen Digitalisierungsstrategie.</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213" name="Google Shape;213;p21" descr="image.png"/>
          <p:cNvPicPr preferRelativeResize="0"/>
          <p:nvPr/>
        </p:nvPicPr>
        <p:blipFill rotWithShape="1">
          <a:blip r:embed="rId8">
            <a:alphaModFix/>
          </a:blip>
          <a:srcRect/>
          <a:stretch/>
        </p:blipFill>
        <p:spPr>
          <a:xfrm>
            <a:off x="4724400" y="2248048"/>
            <a:ext cx="714375" cy="714375"/>
          </a:xfrm>
          <a:prstGeom prst="rect">
            <a:avLst/>
          </a:prstGeom>
          <a:noFill/>
          <a:ln>
            <a:noFill/>
          </a:ln>
        </p:spPr>
      </p:pic>
      <p:sp>
        <p:nvSpPr>
          <p:cNvPr id="214" name="Google Shape;214;p21"/>
          <p:cNvSpPr txBox="1"/>
          <p:nvPr/>
        </p:nvSpPr>
        <p:spPr>
          <a:xfrm>
            <a:off x="4724400" y="3200548"/>
            <a:ext cx="2880360"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195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Keine Fehler digitalisieren</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215" name="Google Shape;215;p21"/>
          <p:cNvSpPr txBox="1"/>
          <p:nvPr/>
        </p:nvSpPr>
        <p:spPr>
          <a:xfrm>
            <a:off x="4724400" y="4086373"/>
            <a:ext cx="2743200" cy="1754326"/>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de-CH" sz="1425"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"Digitalisiere keinen fehlerhaften Prozess." Ein schlechter Ablauf bleibt auch im System schlecht und wird oft noch teurer.</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216" name="Google Shape;216;p21" descr="image.png"/>
          <p:cNvPicPr preferRelativeResize="0"/>
          <p:nvPr/>
        </p:nvPicPr>
        <p:blipFill rotWithShape="1">
          <a:blip r:embed="rId9">
            <a:alphaModFix/>
          </a:blip>
          <a:srcRect/>
          <a:stretch/>
        </p:blipFill>
        <p:spPr>
          <a:xfrm>
            <a:off x="8534400" y="2248048"/>
            <a:ext cx="714375" cy="714375"/>
          </a:xfrm>
          <a:prstGeom prst="rect">
            <a:avLst/>
          </a:prstGeom>
          <a:noFill/>
          <a:ln>
            <a:noFill/>
          </a:ln>
        </p:spPr>
      </p:pic>
      <p:sp>
        <p:nvSpPr>
          <p:cNvPr id="217" name="Google Shape;217;p21"/>
          <p:cNvSpPr txBox="1"/>
          <p:nvPr/>
        </p:nvSpPr>
        <p:spPr>
          <a:xfrm>
            <a:off x="8534400" y="3200548"/>
            <a:ext cx="2880360" cy="30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195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Qualitätssicherung</a:t>
            </a:r>
            <a:endParaRPr lang="de-CH" noProof="0" dirty="0">
              <a:latin typeface="Inter" panose="02000503000000020004" pitchFamily="2" charset="0"/>
              <a:ea typeface="Inter" panose="02000503000000020004" pitchFamily="2" charset="0"/>
              <a:cs typeface="Inter" panose="02000503000000020004" pitchFamily="2" charset="0"/>
            </a:endParaRPr>
          </a:p>
        </p:txBody>
      </p:sp>
      <p:sp>
        <p:nvSpPr>
          <p:cNvPr id="218" name="Google Shape;218;p21"/>
          <p:cNvSpPr txBox="1"/>
          <p:nvPr/>
        </p:nvSpPr>
        <p:spPr>
          <a:xfrm>
            <a:off x="8534400" y="3714898"/>
            <a:ext cx="2743200" cy="1754326"/>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de-CH" sz="1425" b="0" i="0" u="none" strike="noStrike" cap="none" noProof="0" dirty="0">
                <a:solidFill>
                  <a:srgbClr val="334155"/>
                </a:solidFill>
                <a:latin typeface="Inter" panose="02000503000000020004" pitchFamily="2" charset="0"/>
                <a:ea typeface="Inter" panose="02000503000000020004" pitchFamily="2" charset="0"/>
                <a:cs typeface="Inter" panose="02000503000000020004" pitchFamily="2" charset="0"/>
                <a:sym typeface="Inter"/>
              </a:rPr>
              <a:t>Saubere Modellierungen (UML/EPK) sichern die Projektqualität, definieren Schnittstellen klar und verhindern Medienbrüche.</a:t>
            </a:r>
            <a:endParaRPr lang="de-CH" noProof="0" dirty="0">
              <a:latin typeface="Inter" panose="02000503000000020004" pitchFamily="2" charset="0"/>
              <a:ea typeface="Inter" panose="02000503000000020004" pitchFamily="2" charset="0"/>
              <a:cs typeface="Inter" panose="02000503000000020004" pitchFamily="2" charset="0"/>
            </a:endParaRPr>
          </a:p>
        </p:txBody>
      </p:sp>
      <p:pic>
        <p:nvPicPr>
          <p:cNvPr id="219" name="Google Shape;219;p21" descr="image.png"/>
          <p:cNvPicPr preferRelativeResize="0"/>
          <p:nvPr/>
        </p:nvPicPr>
        <p:blipFill rotWithShape="1">
          <a:blip r:embed="rId10">
            <a:alphaModFix/>
          </a:blip>
          <a:srcRect/>
          <a:stretch/>
        </p:blipFill>
        <p:spPr>
          <a:xfrm>
            <a:off x="1033462" y="2414736"/>
            <a:ext cx="476250" cy="381000"/>
          </a:xfrm>
          <a:prstGeom prst="rect">
            <a:avLst/>
          </a:prstGeom>
          <a:noFill/>
          <a:ln>
            <a:noFill/>
          </a:ln>
        </p:spPr>
      </p:pic>
      <p:pic>
        <p:nvPicPr>
          <p:cNvPr id="220" name="Google Shape;220;p21" descr="image.png"/>
          <p:cNvPicPr preferRelativeResize="0"/>
          <p:nvPr/>
        </p:nvPicPr>
        <p:blipFill rotWithShape="1">
          <a:blip r:embed="rId11">
            <a:alphaModFix/>
          </a:blip>
          <a:srcRect/>
          <a:stretch/>
        </p:blipFill>
        <p:spPr>
          <a:xfrm>
            <a:off x="4891087" y="2414736"/>
            <a:ext cx="381000" cy="381000"/>
          </a:xfrm>
          <a:prstGeom prst="rect">
            <a:avLst/>
          </a:prstGeom>
          <a:noFill/>
          <a:ln>
            <a:noFill/>
          </a:ln>
        </p:spPr>
      </p:pic>
      <p:pic>
        <p:nvPicPr>
          <p:cNvPr id="221" name="Google Shape;221;p21" descr="image.png"/>
          <p:cNvPicPr preferRelativeResize="0"/>
          <p:nvPr/>
        </p:nvPicPr>
        <p:blipFill rotWithShape="1">
          <a:blip r:embed="rId12">
            <a:alphaModFix/>
          </a:blip>
          <a:srcRect/>
          <a:stretch/>
        </p:blipFill>
        <p:spPr>
          <a:xfrm>
            <a:off x="8701087" y="2414736"/>
            <a:ext cx="381000" cy="381000"/>
          </a:xfrm>
          <a:prstGeom prst="rect">
            <a:avLst/>
          </a:prstGeom>
          <a:noFill/>
          <a:ln>
            <a:noFill/>
          </a:ln>
        </p:spPr>
      </p:pic>
      <p:sp>
        <p:nvSpPr>
          <p:cNvPr id="222" name="Google Shape;222;p21"/>
          <p:cNvSpPr txBox="1"/>
          <p:nvPr/>
        </p:nvSpPr>
        <p:spPr>
          <a:xfrm>
            <a:off x="571500" y="571500"/>
            <a:ext cx="1160145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de-CH" sz="3000" b="1" i="0" u="none" strike="noStrike" cap="none" noProof="0" dirty="0">
                <a:solidFill>
                  <a:srgbClr val="0F172A"/>
                </a:solidFill>
                <a:latin typeface="Inter" panose="02000503000000020004" pitchFamily="2" charset="0"/>
                <a:ea typeface="Inter" panose="02000503000000020004" pitchFamily="2" charset="0"/>
                <a:cs typeface="Inter" panose="02000503000000020004" pitchFamily="2" charset="0"/>
                <a:sym typeface="Poppins"/>
              </a:rPr>
              <a:t>Fazit &amp; Erkenntnisse</a:t>
            </a:r>
            <a:endParaRPr lang="de-CH" noProof="0" dirty="0">
              <a:latin typeface="Inter" panose="02000503000000020004" pitchFamily="2" charset="0"/>
              <a:ea typeface="Inter" panose="02000503000000020004" pitchFamily="2" charset="0"/>
              <a:cs typeface="Inter" panose="02000503000000020004"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999</Words>
  <Application>Microsoft Office PowerPoint</Application>
  <PresentationFormat>Breitbild</PresentationFormat>
  <Paragraphs>58</Paragraphs>
  <Slides>9</Slides>
  <Notes>9</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9</vt:i4>
      </vt:variant>
    </vt:vector>
  </HeadingPairs>
  <TitlesOfParts>
    <vt:vector size="13" baseType="lpstr">
      <vt:lpstr>Arial</vt:lpstr>
      <vt:lpstr>Calibri</vt:lpstr>
      <vt:lpstr>Inter</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Matteo Bosshard</cp:lastModifiedBy>
  <cp:revision>5</cp:revision>
  <dcterms:modified xsi:type="dcterms:W3CDTF">2026-06-29T14:10:28Z</dcterms:modified>
</cp:coreProperties>
</file>