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Nunito Sans" pitchFamily="34" charset="0"/>
      <p:regular r:id="rId16"/>
      <p:bold r:id="rId17"/>
    </p:embeddedFont>
    <p:embeddedFont>
      <p:font typeface="Rubik"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Begrüssung. Thema: Wir schauen uns an, wie gut Microsoft Teams zwei Grundsätze der Dialoggestaltung nach ISO 9241-110 umsetzt – jeweils mit einem guten und einem schlechten Beispiel.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schauen uns zwei der sieben Grundsätze aus ISO 9241-110 an. Für beide zeige ich je ein Beispiel, wo Teams es gut macht, und eines, wo es hapert.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vorlesen. Kernfrage: Kommt der Nutzer schnell und direkt ans Ziel – oder muss er sich durch Menüs und Umwege kämpfen?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 Bevor man einem Meeting beitritt, sieht man sich selbst und kann Kamera, Mikrofon und Hintergrund direkt einstellen. Man muss nicht zuerst in die Einstellungen – die häufigsten Optionen sind genau dort, wo man sie braucht.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 Wer eine bestimmte Datei aus einer alten Nachricht sucht, muss oft zwischen Tabs wechseln und Filter kombinieren. Die Trefferliste mischt Nachrichten, Dateien und Personen. Das kostet Zeit und reisst einen aus der eigentlichen 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vorlesen. Kernfrage: Versteht man ohne Anleitung, was gerade passiert und was ein Knopf oder Symbol bewirkt?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 Grüner Haken = verfügbar, roter Punkt = beschäftigt, roter Punkt mit weissem Strich = nicht stören. Im Call zeigt das durchgestrichene Mikrofon klar, dass man stumm ist. Der Systemzustand ist immer sichtbar.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 In Kanälen ist der Unterschied zwischen „neuen Beitrag verfassen“ und „auf einen Beitrag antworten“ zu wenig deutlich. Das grosse Eingabefeld unten zieht die Aufmerksamkeit auf sich – Antworten landen so als neues Thema, und die Diskussion wird zerstückelt.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Zusammenfassung: Bei Meetings und Calls ist Teams durchdacht – Zustand und wichtige Einstellungen sind sofort sichtbar. Bei Kanälen und der Suche ist die Bedienung weniger intuitiv. Danach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F1B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82734"/>
            <a:ext cx="10566400" cy="3962466"/>
          </a:xfrm>
          <a:prstGeom prst="rect">
            <a:avLst/>
          </a:prstGeom>
          <a:noFill/>
          <a:ln/>
        </p:spPr>
        <p:txBody>
          <a:bodyPr wrap="square" lIns="0" tIns="0" rIns="0" bIns="0" rtlCol="0" anchor="t"/>
          <a:lstStyle>
            <a:lvl1pPr algn="l" indent="0" marL="0">
              <a:lnSpc>
                <a:spcPct val="140000"/>
              </a:lnSpc>
              <a:buNone/>
              <a:defRPr lang="en-US" sz="1600" dirty="0">
                <a:solidFill>
                  <a:srgbClr val="1F1B3A"/>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F1B3A"/>
                </a:solidFill>
                <a:latin typeface="Rubik" pitchFamily="34" charset="0"/>
                <a:ea typeface="Rubik" pitchFamily="34" charset="-122"/>
                <a:cs typeface="Rubi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82734"/>
            <a:ext cx="10566400" cy="3962466"/>
          </a:xfrm>
          <a:prstGeom prst="rect">
            <a:avLst/>
          </a:prstGeom>
          <a:noFill/>
          <a:ln/>
        </p:spPr>
        <p:txBody>
          <a:bodyPr wrap="square" lIns="0" tIns="0" rIns="0" bIns="0" rtlCol="0" anchor="t"/>
          <a:lstStyle>
            <a:lvl1pPr algn="l" indent="0" marL="0">
              <a:lnSpc>
                <a:spcPct val="140000"/>
              </a:lnSpc>
              <a:buNone/>
              <a:defRPr lang="en-US" sz="1600" dirty="0">
                <a:solidFill>
                  <a:srgbClr val="1F1B3A"/>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B3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7B7FE0"/>
          </a:solidFill>
          <a:ln/>
        </p:spPr>
      </p:sp>
      <p:sp>
        <p:nvSpPr>
          <p:cNvPr id="3" name="Text 1"/>
          <p:cNvSpPr/>
          <p:nvPr/>
        </p:nvSpPr>
        <p:spPr>
          <a:xfrm>
            <a:off x="812800" y="208531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9ACF0"/>
                </a:solidFill>
                <a:latin typeface="Nunito Sans" pitchFamily="34" charset="0"/>
                <a:ea typeface="Nunito Sans" pitchFamily="34" charset="-122"/>
                <a:cs typeface="Nunito Sans" pitchFamily="34" charset="-120"/>
              </a:rPr>
              <a:t>USABILITY-ANALYSE · ISO 9241-110</a:t>
            </a:r>
            <a:endParaRPr lang="en-US" sz="1400" dirty="0"/>
          </a:p>
        </p:txBody>
      </p:sp>
      <p:sp>
        <p:nvSpPr>
          <p:cNvPr id="4" name="Text 2"/>
          <p:cNvSpPr/>
          <p:nvPr>
            <p:ph type="title"/>
          </p:nvPr>
        </p:nvSpPr>
        <p:spPr>
          <a:xfrm>
            <a:off x="812800" y="25882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B"/>
                </a:solidFill>
                <a:latin typeface="Rubik" pitchFamily="34" charset="0"/>
                <a:ea typeface="Rubik" pitchFamily="34" charset="-122"/>
                <a:cs typeface="Rubik" pitchFamily="34" charset="-120"/>
              </a:rPr>
              <a:t>Microsoft Teams im Usability-Check</a:t>
            </a:r>
            <a:endParaRPr lang="en-US" sz="6000" dirty="0"/>
          </a:p>
        </p:txBody>
      </p:sp>
      <p:sp>
        <p:nvSpPr>
          <p:cNvPr id="5" name="Text 3"/>
          <p:cNvSpPr/>
          <p:nvPr/>
        </p:nvSpPr>
        <p:spPr>
          <a:xfrm>
            <a:off x="812800" y="444242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C7DE"/>
                </a:solidFill>
                <a:latin typeface="Nunito Sans" pitchFamily="34" charset="0"/>
                <a:ea typeface="Nunito Sans" pitchFamily="34" charset="-122"/>
                <a:cs typeface="Nunito Sans" pitchFamily="34" charset="-120"/>
              </a:rPr>
              <a:t>Wie Teams mit Aufgabenangemessenheit und Selbstbeschreibungsfähigkeit umgeht</a:t>
            </a:r>
            <a:endParaRPr lang="en-US" sz="2000" dirty="0"/>
          </a:p>
        </p:txBody>
      </p:sp>
      <p:sp>
        <p:nvSpPr>
          <p:cNvPr id="6" name="Text 4"/>
          <p:cNvSpPr/>
          <p:nvPr/>
        </p:nvSpPr>
        <p:spPr>
          <a:xfrm>
            <a:off x="812800" y="5999493"/>
            <a:ext cx="78486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ACF0"/>
                </a:solidFill>
                <a:latin typeface="Nunito Sans" pitchFamily="34" charset="0"/>
                <a:ea typeface="Nunito Sans" pitchFamily="34" charset="-122"/>
                <a:cs typeface="Nunito Sans" pitchFamily="34" charset="-120"/>
              </a:rPr>
              <a:t>Nicolas Schmid · WISS · [Datum]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B5FC7"/>
                </a:solidFill>
                <a:latin typeface="Nunito Sans" pitchFamily="34" charset="0"/>
                <a:ea typeface="Nunito Sans" pitchFamily="34" charset="-122"/>
                <a:cs typeface="Nunito Sans" pitchFamily="34" charset="-120"/>
              </a:rPr>
              <a:t>WORUM ES GEHT</a:t>
            </a:r>
            <a:endParaRPr lang="en-US" sz="1400" dirty="0"/>
          </a:p>
        </p:txBody>
      </p:sp>
      <p:sp>
        <p:nvSpPr>
          <p:cNvPr id="3" name="Text 1"/>
          <p:cNvSpPr/>
          <p:nvPr>
            <p:ph type="title"/>
          </p:nvPr>
        </p:nvSpPr>
        <p:spPr>
          <a:xfrm>
            <a:off x="812800" y="1417307"/>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1B3A"/>
                </a:solidFill>
                <a:latin typeface="Rubik" pitchFamily="34" charset="0"/>
                <a:ea typeface="Rubik" pitchFamily="34" charset="-122"/>
                <a:cs typeface="Rubik" pitchFamily="34" charset="-120"/>
              </a:rPr>
              <a:t>Zwei Grundsätze der Dialoggestaltung</a:t>
            </a:r>
            <a:endParaRPr lang="en-US" sz="3600" dirty="0"/>
          </a:p>
        </p:txBody>
      </p:sp>
      <p:sp>
        <p:nvSpPr>
          <p:cNvPr id="4" name="Shape 2"/>
          <p:cNvSpPr/>
          <p:nvPr/>
        </p:nvSpPr>
        <p:spPr>
          <a:xfrm>
            <a:off x="819150" y="2282164"/>
            <a:ext cx="5143500" cy="2420408"/>
          </a:xfrm>
          <a:prstGeom prst="roundRect">
            <a:avLst>
              <a:gd name="adj" fmla="val 4985"/>
            </a:avLst>
          </a:prstGeom>
          <a:solidFill>
            <a:srgbClr val="FFFFFE"/>
          </a:solidFill>
          <a:ln w="12700">
            <a:solidFill>
              <a:srgbClr val="E1DFEE"/>
            </a:solidFill>
            <a:prstDash val="solid"/>
          </a:ln>
        </p:spPr>
      </p:sp>
      <p:sp>
        <p:nvSpPr>
          <p:cNvPr id="5" name="Text 3"/>
          <p:cNvSpPr/>
          <p:nvPr/>
        </p:nvSpPr>
        <p:spPr>
          <a:xfrm>
            <a:off x="1130300" y="2593314"/>
            <a:ext cx="4656836"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5B5FC7"/>
                </a:solidFill>
                <a:latin typeface="Rubik" pitchFamily="34" charset="0"/>
                <a:ea typeface="Rubik" pitchFamily="34" charset="-122"/>
                <a:cs typeface="Rubik" pitchFamily="34" charset="-120"/>
              </a:rPr>
              <a:t>01</a:t>
            </a:r>
            <a:endParaRPr lang="en-US" sz="3600" dirty="0"/>
          </a:p>
        </p:txBody>
      </p:sp>
      <p:sp>
        <p:nvSpPr>
          <p:cNvPr id="6" name="Text 4"/>
          <p:cNvSpPr/>
          <p:nvPr/>
        </p:nvSpPr>
        <p:spPr>
          <a:xfrm>
            <a:off x="1130300" y="3360341"/>
            <a:ext cx="465683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1B3A"/>
                </a:solidFill>
                <a:latin typeface="Rubik" pitchFamily="34" charset="0"/>
                <a:ea typeface="Rubik" pitchFamily="34" charset="-122"/>
                <a:cs typeface="Rubik" pitchFamily="34" charset="-120"/>
              </a:rPr>
              <a:t>Aufgabenangemessenheit</a:t>
            </a:r>
            <a:endParaRPr lang="en-US" sz="2200" dirty="0"/>
          </a:p>
        </p:txBody>
      </p:sp>
      <p:sp>
        <p:nvSpPr>
          <p:cNvPr id="7" name="Text 5"/>
          <p:cNvSpPr/>
          <p:nvPr/>
        </p:nvSpPr>
        <p:spPr>
          <a:xfrm>
            <a:off x="1130300" y="3822568"/>
            <a:ext cx="465683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66"/>
                </a:solidFill>
                <a:latin typeface="Nunito Sans" pitchFamily="34" charset="0"/>
                <a:ea typeface="Nunito Sans" pitchFamily="34" charset="-122"/>
                <a:cs typeface="Nunito Sans" pitchFamily="34" charset="-120"/>
              </a:rPr>
              <a:t>Hilft mir Teams, meine Aufgabe ohne unnötige Klicks oder Ablenkungen zu erledigen?</a:t>
            </a:r>
            <a:endParaRPr lang="en-US" sz="1600" dirty="0"/>
          </a:p>
        </p:txBody>
      </p:sp>
      <p:sp>
        <p:nvSpPr>
          <p:cNvPr id="8" name="Shape 6"/>
          <p:cNvSpPr/>
          <p:nvPr/>
        </p:nvSpPr>
        <p:spPr>
          <a:xfrm>
            <a:off x="6229350" y="2282164"/>
            <a:ext cx="5143500" cy="2420408"/>
          </a:xfrm>
          <a:prstGeom prst="roundRect">
            <a:avLst>
              <a:gd name="adj" fmla="val 4985"/>
            </a:avLst>
          </a:prstGeom>
          <a:solidFill>
            <a:srgbClr val="FFFFFE"/>
          </a:solidFill>
          <a:ln w="12700">
            <a:solidFill>
              <a:srgbClr val="E1DFEE"/>
            </a:solidFill>
            <a:prstDash val="solid"/>
          </a:ln>
        </p:spPr>
      </p:sp>
      <p:sp>
        <p:nvSpPr>
          <p:cNvPr id="9" name="Text 7"/>
          <p:cNvSpPr/>
          <p:nvPr/>
        </p:nvSpPr>
        <p:spPr>
          <a:xfrm>
            <a:off x="6540500" y="2593314"/>
            <a:ext cx="4656836" cy="665427"/>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5B5FC7"/>
                </a:solidFill>
                <a:latin typeface="Rubik" pitchFamily="34" charset="0"/>
                <a:ea typeface="Rubik" pitchFamily="34" charset="-122"/>
                <a:cs typeface="Rubik" pitchFamily="34" charset="-120"/>
              </a:rPr>
              <a:t>02</a:t>
            </a:r>
            <a:endParaRPr lang="en-US" sz="3600" dirty="0"/>
          </a:p>
        </p:txBody>
      </p:sp>
      <p:sp>
        <p:nvSpPr>
          <p:cNvPr id="10" name="Text 8"/>
          <p:cNvSpPr/>
          <p:nvPr/>
        </p:nvSpPr>
        <p:spPr>
          <a:xfrm>
            <a:off x="6540500" y="3360341"/>
            <a:ext cx="465683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1B3A"/>
                </a:solidFill>
                <a:latin typeface="Rubik" pitchFamily="34" charset="0"/>
                <a:ea typeface="Rubik" pitchFamily="34" charset="-122"/>
                <a:cs typeface="Rubik" pitchFamily="34" charset="-120"/>
              </a:rPr>
              <a:t>Selbstbeschreibungsfähigkeit</a:t>
            </a:r>
            <a:endParaRPr lang="en-US" sz="2200" dirty="0"/>
          </a:p>
        </p:txBody>
      </p:sp>
      <p:sp>
        <p:nvSpPr>
          <p:cNvPr id="11" name="Text 9"/>
          <p:cNvSpPr/>
          <p:nvPr/>
        </p:nvSpPr>
        <p:spPr>
          <a:xfrm>
            <a:off x="6540500" y="3822568"/>
            <a:ext cx="465683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766"/>
                </a:solidFill>
                <a:latin typeface="Nunito Sans" pitchFamily="34" charset="0"/>
                <a:ea typeface="Nunito Sans" pitchFamily="34" charset="-122"/>
                <a:cs typeface="Nunito Sans" pitchFamily="34" charset="-120"/>
              </a:rPr>
              <a:t>Sehe ich jederzeit, in welchem Zustand das System ist und was die Elemente bedeuten?</a:t>
            </a:r>
            <a:endParaRPr lang="en-US" sz="16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A"/>
                </a:solidFill>
                <a:latin typeface="Nunito Sans" pitchFamily="34" charset="0"/>
                <a:ea typeface="Nunito Sans" pitchFamily="34" charset="-122"/>
                <a:cs typeface="Nunito Sans" pitchFamily="34" charset="-120"/>
              </a:rPr>
              <a:t>Pro Grundsatz: ein gelungenes und ein problematisches Beispiel aus Teams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B5FC7"/>
        </a:solidFill>
      </p:bgPr>
    </p:bg>
    <p:spTree>
      <p:nvGrpSpPr>
        <p:cNvPr id="1" name=""/>
        <p:cNvGrpSpPr/>
        <p:nvPr/>
      </p:nvGrpSpPr>
      <p:grpSpPr>
        <a:xfrm>
          <a:off x="0" y="0"/>
          <a:ext cx="0" cy="0"/>
          <a:chOff x="0" y="0"/>
          <a:chExt cx="0" cy="0"/>
        </a:xfrm>
      </p:grpSpPr>
      <p:sp>
        <p:nvSpPr>
          <p:cNvPr id="2" name="Text 0"/>
          <p:cNvSpPr/>
          <p:nvPr/>
        </p:nvSpPr>
        <p:spPr>
          <a:xfrm>
            <a:off x="812800" y="1793942"/>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DADBFA"/>
                </a:solidFill>
                <a:latin typeface="Rubik" pitchFamily="34" charset="0"/>
                <a:ea typeface="Rubik" pitchFamily="34" charset="-122"/>
                <a:cs typeface="Rubik" pitchFamily="34" charset="-120"/>
              </a:rPr>
              <a:t>01</a:t>
            </a:r>
            <a:endParaRPr lang="en-US" sz="8000" dirty="0"/>
          </a:p>
        </p:txBody>
      </p:sp>
      <p:sp>
        <p:nvSpPr>
          <p:cNvPr id="3" name="Text 1"/>
          <p:cNvSpPr/>
          <p:nvPr>
            <p:ph type="title"/>
          </p:nvPr>
        </p:nvSpPr>
        <p:spPr>
          <a:xfrm>
            <a:off x="812800" y="3063942"/>
            <a:ext cx="10883392" cy="640027"/>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B"/>
                </a:solidFill>
                <a:latin typeface="Rubik" pitchFamily="34" charset="0"/>
                <a:ea typeface="Rubik" pitchFamily="34" charset="-122"/>
                <a:cs typeface="Rubik" pitchFamily="34" charset="-120"/>
              </a:rPr>
              <a:t>Aufgabenangemessenheit</a:t>
            </a:r>
            <a:endParaRPr lang="en-US" sz="4400" dirty="0"/>
          </a:p>
        </p:txBody>
      </p:sp>
      <p:sp>
        <p:nvSpPr>
          <p:cNvPr id="4" name="Text 2"/>
          <p:cNvSpPr/>
          <p:nvPr/>
        </p:nvSpPr>
        <p:spPr>
          <a:xfrm>
            <a:off x="812800" y="3932569"/>
            <a:ext cx="9156700" cy="115689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7F6FB"/>
                </a:solidFill>
                <a:latin typeface="Nunito Sans" pitchFamily="34" charset="0"/>
                <a:ea typeface="Nunito Sans" pitchFamily="34" charset="-122"/>
                <a:cs typeface="Nunito Sans" pitchFamily="34" charset="-120"/>
              </a:rPr>
              <a:t>Ein System ist aufgabenangemessen, wenn es den Benutzer dabei unterstützt, seine Aufgaben ohne unnötige Klicks oder Ablenkungen zu erledigen.</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812800"/>
            <a:ext cx="1590873" cy="314920"/>
          </a:xfrm>
          <a:prstGeom prst="roundRect">
            <a:avLst>
              <a:gd name="adj" fmla="val 50000"/>
            </a:avLst>
          </a:prstGeom>
          <a:solidFill>
            <a:srgbClr val="2B6CB0"/>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unito Sans" pitchFamily="34" charset="0"/>
                <a:ea typeface="Nunito Sans" pitchFamily="34" charset="-122"/>
                <a:cs typeface="Nunito Sans" pitchFamily="34" charset="-120"/>
              </a:rPr>
              <a:t>Positiv · Gut gelöst</a:t>
            </a:r>
            <a:endParaRPr lang="en-US" sz="1200" dirty="0"/>
          </a:p>
        </p:txBody>
      </p:sp>
      <p:sp>
        <p:nvSpPr>
          <p:cNvPr id="3" name="Text 1"/>
          <p:cNvSpPr/>
          <p:nvPr/>
        </p:nvSpPr>
        <p:spPr>
          <a:xfrm>
            <a:off x="2505273" y="863600"/>
            <a:ext cx="2216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6A8A"/>
                </a:solidFill>
                <a:latin typeface="Nunito Sans" pitchFamily="34" charset="0"/>
                <a:ea typeface="Nunito Sans" pitchFamily="34" charset="-122"/>
                <a:cs typeface="Nunito Sans" pitchFamily="34" charset="-120"/>
              </a:rPr>
              <a:t>Aufgabenangemessenheit</a:t>
            </a:r>
            <a:endParaRPr lang="en-US" sz="1200" dirty="0"/>
          </a:p>
        </p:txBody>
      </p:sp>
      <p:sp>
        <p:nvSpPr>
          <p:cNvPr id="4" name="Text 2"/>
          <p:cNvSpPr/>
          <p:nvPr>
            <p:ph type="title"/>
          </p:nvPr>
        </p:nvSpPr>
        <p:spPr>
          <a:xfrm>
            <a:off x="812800" y="1330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B3A"/>
                </a:solidFill>
                <a:latin typeface="Rubik" pitchFamily="34" charset="0"/>
                <a:ea typeface="Rubik" pitchFamily="34" charset="-122"/>
                <a:cs typeface="Rubik" pitchFamily="34" charset="-120"/>
              </a:rPr>
              <a:t>Der Vorraum vor dem Meeting</a:t>
            </a:r>
            <a:endParaRPr lang="en-US" sz="3200" dirty="0"/>
          </a:p>
        </p:txBody>
      </p:sp>
      <p:sp>
        <p:nvSpPr>
          <p:cNvPr id="5" name="Shape 3"/>
          <p:cNvSpPr/>
          <p:nvPr/>
        </p:nvSpPr>
        <p:spPr>
          <a:xfrm>
            <a:off x="819150" y="1987485"/>
            <a:ext cx="5422900" cy="1236927"/>
          </a:xfrm>
          <a:prstGeom prst="roundRect">
            <a:avLst>
              <a:gd name="adj" fmla="val 7701"/>
            </a:avLst>
          </a:prstGeom>
          <a:solidFill>
            <a:srgbClr val="FFFFFE"/>
          </a:solidFill>
          <a:ln w="12700">
            <a:solidFill>
              <a:srgbClr val="E1DFEE"/>
            </a:solidFill>
            <a:prstDash val="solid"/>
          </a:ln>
        </p:spPr>
      </p:sp>
      <p:sp>
        <p:nvSpPr>
          <p:cNvPr id="6" name="Text 4"/>
          <p:cNvSpPr/>
          <p:nvPr/>
        </p:nvSpPr>
        <p:spPr>
          <a:xfrm>
            <a:off x="1028700" y="2197035"/>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Rubik" pitchFamily="34" charset="0"/>
                <a:ea typeface="Rubik" pitchFamily="34" charset="-122"/>
                <a:cs typeface="Rubik" pitchFamily="34" charset="-120"/>
              </a:rPr>
              <a:t>Beobachtung</a:t>
            </a:r>
            <a:endParaRPr lang="en-US" sz="1600" dirty="0"/>
          </a:p>
        </p:txBody>
      </p:sp>
      <p:sp>
        <p:nvSpPr>
          <p:cNvPr id="7" name="Text 5"/>
          <p:cNvSpPr/>
          <p:nvPr/>
        </p:nvSpPr>
        <p:spPr>
          <a:xfrm>
            <a:off x="1028700" y="2517048"/>
            <a:ext cx="515391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Kamera, Mikrofon und Hintergrund-Weichzeichner sind direkt im Vorschaubildschirm (Pre-join Screen) einstellbar.</a:t>
            </a:r>
            <a:endParaRPr lang="en-US" sz="1400" dirty="0"/>
          </a:p>
        </p:txBody>
      </p:sp>
      <p:sp>
        <p:nvSpPr>
          <p:cNvPr id="8" name="Shape 6"/>
          <p:cNvSpPr/>
          <p:nvPr/>
        </p:nvSpPr>
        <p:spPr>
          <a:xfrm>
            <a:off x="819150" y="3389511"/>
            <a:ext cx="5422900" cy="1485834"/>
          </a:xfrm>
          <a:prstGeom prst="roundRect">
            <a:avLst>
              <a:gd name="adj" fmla="val 6411"/>
            </a:avLst>
          </a:prstGeom>
          <a:solidFill>
            <a:srgbClr val="FFFFFE"/>
          </a:solidFill>
          <a:ln w="12700">
            <a:solidFill>
              <a:srgbClr val="E1DFEE"/>
            </a:solidFill>
            <a:prstDash val="solid"/>
          </a:ln>
        </p:spPr>
      </p:sp>
      <p:sp>
        <p:nvSpPr>
          <p:cNvPr id="9" name="Text 7"/>
          <p:cNvSpPr/>
          <p:nvPr/>
        </p:nvSpPr>
        <p:spPr>
          <a:xfrm>
            <a:off x="1028700" y="3599061"/>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Rubik" pitchFamily="34" charset="0"/>
                <a:ea typeface="Rubik" pitchFamily="34" charset="-122"/>
                <a:cs typeface="Rubik" pitchFamily="34" charset="-120"/>
              </a:rPr>
              <a:t>Begründung</a:t>
            </a:r>
            <a:endParaRPr lang="en-US" sz="1600" dirty="0"/>
          </a:p>
        </p:txBody>
      </p:sp>
      <p:sp>
        <p:nvSpPr>
          <p:cNvPr id="10" name="Text 8"/>
          <p:cNvSpPr/>
          <p:nvPr/>
        </p:nvSpPr>
        <p:spPr>
          <a:xfrm>
            <a:off x="1028700" y="3919076"/>
            <a:ext cx="5153914"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Die Hauptaufgabe „ohne Überraschungen bei Bild und Ton beitreten“ wird direkt unterstützt. Wichtige Einstellungen sind sofort erreichbar.</a:t>
            </a:r>
            <a:endParaRPr lang="en-US" sz="1400" dirty="0"/>
          </a:p>
        </p:txBody>
      </p:sp>
      <p:sp>
        <p:nvSpPr>
          <p:cNvPr id="11" name="Shape 9"/>
          <p:cNvSpPr/>
          <p:nvPr/>
        </p:nvSpPr>
        <p:spPr>
          <a:xfrm>
            <a:off x="6562725" y="1990660"/>
            <a:ext cx="4806950" cy="3155950"/>
          </a:xfrm>
          <a:prstGeom prst="roundRect">
            <a:avLst>
              <a:gd name="adj" fmla="val 2918"/>
            </a:avLst>
          </a:prstGeom>
          <a:solidFill>
            <a:srgbClr val="ECEAF5"/>
          </a:solidFill>
          <a:ln w="19050">
            <a:solidFill>
              <a:srgbClr val="8B8CC7"/>
            </a:solidFill>
            <a:prstDash val="dash"/>
          </a:ln>
        </p:spPr>
      </p:sp>
      <p:sp>
        <p:nvSpPr>
          <p:cNvPr id="12" name="Text 10"/>
          <p:cNvSpPr/>
          <p:nvPr/>
        </p:nvSpPr>
        <p:spPr>
          <a:xfrm>
            <a:off x="8329064" y="3277791"/>
            <a:ext cx="1274207"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B5FC7"/>
                </a:solidFill>
                <a:latin typeface="Nunito Sans" pitchFamily="34" charset="0"/>
                <a:ea typeface="Nunito Sans" pitchFamily="34" charset="-122"/>
                <a:cs typeface="Nunito Sans" pitchFamily="34" charset="-120"/>
              </a:rPr>
              <a:t>[Screenshot]</a:t>
            </a:r>
            <a:endParaRPr lang="en-US" sz="1400" dirty="0"/>
          </a:p>
        </p:txBody>
      </p:sp>
      <p:sp>
        <p:nvSpPr>
          <p:cNvPr id="13" name="Text 11"/>
          <p:cNvSpPr/>
          <p:nvPr/>
        </p:nvSpPr>
        <p:spPr>
          <a:xfrm>
            <a:off x="6572250" y="3628298"/>
            <a:ext cx="4787835" cy="256514"/>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766"/>
                </a:solidFill>
                <a:latin typeface="Nunito Sans" pitchFamily="34" charset="0"/>
                <a:ea typeface="Nunito Sans" pitchFamily="34" charset="-122"/>
                <a:cs typeface="Nunito Sans" pitchFamily="34" charset="-120"/>
              </a:rPr>
              <a:t>Vorschaubildschirm vor dem Beitritt zu einem Teams-Call</a:t>
            </a:r>
            <a:endParaRPr lang="en-US" sz="1300" dirty="0"/>
          </a:p>
        </p:txBody>
      </p:sp>
      <p:sp>
        <p:nvSpPr>
          <p:cNvPr id="14" name="Text 12"/>
          <p:cNvSpPr/>
          <p:nvPr/>
        </p:nvSpPr>
        <p:spPr>
          <a:xfrm>
            <a:off x="812800" y="623828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A"/>
                </a:solidFill>
                <a:latin typeface="Nunito Sans" pitchFamily="34" charset="0"/>
                <a:ea typeface="Nunito Sans" pitchFamily="34" charset="-122"/>
                <a:cs typeface="Nunito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812800"/>
            <a:ext cx="1695913" cy="314920"/>
          </a:xfrm>
          <a:prstGeom prst="roundRect">
            <a:avLst>
              <a:gd name="adj" fmla="val 50000"/>
            </a:avLst>
          </a:prstGeom>
          <a:solidFill>
            <a:srgbClr val="B7471B"/>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unito Sans" pitchFamily="34" charset="0"/>
                <a:ea typeface="Nunito Sans" pitchFamily="34" charset="-122"/>
                <a:cs typeface="Nunito Sans" pitchFamily="34" charset="-120"/>
              </a:rPr>
              <a:t>Negativ · Verletzung</a:t>
            </a:r>
            <a:endParaRPr lang="en-US" sz="1200" dirty="0"/>
          </a:p>
        </p:txBody>
      </p:sp>
      <p:sp>
        <p:nvSpPr>
          <p:cNvPr id="3" name="Text 1"/>
          <p:cNvSpPr/>
          <p:nvPr/>
        </p:nvSpPr>
        <p:spPr>
          <a:xfrm>
            <a:off x="2610313" y="863600"/>
            <a:ext cx="2216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6A8A"/>
                </a:solidFill>
                <a:latin typeface="Nunito Sans" pitchFamily="34" charset="0"/>
                <a:ea typeface="Nunito Sans" pitchFamily="34" charset="-122"/>
                <a:cs typeface="Nunito Sans" pitchFamily="34" charset="-120"/>
              </a:rPr>
              <a:t>Aufgabenangemessenheit</a:t>
            </a:r>
            <a:endParaRPr lang="en-US" sz="1200" dirty="0"/>
          </a:p>
        </p:txBody>
      </p:sp>
      <p:sp>
        <p:nvSpPr>
          <p:cNvPr id="4" name="Text 2"/>
          <p:cNvSpPr/>
          <p:nvPr>
            <p:ph type="title"/>
          </p:nvPr>
        </p:nvSpPr>
        <p:spPr>
          <a:xfrm>
            <a:off x="812800" y="1330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B3A"/>
                </a:solidFill>
                <a:latin typeface="Rubik" pitchFamily="34" charset="0"/>
                <a:ea typeface="Rubik" pitchFamily="34" charset="-122"/>
                <a:cs typeface="Rubik" pitchFamily="34" charset="-120"/>
              </a:rPr>
              <a:t>Alte Nachrichten und Dateien wiederfinden</a:t>
            </a:r>
            <a:endParaRPr lang="en-US" sz="3200" dirty="0"/>
          </a:p>
        </p:txBody>
      </p:sp>
      <p:sp>
        <p:nvSpPr>
          <p:cNvPr id="5" name="Shape 3"/>
          <p:cNvSpPr/>
          <p:nvPr/>
        </p:nvSpPr>
        <p:spPr>
          <a:xfrm>
            <a:off x="819150" y="1987485"/>
            <a:ext cx="5422900" cy="1236927"/>
          </a:xfrm>
          <a:prstGeom prst="roundRect">
            <a:avLst>
              <a:gd name="adj" fmla="val 7701"/>
            </a:avLst>
          </a:prstGeom>
          <a:solidFill>
            <a:srgbClr val="FFFFFE"/>
          </a:solidFill>
          <a:ln w="12700">
            <a:solidFill>
              <a:srgbClr val="E1DFEE"/>
            </a:solidFill>
            <a:prstDash val="solid"/>
          </a:ln>
        </p:spPr>
      </p:sp>
      <p:sp>
        <p:nvSpPr>
          <p:cNvPr id="6" name="Text 4"/>
          <p:cNvSpPr/>
          <p:nvPr/>
        </p:nvSpPr>
        <p:spPr>
          <a:xfrm>
            <a:off x="1028700" y="2197035"/>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7471B"/>
                </a:solidFill>
                <a:latin typeface="Rubik" pitchFamily="34" charset="0"/>
                <a:ea typeface="Rubik" pitchFamily="34" charset="-122"/>
                <a:cs typeface="Rubik" pitchFamily="34" charset="-120"/>
              </a:rPr>
              <a:t>Beobachtung</a:t>
            </a:r>
            <a:endParaRPr lang="en-US" sz="1600" dirty="0"/>
          </a:p>
        </p:txBody>
      </p:sp>
      <p:sp>
        <p:nvSpPr>
          <p:cNvPr id="7" name="Text 5"/>
          <p:cNvSpPr/>
          <p:nvPr/>
        </p:nvSpPr>
        <p:spPr>
          <a:xfrm>
            <a:off x="1028700" y="2517049"/>
            <a:ext cx="515391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Die Suche braucht oft verschachtelte Filter oder den Wechsel zwischen den Tabs „Beiträge“ und „Dateien“.</a:t>
            </a:r>
            <a:endParaRPr lang="en-US" sz="1400" dirty="0"/>
          </a:p>
        </p:txBody>
      </p:sp>
      <p:sp>
        <p:nvSpPr>
          <p:cNvPr id="8" name="Shape 6"/>
          <p:cNvSpPr/>
          <p:nvPr/>
        </p:nvSpPr>
        <p:spPr>
          <a:xfrm>
            <a:off x="819150" y="3389511"/>
            <a:ext cx="5422900" cy="1485834"/>
          </a:xfrm>
          <a:prstGeom prst="roundRect">
            <a:avLst>
              <a:gd name="adj" fmla="val 6411"/>
            </a:avLst>
          </a:prstGeom>
          <a:solidFill>
            <a:srgbClr val="FFFFFE"/>
          </a:solidFill>
          <a:ln w="12700">
            <a:solidFill>
              <a:srgbClr val="E1DFEE"/>
            </a:solidFill>
            <a:prstDash val="solid"/>
          </a:ln>
        </p:spPr>
      </p:sp>
      <p:sp>
        <p:nvSpPr>
          <p:cNvPr id="9" name="Text 7"/>
          <p:cNvSpPr/>
          <p:nvPr/>
        </p:nvSpPr>
        <p:spPr>
          <a:xfrm>
            <a:off x="1028700" y="3599061"/>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7471B"/>
                </a:solidFill>
                <a:latin typeface="Rubik" pitchFamily="34" charset="0"/>
                <a:ea typeface="Rubik" pitchFamily="34" charset="-122"/>
                <a:cs typeface="Rubik" pitchFamily="34" charset="-120"/>
              </a:rPr>
              <a:t>Begründung</a:t>
            </a:r>
            <a:endParaRPr lang="en-US" sz="1600" dirty="0"/>
          </a:p>
        </p:txBody>
      </p:sp>
      <p:sp>
        <p:nvSpPr>
          <p:cNvPr id="10" name="Text 8"/>
          <p:cNvSpPr/>
          <p:nvPr/>
        </p:nvSpPr>
        <p:spPr>
          <a:xfrm>
            <a:off x="1028700" y="3919076"/>
            <a:ext cx="5153914"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„Datei X aus Nachricht Y finden“ wird durch verstreute Speicherorte und eine träge Suche erschwert. Der Arbeitsfluss bricht ab.</a:t>
            </a:r>
            <a:endParaRPr lang="en-US" sz="1400" dirty="0"/>
          </a:p>
        </p:txBody>
      </p:sp>
      <p:sp>
        <p:nvSpPr>
          <p:cNvPr id="11" name="Shape 9"/>
          <p:cNvSpPr/>
          <p:nvPr/>
        </p:nvSpPr>
        <p:spPr>
          <a:xfrm>
            <a:off x="6562725" y="1990660"/>
            <a:ext cx="4806950" cy="3155950"/>
          </a:xfrm>
          <a:prstGeom prst="roundRect">
            <a:avLst>
              <a:gd name="adj" fmla="val 2918"/>
            </a:avLst>
          </a:prstGeom>
          <a:solidFill>
            <a:srgbClr val="ECEAF5"/>
          </a:solidFill>
          <a:ln w="19050">
            <a:solidFill>
              <a:srgbClr val="8B8CC7"/>
            </a:solidFill>
            <a:prstDash val="dash"/>
          </a:ln>
        </p:spPr>
      </p:sp>
      <p:sp>
        <p:nvSpPr>
          <p:cNvPr id="12" name="Text 10"/>
          <p:cNvSpPr/>
          <p:nvPr/>
        </p:nvSpPr>
        <p:spPr>
          <a:xfrm>
            <a:off x="8329064" y="3162235"/>
            <a:ext cx="1274207"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B5FC7"/>
                </a:solidFill>
                <a:latin typeface="Nunito Sans" pitchFamily="34" charset="0"/>
                <a:ea typeface="Nunito Sans" pitchFamily="34" charset="-122"/>
                <a:cs typeface="Nunito Sans" pitchFamily="34" charset="-120"/>
              </a:rPr>
              <a:t>[Screenshot]</a:t>
            </a:r>
            <a:endParaRPr lang="en-US" sz="1400" dirty="0"/>
          </a:p>
        </p:txBody>
      </p:sp>
      <p:sp>
        <p:nvSpPr>
          <p:cNvPr id="13" name="Text 11"/>
          <p:cNvSpPr/>
          <p:nvPr/>
        </p:nvSpPr>
        <p:spPr>
          <a:xfrm>
            <a:off x="6759872" y="3512741"/>
            <a:ext cx="4412657" cy="487627"/>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766"/>
                </a:solidFill>
                <a:latin typeface="Nunito Sans" pitchFamily="34" charset="0"/>
                <a:ea typeface="Nunito Sans" pitchFamily="34" charset="-122"/>
                <a:cs typeface="Nunito Sans" pitchFamily="34" charset="-120"/>
              </a:rPr>
              <a:t>Globale Suchleiste mit unübersichtlicher Trefferliste aus Nachrichten, Dateien und Personen</a:t>
            </a:r>
            <a:endParaRPr lang="en-US" sz="1300" dirty="0"/>
          </a:p>
        </p:txBody>
      </p:sp>
      <p:sp>
        <p:nvSpPr>
          <p:cNvPr id="14" name="Text 12"/>
          <p:cNvSpPr/>
          <p:nvPr/>
        </p:nvSpPr>
        <p:spPr>
          <a:xfrm>
            <a:off x="812800" y="623828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A"/>
                </a:solidFill>
                <a:latin typeface="Nunito Sans" pitchFamily="34" charset="0"/>
                <a:ea typeface="Nunito Sans" pitchFamily="34" charset="-122"/>
                <a:cs typeface="Nunito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B5FC7"/>
        </a:solidFill>
      </p:bgPr>
    </p:bg>
    <p:spTree>
      <p:nvGrpSpPr>
        <p:cNvPr id="1" name=""/>
        <p:cNvGrpSpPr/>
        <p:nvPr/>
      </p:nvGrpSpPr>
      <p:grpSpPr>
        <a:xfrm>
          <a:off x="0" y="0"/>
          <a:ext cx="0" cy="0"/>
          <a:chOff x="0" y="0"/>
          <a:chExt cx="0" cy="0"/>
        </a:xfrm>
      </p:grpSpPr>
      <p:sp>
        <p:nvSpPr>
          <p:cNvPr id="2" name="Text 0"/>
          <p:cNvSpPr/>
          <p:nvPr/>
        </p:nvSpPr>
        <p:spPr>
          <a:xfrm>
            <a:off x="812800" y="1793943"/>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DADBFA"/>
                </a:solidFill>
                <a:latin typeface="Rubik" pitchFamily="34" charset="0"/>
                <a:ea typeface="Rubik" pitchFamily="34" charset="-122"/>
                <a:cs typeface="Rubik" pitchFamily="34" charset="-120"/>
              </a:rPr>
              <a:t>02</a:t>
            </a:r>
            <a:endParaRPr lang="en-US" sz="8000" dirty="0"/>
          </a:p>
        </p:txBody>
      </p:sp>
      <p:sp>
        <p:nvSpPr>
          <p:cNvPr id="3" name="Text 1"/>
          <p:cNvSpPr/>
          <p:nvPr>
            <p:ph type="title"/>
          </p:nvPr>
        </p:nvSpPr>
        <p:spPr>
          <a:xfrm>
            <a:off x="812800" y="3063943"/>
            <a:ext cx="10883392" cy="640027"/>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B"/>
                </a:solidFill>
                <a:latin typeface="Rubik" pitchFamily="34" charset="0"/>
                <a:ea typeface="Rubik" pitchFamily="34" charset="-122"/>
                <a:cs typeface="Rubik" pitchFamily="34" charset="-120"/>
              </a:rPr>
              <a:t>Selbstbeschreibungsfähigkeit</a:t>
            </a:r>
            <a:endParaRPr lang="en-US" sz="4400" dirty="0"/>
          </a:p>
        </p:txBody>
      </p:sp>
      <p:sp>
        <p:nvSpPr>
          <p:cNvPr id="4" name="Text 2"/>
          <p:cNvSpPr/>
          <p:nvPr/>
        </p:nvSpPr>
        <p:spPr>
          <a:xfrm>
            <a:off x="812800" y="3932569"/>
            <a:ext cx="9156700" cy="115689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F7F6FB"/>
                </a:solidFill>
                <a:latin typeface="Nunito Sans" pitchFamily="34" charset="0"/>
                <a:ea typeface="Nunito Sans" pitchFamily="34" charset="-122"/>
                <a:cs typeface="Nunito Sans" pitchFamily="34" charset="-120"/>
              </a:rPr>
              <a:t>Ein Dialog ist selbstbeschreibungsfähig, wenn der Benutzer jederzeit sieht, in welchem Zustand das System ist und was die einzelnen Bedienelemente bedeuten.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812800"/>
            <a:ext cx="1590873" cy="314920"/>
          </a:xfrm>
          <a:prstGeom prst="roundRect">
            <a:avLst>
              <a:gd name="adj" fmla="val 50000"/>
            </a:avLst>
          </a:prstGeom>
          <a:solidFill>
            <a:srgbClr val="2B6CB0"/>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unito Sans" pitchFamily="34" charset="0"/>
                <a:ea typeface="Nunito Sans" pitchFamily="34" charset="-122"/>
                <a:cs typeface="Nunito Sans" pitchFamily="34" charset="-120"/>
              </a:rPr>
              <a:t>Positiv · Gut gelöst</a:t>
            </a:r>
            <a:endParaRPr lang="en-US" sz="1200" dirty="0"/>
          </a:p>
        </p:txBody>
      </p:sp>
      <p:sp>
        <p:nvSpPr>
          <p:cNvPr id="3" name="Text 1"/>
          <p:cNvSpPr/>
          <p:nvPr/>
        </p:nvSpPr>
        <p:spPr>
          <a:xfrm>
            <a:off x="2505273" y="863600"/>
            <a:ext cx="2512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6A8A"/>
                </a:solidFill>
                <a:latin typeface="Nunito Sans" pitchFamily="34" charset="0"/>
                <a:ea typeface="Nunito Sans" pitchFamily="34" charset="-122"/>
                <a:cs typeface="Nunito Sans" pitchFamily="34" charset="-120"/>
              </a:rPr>
              <a:t>Selbstbeschreibungsfähigkeit</a:t>
            </a:r>
            <a:endParaRPr lang="en-US" sz="1200" dirty="0"/>
          </a:p>
        </p:txBody>
      </p:sp>
      <p:sp>
        <p:nvSpPr>
          <p:cNvPr id="4" name="Text 2"/>
          <p:cNvSpPr/>
          <p:nvPr>
            <p:ph type="title"/>
          </p:nvPr>
        </p:nvSpPr>
        <p:spPr>
          <a:xfrm>
            <a:off x="812800" y="1330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B3A"/>
                </a:solidFill>
                <a:latin typeface="Rubik" pitchFamily="34" charset="0"/>
                <a:ea typeface="Rubik" pitchFamily="34" charset="-122"/>
                <a:cs typeface="Rubik" pitchFamily="34" charset="-120"/>
              </a:rPr>
              <a:t>Präsenzstatus und Stummschaltung</a:t>
            </a:r>
            <a:endParaRPr lang="en-US" sz="3200" dirty="0"/>
          </a:p>
        </p:txBody>
      </p:sp>
      <p:sp>
        <p:nvSpPr>
          <p:cNvPr id="5" name="Shape 3"/>
          <p:cNvSpPr/>
          <p:nvPr/>
        </p:nvSpPr>
        <p:spPr>
          <a:xfrm>
            <a:off x="819150" y="1987485"/>
            <a:ext cx="5422900" cy="1485834"/>
          </a:xfrm>
          <a:prstGeom prst="roundRect">
            <a:avLst>
              <a:gd name="adj" fmla="val 6411"/>
            </a:avLst>
          </a:prstGeom>
          <a:solidFill>
            <a:srgbClr val="FFFFFE"/>
          </a:solidFill>
          <a:ln w="12700">
            <a:solidFill>
              <a:srgbClr val="E1DFEE"/>
            </a:solidFill>
            <a:prstDash val="solid"/>
          </a:ln>
        </p:spPr>
      </p:sp>
      <p:sp>
        <p:nvSpPr>
          <p:cNvPr id="6" name="Text 4"/>
          <p:cNvSpPr/>
          <p:nvPr/>
        </p:nvSpPr>
        <p:spPr>
          <a:xfrm>
            <a:off x="1028700" y="2197035"/>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Rubik" pitchFamily="34" charset="0"/>
                <a:ea typeface="Rubik" pitchFamily="34" charset="-122"/>
                <a:cs typeface="Rubik" pitchFamily="34" charset="-120"/>
              </a:rPr>
              <a:t>Beobachtung</a:t>
            </a:r>
            <a:endParaRPr lang="en-US" sz="1600" dirty="0"/>
          </a:p>
        </p:txBody>
      </p:sp>
      <p:sp>
        <p:nvSpPr>
          <p:cNvPr id="7" name="Text 5"/>
          <p:cNvSpPr/>
          <p:nvPr/>
        </p:nvSpPr>
        <p:spPr>
          <a:xfrm>
            <a:off x="1028700" y="2517049"/>
            <a:ext cx="5153914"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Der Status am Profilbild (grüner Haken, roter Punkt, „Nicht stören“) ist immer sichtbar. Stumm zeigt ein durchgestrichenes Mikrofon.</a:t>
            </a:r>
            <a:endParaRPr lang="en-US" sz="1400" dirty="0"/>
          </a:p>
        </p:txBody>
      </p:sp>
      <p:sp>
        <p:nvSpPr>
          <p:cNvPr id="8" name="Shape 6"/>
          <p:cNvSpPr/>
          <p:nvPr/>
        </p:nvSpPr>
        <p:spPr>
          <a:xfrm>
            <a:off x="819150" y="3638420"/>
            <a:ext cx="5422900" cy="1236927"/>
          </a:xfrm>
          <a:prstGeom prst="roundRect">
            <a:avLst>
              <a:gd name="adj" fmla="val 7701"/>
            </a:avLst>
          </a:prstGeom>
          <a:solidFill>
            <a:srgbClr val="FFFFFE"/>
          </a:solidFill>
          <a:ln w="12700">
            <a:solidFill>
              <a:srgbClr val="E1DFEE"/>
            </a:solidFill>
            <a:prstDash val="solid"/>
          </a:ln>
        </p:spPr>
      </p:sp>
      <p:sp>
        <p:nvSpPr>
          <p:cNvPr id="9" name="Text 7"/>
          <p:cNvSpPr/>
          <p:nvPr/>
        </p:nvSpPr>
        <p:spPr>
          <a:xfrm>
            <a:off x="1028700" y="3847970"/>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6CB0"/>
                </a:solidFill>
                <a:latin typeface="Rubik" pitchFamily="34" charset="0"/>
                <a:ea typeface="Rubik" pitchFamily="34" charset="-122"/>
                <a:cs typeface="Rubik" pitchFamily="34" charset="-120"/>
              </a:rPr>
              <a:t>Begründung</a:t>
            </a:r>
            <a:endParaRPr lang="en-US" sz="1600" dirty="0"/>
          </a:p>
        </p:txBody>
      </p:sp>
      <p:sp>
        <p:nvSpPr>
          <p:cNvPr id="10" name="Text 8"/>
          <p:cNvSpPr/>
          <p:nvPr/>
        </p:nvSpPr>
        <p:spPr>
          <a:xfrm>
            <a:off x="1028700" y="4167981"/>
            <a:ext cx="515391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„Bin ich hörbar?“ und „Ist die Kollegin erreichbar?“ sind auf einen Blick klar – ohne zusätzlichen Klick.</a:t>
            </a:r>
            <a:endParaRPr lang="en-US" sz="1400" dirty="0"/>
          </a:p>
        </p:txBody>
      </p:sp>
      <p:sp>
        <p:nvSpPr>
          <p:cNvPr id="11" name="Shape 9"/>
          <p:cNvSpPr/>
          <p:nvPr/>
        </p:nvSpPr>
        <p:spPr>
          <a:xfrm>
            <a:off x="6562725" y="1990660"/>
            <a:ext cx="4806950" cy="3155950"/>
          </a:xfrm>
          <a:prstGeom prst="roundRect">
            <a:avLst>
              <a:gd name="adj" fmla="val 2918"/>
            </a:avLst>
          </a:prstGeom>
          <a:solidFill>
            <a:srgbClr val="ECEAF5"/>
          </a:solidFill>
          <a:ln w="19050">
            <a:solidFill>
              <a:srgbClr val="8B8CC7"/>
            </a:solidFill>
            <a:prstDash val="dash"/>
          </a:ln>
        </p:spPr>
      </p:sp>
      <p:sp>
        <p:nvSpPr>
          <p:cNvPr id="12" name="Text 10"/>
          <p:cNvSpPr/>
          <p:nvPr/>
        </p:nvSpPr>
        <p:spPr>
          <a:xfrm>
            <a:off x="8329064" y="3162235"/>
            <a:ext cx="1274207"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B5FC7"/>
                </a:solidFill>
                <a:latin typeface="Nunito Sans" pitchFamily="34" charset="0"/>
                <a:ea typeface="Nunito Sans" pitchFamily="34" charset="-122"/>
                <a:cs typeface="Nunito Sans" pitchFamily="34" charset="-120"/>
              </a:rPr>
              <a:t>[Screenshot]</a:t>
            </a:r>
            <a:endParaRPr lang="en-US" sz="1400" dirty="0"/>
          </a:p>
        </p:txBody>
      </p:sp>
      <p:sp>
        <p:nvSpPr>
          <p:cNvPr id="13" name="Text 11"/>
          <p:cNvSpPr/>
          <p:nvPr/>
        </p:nvSpPr>
        <p:spPr>
          <a:xfrm>
            <a:off x="6759872" y="3512741"/>
            <a:ext cx="4412657" cy="487627"/>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766"/>
                </a:solidFill>
                <a:latin typeface="Nunito Sans" pitchFamily="34" charset="0"/>
                <a:ea typeface="Nunito Sans" pitchFamily="34" charset="-122"/>
                <a:cs typeface="Nunito Sans" pitchFamily="34" charset="-120"/>
              </a:rPr>
              <a:t>Statusanzeige am Profilbild oder Meeting-Leiste mit stummgeschaltetem Mikrofon</a:t>
            </a:r>
            <a:endParaRPr lang="en-US" sz="1300" dirty="0"/>
          </a:p>
        </p:txBody>
      </p:sp>
      <p:sp>
        <p:nvSpPr>
          <p:cNvPr id="14" name="Text 12"/>
          <p:cNvSpPr/>
          <p:nvPr/>
        </p:nvSpPr>
        <p:spPr>
          <a:xfrm>
            <a:off x="812800" y="623828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A"/>
                </a:solidFill>
                <a:latin typeface="Nunito Sans" pitchFamily="34" charset="0"/>
                <a:ea typeface="Nunito Sans" pitchFamily="34" charset="-122"/>
                <a:cs typeface="Nunito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B"/>
        </a:solidFill>
      </p:bgPr>
    </p:bg>
    <p:spTree>
      <p:nvGrpSpPr>
        <p:cNvPr id="1" name=""/>
        <p:cNvGrpSpPr/>
        <p:nvPr/>
      </p:nvGrpSpPr>
      <p:grpSpPr>
        <a:xfrm>
          <a:off x="0" y="0"/>
          <a:ext cx="0" cy="0"/>
          <a:chOff x="0" y="0"/>
          <a:chExt cx="0" cy="0"/>
        </a:xfrm>
      </p:grpSpPr>
      <p:sp>
        <p:nvSpPr>
          <p:cNvPr id="2" name="Text 0"/>
          <p:cNvSpPr/>
          <p:nvPr/>
        </p:nvSpPr>
        <p:spPr>
          <a:xfrm>
            <a:off x="812800" y="812800"/>
            <a:ext cx="1695913" cy="314920"/>
          </a:xfrm>
          <a:prstGeom prst="roundRect">
            <a:avLst>
              <a:gd name="adj" fmla="val 50000"/>
            </a:avLst>
          </a:prstGeom>
          <a:solidFill>
            <a:srgbClr val="B7471B"/>
          </a:solidFill>
          <a:ln/>
        </p:spPr>
        <p:txBody>
          <a:bodyPr wrap="none" lIns="0" tIns="0" rIns="0" bIns="0" rtlCol="0" anchor="ctr">
            <a:normAutofit/>
          </a:bodyPr>
          <a:lstStyle/>
          <a:p>
            <a:pPr algn="ctr" indent="0" marL="0">
              <a:lnSpc>
                <a:spcPts val="1680"/>
              </a:lnSpc>
              <a:buNone/>
            </a:pPr>
            <a:r>
              <a:rPr lang="en-US" sz="1200" b="1" dirty="0">
                <a:solidFill>
                  <a:srgbClr val="F7F6FB"/>
                </a:solidFill>
                <a:latin typeface="Nunito Sans" pitchFamily="34" charset="0"/>
                <a:ea typeface="Nunito Sans" pitchFamily="34" charset="-122"/>
                <a:cs typeface="Nunito Sans" pitchFamily="34" charset="-120"/>
              </a:rPr>
              <a:t>Negativ · Verletzung</a:t>
            </a:r>
            <a:endParaRPr lang="en-US" sz="1200" dirty="0"/>
          </a:p>
        </p:txBody>
      </p:sp>
      <p:sp>
        <p:nvSpPr>
          <p:cNvPr id="3" name="Text 1"/>
          <p:cNvSpPr/>
          <p:nvPr/>
        </p:nvSpPr>
        <p:spPr>
          <a:xfrm>
            <a:off x="2610313" y="863600"/>
            <a:ext cx="2512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6A8A"/>
                </a:solidFill>
                <a:latin typeface="Nunito Sans" pitchFamily="34" charset="0"/>
                <a:ea typeface="Nunito Sans" pitchFamily="34" charset="-122"/>
                <a:cs typeface="Nunito Sans" pitchFamily="34" charset="-120"/>
              </a:rPr>
              <a:t>Selbstbeschreibungsfähigkeit</a:t>
            </a:r>
            <a:endParaRPr lang="en-US" sz="1200" dirty="0"/>
          </a:p>
        </p:txBody>
      </p:sp>
      <p:sp>
        <p:nvSpPr>
          <p:cNvPr id="4" name="Text 2"/>
          <p:cNvSpPr/>
          <p:nvPr>
            <p:ph type="title"/>
          </p:nvPr>
        </p:nvSpPr>
        <p:spPr>
          <a:xfrm>
            <a:off x="812800" y="1330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F1B3A"/>
                </a:solidFill>
                <a:latin typeface="Rubik" pitchFamily="34" charset="0"/>
                <a:ea typeface="Rubik" pitchFamily="34" charset="-122"/>
                <a:cs typeface="Rubik" pitchFamily="34" charset="-120"/>
              </a:rPr>
              <a:t>Neuer Beitrag oder Antwort?</a:t>
            </a:r>
            <a:endParaRPr lang="en-US" sz="3200" dirty="0"/>
          </a:p>
        </p:txBody>
      </p:sp>
      <p:sp>
        <p:nvSpPr>
          <p:cNvPr id="5" name="Shape 3"/>
          <p:cNvSpPr/>
          <p:nvPr/>
        </p:nvSpPr>
        <p:spPr>
          <a:xfrm>
            <a:off x="819150" y="1987485"/>
            <a:ext cx="5422900" cy="1236927"/>
          </a:xfrm>
          <a:prstGeom prst="roundRect">
            <a:avLst>
              <a:gd name="adj" fmla="val 7701"/>
            </a:avLst>
          </a:prstGeom>
          <a:solidFill>
            <a:srgbClr val="FFFFFE"/>
          </a:solidFill>
          <a:ln w="12700">
            <a:solidFill>
              <a:srgbClr val="E1DFEE"/>
            </a:solidFill>
            <a:prstDash val="solid"/>
          </a:ln>
        </p:spPr>
      </p:sp>
      <p:sp>
        <p:nvSpPr>
          <p:cNvPr id="6" name="Text 4"/>
          <p:cNvSpPr/>
          <p:nvPr/>
        </p:nvSpPr>
        <p:spPr>
          <a:xfrm>
            <a:off x="1028700" y="2197035"/>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7471B"/>
                </a:solidFill>
                <a:latin typeface="Rubik" pitchFamily="34" charset="0"/>
                <a:ea typeface="Rubik" pitchFamily="34" charset="-122"/>
                <a:cs typeface="Rubik" pitchFamily="34" charset="-120"/>
              </a:rPr>
              <a:t>Beobachtung</a:t>
            </a:r>
            <a:endParaRPr lang="en-US" sz="1600" dirty="0"/>
          </a:p>
        </p:txBody>
      </p:sp>
      <p:sp>
        <p:nvSpPr>
          <p:cNvPr id="7" name="Text 5"/>
          <p:cNvSpPr/>
          <p:nvPr/>
        </p:nvSpPr>
        <p:spPr>
          <a:xfrm>
            <a:off x="1028700" y="2517049"/>
            <a:ext cx="515391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Neue Nutzer tippen oft ins grosse Eingabefeld unten, statt unter dem Beitrag auf „Antworten“ zu klicken.</a:t>
            </a:r>
            <a:endParaRPr lang="en-US" sz="1400" dirty="0"/>
          </a:p>
        </p:txBody>
      </p:sp>
      <p:sp>
        <p:nvSpPr>
          <p:cNvPr id="8" name="Shape 6"/>
          <p:cNvSpPr/>
          <p:nvPr/>
        </p:nvSpPr>
        <p:spPr>
          <a:xfrm>
            <a:off x="819150" y="3389511"/>
            <a:ext cx="5422900" cy="1236927"/>
          </a:xfrm>
          <a:prstGeom prst="roundRect">
            <a:avLst>
              <a:gd name="adj" fmla="val 7701"/>
            </a:avLst>
          </a:prstGeom>
          <a:solidFill>
            <a:srgbClr val="FFFFFE"/>
          </a:solidFill>
          <a:ln w="12700">
            <a:solidFill>
              <a:srgbClr val="E1DFEE"/>
            </a:solidFill>
            <a:prstDash val="solid"/>
          </a:ln>
        </p:spPr>
      </p:sp>
      <p:sp>
        <p:nvSpPr>
          <p:cNvPr id="9" name="Text 7"/>
          <p:cNvSpPr/>
          <p:nvPr/>
        </p:nvSpPr>
        <p:spPr>
          <a:xfrm>
            <a:off x="1028700" y="3599061"/>
            <a:ext cx="515391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7471B"/>
                </a:solidFill>
                <a:latin typeface="Rubik" pitchFamily="34" charset="0"/>
                <a:ea typeface="Rubik" pitchFamily="34" charset="-122"/>
                <a:cs typeface="Rubik" pitchFamily="34" charset="-120"/>
              </a:rPr>
              <a:t>Begründung</a:t>
            </a:r>
            <a:endParaRPr lang="en-US" sz="1600" dirty="0"/>
          </a:p>
        </p:txBody>
      </p:sp>
      <p:sp>
        <p:nvSpPr>
          <p:cNvPr id="10" name="Text 8"/>
          <p:cNvSpPr/>
          <p:nvPr/>
        </p:nvSpPr>
        <p:spPr>
          <a:xfrm>
            <a:off x="1028700" y="3919076"/>
            <a:ext cx="515391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3756"/>
                </a:solidFill>
                <a:latin typeface="Nunito Sans" pitchFamily="34" charset="0"/>
                <a:ea typeface="Nunito Sans" pitchFamily="34" charset="-122"/>
                <a:cs typeface="Nunito Sans" pitchFamily="34" charset="-120"/>
              </a:rPr>
              <a:t>Die visuelle Hierarchie erklärt sich nicht selbst. Statt zu antworten, starten Nutzer ungewollt ein neues Thema.</a:t>
            </a:r>
            <a:endParaRPr lang="en-US" sz="1400" dirty="0"/>
          </a:p>
        </p:txBody>
      </p:sp>
      <p:sp>
        <p:nvSpPr>
          <p:cNvPr id="11" name="Shape 9"/>
          <p:cNvSpPr/>
          <p:nvPr/>
        </p:nvSpPr>
        <p:spPr>
          <a:xfrm>
            <a:off x="6562725" y="1990660"/>
            <a:ext cx="4806950" cy="3155950"/>
          </a:xfrm>
          <a:prstGeom prst="roundRect">
            <a:avLst>
              <a:gd name="adj" fmla="val 2918"/>
            </a:avLst>
          </a:prstGeom>
          <a:solidFill>
            <a:srgbClr val="ECEAF5"/>
          </a:solidFill>
          <a:ln w="19050">
            <a:solidFill>
              <a:srgbClr val="8B8CC7"/>
            </a:solidFill>
            <a:prstDash val="dash"/>
          </a:ln>
        </p:spPr>
      </p:sp>
      <p:sp>
        <p:nvSpPr>
          <p:cNvPr id="12" name="Text 10"/>
          <p:cNvSpPr/>
          <p:nvPr/>
        </p:nvSpPr>
        <p:spPr>
          <a:xfrm>
            <a:off x="8329064" y="3162235"/>
            <a:ext cx="1274207" cy="274307"/>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B5FC7"/>
                </a:solidFill>
                <a:latin typeface="Nunito Sans" pitchFamily="34" charset="0"/>
                <a:ea typeface="Nunito Sans" pitchFamily="34" charset="-122"/>
                <a:cs typeface="Nunito Sans" pitchFamily="34" charset="-120"/>
              </a:rPr>
              <a:t>[Screenshot]</a:t>
            </a:r>
            <a:endParaRPr lang="en-US" sz="1400" dirty="0"/>
          </a:p>
        </p:txBody>
      </p:sp>
      <p:sp>
        <p:nvSpPr>
          <p:cNvPr id="13" name="Text 11"/>
          <p:cNvSpPr/>
          <p:nvPr/>
        </p:nvSpPr>
        <p:spPr>
          <a:xfrm>
            <a:off x="6759872" y="3512741"/>
            <a:ext cx="4412657" cy="487627"/>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A4766"/>
                </a:solidFill>
                <a:latin typeface="Nunito Sans" pitchFamily="34" charset="0"/>
                <a:ea typeface="Nunito Sans" pitchFamily="34" charset="-122"/>
                <a:cs typeface="Nunito Sans" pitchFamily="34" charset="-120"/>
              </a:rPr>
              <a:t>Kanal mit „Neue Unterhaltung“ / Eingabefeld und dem Button „Antworten“ unter einem Post</a:t>
            </a:r>
            <a:endParaRPr lang="en-US" sz="1300" dirty="0"/>
          </a:p>
        </p:txBody>
      </p:sp>
      <p:sp>
        <p:nvSpPr>
          <p:cNvPr id="14" name="Text 12"/>
          <p:cNvSpPr/>
          <p:nvPr/>
        </p:nvSpPr>
        <p:spPr>
          <a:xfrm>
            <a:off x="812800" y="623828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8A"/>
                </a:solidFill>
                <a:latin typeface="Nunito Sans" pitchFamily="34" charset="0"/>
                <a:ea typeface="Nunito Sans" pitchFamily="34" charset="-122"/>
                <a:cs typeface="Nunito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B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9ACF0"/>
                </a:solidFill>
                <a:latin typeface="Nunito Sans" pitchFamily="34" charset="0"/>
                <a:ea typeface="Nunito Sans" pitchFamily="34" charset="-122"/>
                <a:cs typeface="Nunito Sans" pitchFamily="34" charset="-120"/>
              </a:rPr>
              <a:t>FAZIT</a:t>
            </a:r>
            <a:endParaRPr lang="en-US" sz="1400" dirty="0"/>
          </a:p>
        </p:txBody>
      </p:sp>
      <p:sp>
        <p:nvSpPr>
          <p:cNvPr id="3" name="Text 1"/>
          <p:cNvSpPr/>
          <p:nvPr>
            <p:ph type="title"/>
          </p:nvPr>
        </p:nvSpPr>
        <p:spPr>
          <a:xfrm>
            <a:off x="812800" y="1366509"/>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B"/>
                </a:solidFill>
                <a:latin typeface="Rubik" pitchFamily="34" charset="0"/>
                <a:ea typeface="Rubik" pitchFamily="34" charset="-122"/>
                <a:cs typeface="Rubik" pitchFamily="34" charset="-120"/>
              </a:rPr>
              <a:t>Stark im Meeting, schwächer im Kanal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86918"/>
          <a:ext cx="10553700" cy="1157883"/>
        </p:xfrm>
        <a:graphic>
          <a:graphicData uri="http://schemas.openxmlformats.org/drawingml/2006/table">
            <a:tbl>
              <a:tblPr/>
              <a:tblGrid>
                <a:gridCol w="3166110"/>
                <a:gridCol w="3693795"/>
                <a:gridCol w="3693795"/>
              </a:tblGrid>
              <a:tr h="385961">
                <a:tc>
                  <a:txBody>
                    <a:bodyPr/>
                    <a:lstStyle/>
                    <a:p>
                      <a:pPr indent="0" marL="0">
                        <a:lnSpc>
                          <a:spcPts val="1960"/>
                        </a:lnSpc>
                        <a:buNone/>
                      </a:pPr>
                      <a:r>
                        <a:rPr lang="en-US" sz="1400" b="1" dirty="0">
                          <a:solidFill>
                            <a:srgbClr val="A9ACF0"/>
                          </a:solidFill>
                          <a:latin typeface="Nunito Sans" pitchFamily="34" charset="0"/>
                          <a:ea typeface="Nunito Sans" pitchFamily="34" charset="-122"/>
                          <a:cs typeface="Nunito Sans" pitchFamily="34" charset="-120"/>
                        </a:rPr>
                        <a:t>Grundsatz</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5D5A6F"/>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5D5A6F"/>
                      </a:solidFill>
                      <a:prstDash val="solid"/>
                      <a:round/>
                      <a:headEnd type="none" w="med" len="med"/>
                      <a:tailEnd type="none" w="med" len="med"/>
                    </a:lnB>
                    <a:solidFill>
                      <a:srgbClr val="312D49"/>
                    </a:solidFill>
                  </a:tcPr>
                </a:tc>
                <a:tc>
                  <a:txBody>
                    <a:bodyPr/>
                    <a:lstStyle/>
                    <a:p>
                      <a:pPr indent="0" marL="0">
                        <a:lnSpc>
                          <a:spcPts val="1960"/>
                        </a:lnSpc>
                        <a:buNone/>
                      </a:pPr>
                      <a:r>
                        <a:rPr lang="en-US" sz="1400" b="1" dirty="0">
                          <a:solidFill>
                            <a:srgbClr val="A9ACF0"/>
                          </a:solidFill>
                          <a:latin typeface="Nunito Sans" pitchFamily="34" charset="0"/>
                          <a:ea typeface="Nunito Sans" pitchFamily="34" charset="-122"/>
                          <a:cs typeface="Nunito Sans" pitchFamily="34" charset="-120"/>
                        </a:rPr>
                        <a:t>Gut gelöst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5D5A6F"/>
                      </a:solidFill>
                      <a:prstDash val="solid"/>
                      <a:round/>
                      <a:headEnd type="none" w="med" len="med"/>
                      <a:tailEnd type="none" w="med" len="med"/>
                    </a:lnL>
                    <a:lnR w="12700" cap="flat" cmpd="sng" algn="ctr">
                      <a:solidFill>
                        <a:srgbClr val="5D5A6F"/>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5D5A6F"/>
                      </a:solidFill>
                      <a:prstDash val="solid"/>
                      <a:round/>
                      <a:headEnd type="none" w="med" len="med"/>
                      <a:tailEnd type="none" w="med" len="med"/>
                    </a:lnB>
                    <a:solidFill>
                      <a:srgbClr val="312D49"/>
                    </a:solidFill>
                  </a:tcPr>
                </a:tc>
                <a:tc>
                  <a:txBody>
                    <a:bodyPr/>
                    <a:lstStyle/>
                    <a:p>
                      <a:pPr indent="0" marL="0">
                        <a:lnSpc>
                          <a:spcPts val="1960"/>
                        </a:lnSpc>
                        <a:buNone/>
                      </a:pPr>
                      <a:r>
                        <a:rPr lang="en-US" sz="1400" b="1" dirty="0">
                          <a:solidFill>
                            <a:srgbClr val="A9ACF0"/>
                          </a:solidFill>
                          <a:latin typeface="Nunito Sans" pitchFamily="34" charset="0"/>
                          <a:ea typeface="Nunito Sans" pitchFamily="34" charset="-122"/>
                          <a:cs typeface="Nunito Sans" pitchFamily="34" charset="-120"/>
                        </a:rPr>
                        <a:t>Schwachstelle</a:t>
                      </a:r>
                      <a:endParaRPr lang="en-US" sz="1400" dirty="0">
                        <a:latin typeface="Nunito Sans" charset="0"/>
                        <a:ea typeface="Nunito Sans" charset="0"/>
                        <a:cs typeface="Nunito Sans" charset="0"/>
                      </a:endParaRPr>
                    </a:p>
                  </a:txBody>
                  <a:tcPr marL="62230" marR="62230" marT="62230" marB="62230" anchor="t">
                    <a:lnL w="12700" cap="flat" cmpd="sng" algn="ctr">
                      <a:solidFill>
                        <a:srgbClr val="5D5A6F"/>
                      </a:solidFill>
                      <a:prstDash val="solid"/>
                      <a:round/>
                      <a:headEnd type="none" w="med" len="med"/>
                      <a:tailEnd type="none" w="med" len="med"/>
                    </a:lnL>
                    <a:lnR w="12700" cap="flat" cmpd="sng" algn="ctr">
                      <a:solidFill>
                        <a:srgbClr val="5D5A6F"/>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5D5A6F"/>
                      </a:solidFill>
                      <a:prstDash val="solid"/>
                      <a:round/>
                      <a:headEnd type="none" w="med" len="med"/>
                      <a:tailEnd type="none" w="med" len="med"/>
                    </a:lnB>
                    <a:solidFill>
                      <a:srgbClr val="312D49"/>
                    </a:solidFill>
                  </a:tcPr>
                </a:tc>
              </a:tr>
              <a:tr h="385961">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Aufgabenangemessenheit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5D5A6F"/>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Bild und Ton direkt im Vorraum einstellen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5D5A6F"/>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Suche nach alten Nachrichten und Dateien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5D5A6F"/>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r>
              <a:tr h="385961">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Selbstbeschreibungsfähigkeit</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Präsenzstatus und Mikrofon-Icon</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c>
                  <a:txBody>
                    <a:bodyPr/>
                    <a:lstStyle/>
                    <a:p>
                      <a:pPr indent="0" marL="0">
                        <a:lnSpc>
                          <a:spcPts val="1960"/>
                        </a:lnSpc>
                        <a:buNone/>
                      </a:pPr>
                      <a:r>
                        <a:rPr lang="en-US" sz="1400" dirty="0">
                          <a:solidFill>
                            <a:srgbClr val="E6E4F2"/>
                          </a:solidFill>
                          <a:latin typeface="Nunito Sans" pitchFamily="34" charset="0"/>
                          <a:ea typeface="Nunito Sans" pitchFamily="34" charset="-122"/>
                          <a:cs typeface="Nunito Sans" pitchFamily="34" charset="-120"/>
                        </a:rPr>
                        <a:t>„Antworten“ vs. neuer Beitrag</a:t>
                      </a:r>
                      <a:endParaRPr lang="en-US" sz="1400" dirty="0">
                        <a:latin typeface="Nunito Sans" charset="0"/>
                        <a:ea typeface="Nunito Sans" charset="0"/>
                        <a:cs typeface="Nunito Sans" charset="0"/>
                      </a:endParaRPr>
                    </a:p>
                  </a:txBody>
                  <a:tcPr marL="62230" marR="62230" marT="62230" marB="62230" anchor="t">
                    <a:lnL w="12700" cap="flat" cmpd="sng" algn="ctr">
                      <a:solidFill>
                        <a:srgbClr val="4F4C63"/>
                      </a:solidFill>
                      <a:prstDash val="solid"/>
                      <a:round/>
                      <a:headEnd type="none" w="med" len="med"/>
                      <a:tailEnd type="none" w="med" len="med"/>
                    </a:lnL>
                    <a:lnR w="12700" cap="flat" cmpd="sng" algn="ctr">
                      <a:solidFill>
                        <a:srgbClr val="4F4C63"/>
                      </a:solidFill>
                      <a:prstDash val="solid"/>
                      <a:round/>
                      <a:headEnd type="none" w="med" len="med"/>
                      <a:tailEnd type="none" w="med" len="med"/>
                    </a:lnR>
                    <a:lnT w="12700" cap="flat" cmpd="sng" algn="ctr">
                      <a:solidFill>
                        <a:srgbClr val="4F4C63"/>
                      </a:solidFill>
                      <a:prstDash val="solid"/>
                      <a:round/>
                      <a:headEnd type="none" w="med" len="med"/>
                      <a:tailEnd type="none" w="med" len="med"/>
                    </a:lnT>
                    <a:lnB w="12700" cap="flat" cmpd="sng" algn="ctr">
                      <a:solidFill>
                        <a:srgbClr val="4F4C63"/>
                      </a:solidFill>
                      <a:prstDash val="solid"/>
                      <a:round/>
                      <a:headEnd type="none" w="med" len="med"/>
                      <a:tailEnd type="none" w="med" len="med"/>
                    </a:lnB>
                  </a:tcPr>
                </a:tc>
              </a:tr>
            </a:tbl>
          </a:graphicData>
        </a:graphic>
      </p:graphicFrame>
      <p:sp>
        <p:nvSpPr>
          <p:cNvPr id="5" name="Text 2"/>
          <p:cNvSpPr/>
          <p:nvPr/>
        </p:nvSpPr>
        <p:spPr>
          <a:xfrm>
            <a:off x="812800" y="3649600"/>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7DE"/>
                </a:solidFill>
                <a:latin typeface="Nunito Sans" pitchFamily="34" charset="0"/>
                <a:ea typeface="Nunito Sans" pitchFamily="34" charset="-122"/>
                <a:cs typeface="Nunito Sans" pitchFamily="34" charset="-120"/>
              </a:rPr>
              <a:t>Teams setzt beide Grundsätze bei Calls gut um. Bei der Kommunikation in Kanälen und bei der Suche gibt es klares Verbesserungspotenzial.</a:t>
            </a:r>
            <a:endParaRPr lang="en-US" sz="1600" dirty="0"/>
          </a:p>
        </p:txBody>
      </p:sp>
      <p:sp>
        <p:nvSpPr>
          <p:cNvPr id="6" name="Text 3"/>
          <p:cNvSpPr/>
          <p:nvPr/>
        </p:nvSpPr>
        <p:spPr>
          <a:xfrm>
            <a:off x="812800" y="6238280"/>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CF0"/>
                </a:solidFill>
                <a:latin typeface="Nunito Sans" pitchFamily="34" charset="0"/>
                <a:ea typeface="Nunito Sans" pitchFamily="34" charset="-122"/>
                <a:cs typeface="Nunito Sans" pitchFamily="34" charset="-120"/>
              </a:rPr>
              <a:t>9</a:t>
            </a:r>
            <a:endParaRPr lang="en-US" sz="1200" dirty="0"/>
          </a:p>
        </p:txBody>
      </p:sp>
    </p:spTree>
  </p:cSld>
  <p:clrMapOvr>
    <a:masterClrMapping/>
  </p:clrMapOvr>
</p:sld>
</file>

<file path=ppt/theme/theme1.xml><?xml version="1.0" encoding="utf-8"?>
<a:theme xmlns:a="http://schemas.openxmlformats.org/drawingml/2006/main" name="MS Teams – Dialoggrundsätze">
  <a:themeElements>
    <a:clrScheme name="MS Teams – Dialoggrundsätze">
      <a:dk1>
        <a:srgbClr val="1F1B3A"/>
      </a:dk1>
      <a:lt1>
        <a:srgbClr val="F7F6FB"/>
      </a:lt1>
      <a:dk2>
        <a:srgbClr val="55526A"/>
      </a:dk2>
      <a:lt2>
        <a:srgbClr val="E1E0E8"/>
      </a:lt2>
      <a:accent1>
        <a:srgbClr val="5B5FC7"/>
      </a:accent1>
      <a:accent2>
        <a:srgbClr val="2B6CB0"/>
      </a:accent2>
      <a:accent3>
        <a:srgbClr val="B7471B"/>
      </a:accent3>
      <a:accent4>
        <a:srgbClr val="A9ACF0"/>
      </a:accent4>
      <a:accent5>
        <a:srgbClr val="7B7FE0"/>
      </a:accent5>
      <a:accent6>
        <a:srgbClr val="6E6A8A"/>
      </a:accent6>
      <a:hlink>
        <a:srgbClr val="0563C1"/>
      </a:hlink>
      <a:folHlink>
        <a:srgbClr val="954F72"/>
      </a:folHlink>
    </a:clrScheme>
    <a:fontScheme name="MS Teams – Dialoggrundsätze">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 Teams – Dialoggrundsätze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2026-10-21T07:18:24Z</dcterms:created>
  <dcterms:modified xsi:type="dcterms:W3CDTF">2026-10-21T07:18:24Z</dcterms:modified>
</cp:coreProperties>
</file>